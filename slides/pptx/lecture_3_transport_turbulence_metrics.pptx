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4bb76edd0ba4b96" /><Relationship Type="http://schemas.openxmlformats.org/officeDocument/2006/relationships/extended-properties" Target="/docProps/app.xml" Id="Rf520c2e496934248" /><Relationship Type="http://schemas.openxmlformats.org/officeDocument/2006/relationships/officeDocument" Target="/ppt/presentation.xml" Id="R38d4305e009d4f4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e06acb12c4f4673"/>
  </p:sldMasterIdLst>
  <p:notesMasterIdLst>
    <p:notesMasterId xmlns:r="http://schemas.openxmlformats.org/officeDocument/2006/relationships" r:id="R6991abc069e44ac3"/>
  </p:notesMasterIdLst>
  <p:sldIdLst>
    <p:sldId xmlns:r="http://schemas.openxmlformats.org/officeDocument/2006/relationships" id="256" r:id="R9e5d247113774120"/>
    <p:sldId xmlns:r="http://schemas.openxmlformats.org/officeDocument/2006/relationships" id="257" r:id="R626a2de2a19d4a71"/>
    <p:sldId xmlns:r="http://schemas.openxmlformats.org/officeDocument/2006/relationships" id="258" r:id="Rf5e25dadaab44398"/>
    <p:sldId xmlns:r="http://schemas.openxmlformats.org/officeDocument/2006/relationships" id="259" r:id="Reff6b6c2808b4712"/>
    <p:sldId xmlns:r="http://schemas.openxmlformats.org/officeDocument/2006/relationships" id="260" r:id="Rde26095ebe104ba0"/>
    <p:sldId xmlns:r="http://schemas.openxmlformats.org/officeDocument/2006/relationships" id="261" r:id="R50bc5eab98294f30"/>
    <p:sldId xmlns:r="http://schemas.openxmlformats.org/officeDocument/2006/relationships" id="262" r:id="R21e7799a3ebe4ca8"/>
    <p:sldId xmlns:r="http://schemas.openxmlformats.org/officeDocument/2006/relationships" id="263" r:id="R88850890ca2446e4"/>
    <p:sldId xmlns:r="http://schemas.openxmlformats.org/officeDocument/2006/relationships" id="264" r:id="Ree8da63e1e3d4b57"/>
    <p:sldId xmlns:r="http://schemas.openxmlformats.org/officeDocument/2006/relationships" id="265" r:id="Ra079c42f17be4439"/>
    <p:sldId xmlns:r="http://schemas.openxmlformats.org/officeDocument/2006/relationships" id="266" r:id="Ra628e069872149ca"/>
    <p:sldId xmlns:r="http://schemas.openxmlformats.org/officeDocument/2006/relationships" id="267" r:id="Rc083cd9bd3184d5c"/>
    <p:sldId xmlns:r="http://schemas.openxmlformats.org/officeDocument/2006/relationships" id="268" r:id="R417a1eda457c4090"/>
    <p:sldId xmlns:r="http://schemas.openxmlformats.org/officeDocument/2006/relationships" id="269" r:id="Rc285a2e840d64656"/>
    <p:sldId xmlns:r="http://schemas.openxmlformats.org/officeDocument/2006/relationships" id="270" r:id="Rc8668ca346e04ebd"/>
    <p:sldId xmlns:r="http://schemas.openxmlformats.org/officeDocument/2006/relationships" id="271" r:id="Rc15f81a80e544e22"/>
    <p:sldId xmlns:r="http://schemas.openxmlformats.org/officeDocument/2006/relationships" id="272" r:id="R1c8de7c4c11a4389"/>
    <p:sldId xmlns:r="http://schemas.openxmlformats.org/officeDocument/2006/relationships" id="273" r:id="Rffb4815edf644ab2"/>
    <p:sldId xmlns:r="http://schemas.openxmlformats.org/officeDocument/2006/relationships" id="274" r:id="R5e7145a87fc14a9e"/>
    <p:sldId xmlns:r="http://schemas.openxmlformats.org/officeDocument/2006/relationships" id="275" r:id="Rf59233852c8f4334"/>
    <p:sldId xmlns:r="http://schemas.openxmlformats.org/officeDocument/2006/relationships" id="276" r:id="R378c559066ae4707"/>
    <p:sldId xmlns:r="http://schemas.openxmlformats.org/officeDocument/2006/relationships" id="277" r:id="Ra76fb4c216ee49dd"/>
    <p:sldId xmlns:r="http://schemas.openxmlformats.org/officeDocument/2006/relationships" id="278" r:id="R27db2f1851ad45e0"/>
    <p:sldId xmlns:r="http://schemas.openxmlformats.org/officeDocument/2006/relationships" id="279" r:id="R350748d4e52f4c25"/>
    <p:sldId xmlns:r="http://schemas.openxmlformats.org/officeDocument/2006/relationships" id="280" r:id="R08bf50a8ce6349dc"/>
    <p:sldId xmlns:r="http://schemas.openxmlformats.org/officeDocument/2006/relationships" id="281" r:id="Ra59ebb8574b5424b"/>
    <p:sldId xmlns:r="http://schemas.openxmlformats.org/officeDocument/2006/relationships" id="282" r:id="R3e7b9bb810664d6b"/>
    <p:sldId xmlns:r="http://schemas.openxmlformats.org/officeDocument/2006/relationships" id="283" r:id="R21fcf26980ea49ca"/>
    <p:sldId xmlns:r="http://schemas.openxmlformats.org/officeDocument/2006/relationships" id="284" r:id="Rae730b00cee94ddd"/>
    <p:sldId xmlns:r="http://schemas.openxmlformats.org/officeDocument/2006/relationships" id="285" r:id="Re7082fd0c9094377"/>
    <p:sldId xmlns:r="http://schemas.openxmlformats.org/officeDocument/2006/relationships" id="286" r:id="Rc12ea389fca24292"/>
    <p:sldId xmlns:r="http://schemas.openxmlformats.org/officeDocument/2006/relationships" id="287" r:id="Re3e52eba877f403a"/>
    <p:sldId xmlns:r="http://schemas.openxmlformats.org/officeDocument/2006/relationships" id="288" r:id="Rd6f049bc69964a50"/>
    <p:sldId xmlns:r="http://schemas.openxmlformats.org/officeDocument/2006/relationships" id="289" r:id="Rc172a4d162694722"/>
    <p:sldId xmlns:r="http://schemas.openxmlformats.org/officeDocument/2006/relationships" id="290" r:id="R480966ea66d6472b"/>
    <p:sldId xmlns:r="http://schemas.openxmlformats.org/officeDocument/2006/relationships" id="291" r:id="Rb8999cd8e01342bf"/>
    <p:sldId xmlns:r="http://schemas.openxmlformats.org/officeDocument/2006/relationships" id="292" r:id="R904858fd77b44982"/>
    <p:sldId xmlns:r="http://schemas.openxmlformats.org/officeDocument/2006/relationships" id="293" r:id="R739f9dacc8de4674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e06acb12c4f4673" /><Relationship Type="http://schemas.openxmlformats.org/officeDocument/2006/relationships/theme" Target="/ppt/theme/theme1.xml" Id="Rc7829e834bf44e2d" /><Relationship Type="http://schemas.openxmlformats.org/officeDocument/2006/relationships/notesMaster" Target="/ppt/notesMasters/notesMaster1.xml" Id="R6991abc069e44ac3" /><Relationship Type="http://schemas.openxmlformats.org/officeDocument/2006/relationships/presProps" Target="/ppt/presProps.xml" Id="Re86971f682974567" /><Relationship Type="http://schemas.openxmlformats.org/officeDocument/2006/relationships/viewProps" Target="/ppt/viewProps.xml" Id="R36949d620ffd48b4" /><Relationship Type="http://schemas.openxmlformats.org/officeDocument/2006/relationships/tableStyles" Target="/ppt/tableStyles.xml" Id="Re8dfe13e05f54c5e" /><Relationship Type="http://schemas.openxmlformats.org/officeDocument/2006/relationships/slide" Target="/ppt/slides/slide1.xml" Id="R9e5d247113774120" /><Relationship Type="http://schemas.openxmlformats.org/officeDocument/2006/relationships/slide" Target="/ppt/slides/slide2.xml" Id="R626a2de2a19d4a71" /><Relationship Type="http://schemas.openxmlformats.org/officeDocument/2006/relationships/slide" Target="/ppt/slides/slide3.xml" Id="Rf5e25dadaab44398" /><Relationship Type="http://schemas.openxmlformats.org/officeDocument/2006/relationships/slide" Target="/ppt/slides/slide4.xml" Id="Reff6b6c2808b4712" /><Relationship Type="http://schemas.openxmlformats.org/officeDocument/2006/relationships/slide" Target="/ppt/slides/slide5.xml" Id="Rde26095ebe104ba0" /><Relationship Type="http://schemas.openxmlformats.org/officeDocument/2006/relationships/slide" Target="/ppt/slides/slide6.xml" Id="R50bc5eab98294f30" /><Relationship Type="http://schemas.openxmlformats.org/officeDocument/2006/relationships/slide" Target="/ppt/slides/slide7.xml" Id="R21e7799a3ebe4ca8" /><Relationship Type="http://schemas.openxmlformats.org/officeDocument/2006/relationships/slide" Target="/ppt/slides/slide8.xml" Id="R88850890ca2446e4" /><Relationship Type="http://schemas.openxmlformats.org/officeDocument/2006/relationships/slide" Target="/ppt/slides/slide9.xml" Id="Ree8da63e1e3d4b57" /><Relationship Type="http://schemas.openxmlformats.org/officeDocument/2006/relationships/slide" Target="/ppt/slides/slide10.xml" Id="Ra079c42f17be4439" /><Relationship Type="http://schemas.openxmlformats.org/officeDocument/2006/relationships/slide" Target="/ppt/slides/slide11.xml" Id="Ra628e069872149ca" /><Relationship Type="http://schemas.openxmlformats.org/officeDocument/2006/relationships/slide" Target="/ppt/slides/slide12.xml" Id="Rc083cd9bd3184d5c" /><Relationship Type="http://schemas.openxmlformats.org/officeDocument/2006/relationships/slide" Target="/ppt/slides/slide13.xml" Id="R417a1eda457c4090" /><Relationship Type="http://schemas.openxmlformats.org/officeDocument/2006/relationships/slide" Target="/ppt/slides/slide14.xml" Id="Rc285a2e840d64656" /><Relationship Type="http://schemas.openxmlformats.org/officeDocument/2006/relationships/slide" Target="/ppt/slides/slide15.xml" Id="Rc8668ca346e04ebd" /><Relationship Type="http://schemas.openxmlformats.org/officeDocument/2006/relationships/slide" Target="/ppt/slides/slide16.xml" Id="Rc15f81a80e544e22" /><Relationship Type="http://schemas.openxmlformats.org/officeDocument/2006/relationships/slide" Target="/ppt/slides/slide17.xml" Id="R1c8de7c4c11a4389" /><Relationship Type="http://schemas.openxmlformats.org/officeDocument/2006/relationships/slide" Target="/ppt/slides/slide18.xml" Id="Rffb4815edf644ab2" /><Relationship Type="http://schemas.openxmlformats.org/officeDocument/2006/relationships/slide" Target="/ppt/slides/slide19.xml" Id="R5e7145a87fc14a9e" /><Relationship Type="http://schemas.openxmlformats.org/officeDocument/2006/relationships/slide" Target="/ppt/slides/slide20.xml" Id="Rf59233852c8f4334" /><Relationship Type="http://schemas.openxmlformats.org/officeDocument/2006/relationships/slide" Target="/ppt/slides/slide21.xml" Id="R378c559066ae4707" /><Relationship Type="http://schemas.openxmlformats.org/officeDocument/2006/relationships/slide" Target="/ppt/slides/slide22.xml" Id="Ra76fb4c216ee49dd" /><Relationship Type="http://schemas.openxmlformats.org/officeDocument/2006/relationships/slide" Target="/ppt/slides/slide23.xml" Id="R27db2f1851ad45e0" /><Relationship Type="http://schemas.openxmlformats.org/officeDocument/2006/relationships/slide" Target="/ppt/slides/slide24.xml" Id="R350748d4e52f4c25" /><Relationship Type="http://schemas.openxmlformats.org/officeDocument/2006/relationships/slide" Target="/ppt/slides/slide25.xml" Id="R08bf50a8ce6349dc" /><Relationship Type="http://schemas.openxmlformats.org/officeDocument/2006/relationships/slide" Target="/ppt/slides/slide26.xml" Id="Ra59ebb8574b5424b" /><Relationship Type="http://schemas.openxmlformats.org/officeDocument/2006/relationships/slide" Target="/ppt/slides/slide27.xml" Id="R3e7b9bb810664d6b" /><Relationship Type="http://schemas.openxmlformats.org/officeDocument/2006/relationships/slide" Target="/ppt/slides/slide28.xml" Id="R21fcf26980ea49ca" /><Relationship Type="http://schemas.openxmlformats.org/officeDocument/2006/relationships/slide" Target="/ppt/slides/slide29.xml" Id="Rae730b00cee94ddd" /><Relationship Type="http://schemas.openxmlformats.org/officeDocument/2006/relationships/slide" Target="/ppt/slides/slide30.xml" Id="Re7082fd0c9094377" /><Relationship Type="http://schemas.openxmlformats.org/officeDocument/2006/relationships/slide" Target="/ppt/slides/slide31.xml" Id="Rc12ea389fca24292" /><Relationship Type="http://schemas.openxmlformats.org/officeDocument/2006/relationships/slide" Target="/ppt/slides/slide32.xml" Id="Re3e52eba877f403a" /><Relationship Type="http://schemas.openxmlformats.org/officeDocument/2006/relationships/slide" Target="/ppt/slides/slide33.xml" Id="Rd6f049bc69964a50" /><Relationship Type="http://schemas.openxmlformats.org/officeDocument/2006/relationships/slide" Target="/ppt/slides/slide34.xml" Id="Rc172a4d162694722" /><Relationship Type="http://schemas.openxmlformats.org/officeDocument/2006/relationships/slide" Target="/ppt/slides/slide35.xml" Id="R480966ea66d6472b" /><Relationship Type="http://schemas.openxmlformats.org/officeDocument/2006/relationships/slide" Target="/ppt/slides/slide36.xml" Id="Rb8999cd8e01342bf" /><Relationship Type="http://schemas.openxmlformats.org/officeDocument/2006/relationships/slide" Target="/ppt/slides/slide37.xml" Id="R904858fd77b44982" /><Relationship Type="http://schemas.openxmlformats.org/officeDocument/2006/relationships/slide" Target="/ppt/slides/slide38.xml" Id="R739f9dacc8de467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898b65feaccb4d3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16ccb695b2046e2" /><Relationship Type="http://schemas.openxmlformats.org/officeDocument/2006/relationships/notesMaster" Target="/ppt/notesMasters/notesMaster1.xml" Id="R3f851cd86c9448c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8ccce031283457b" /><Relationship Type="http://schemas.openxmlformats.org/officeDocument/2006/relationships/notesMaster" Target="/ppt/notesMasters/notesMaster1.xml" Id="R3f1ec53e24c3467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0c60264ea244971" /><Relationship Type="http://schemas.openxmlformats.org/officeDocument/2006/relationships/notesMaster" Target="/ppt/notesMasters/notesMaster1.xml" Id="R452ed35531aa46f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7d8e4f5adec435f" /><Relationship Type="http://schemas.openxmlformats.org/officeDocument/2006/relationships/notesMaster" Target="/ppt/notesMasters/notesMaster1.xml" Id="R577abbe2fd1f4de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d9127bb557f4f93" /><Relationship Type="http://schemas.openxmlformats.org/officeDocument/2006/relationships/notesMaster" Target="/ppt/notesMasters/notesMaster1.xml" Id="R4ec53a09058b47b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4c7206137134363" /><Relationship Type="http://schemas.openxmlformats.org/officeDocument/2006/relationships/notesMaster" Target="/ppt/notesMasters/notesMaster1.xml" Id="R31a8d575719f484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62248ab239242f3" /><Relationship Type="http://schemas.openxmlformats.org/officeDocument/2006/relationships/notesMaster" Target="/ppt/notesMasters/notesMaster1.xml" Id="R716b9f798aec424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3f44b0157bb4399" /><Relationship Type="http://schemas.openxmlformats.org/officeDocument/2006/relationships/notesMaster" Target="/ppt/notesMasters/notesMaster1.xml" Id="R6ec77d86662c418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4e1013dd0934e24" /><Relationship Type="http://schemas.openxmlformats.org/officeDocument/2006/relationships/notesMaster" Target="/ppt/notesMasters/notesMaster1.xml" Id="R728c7ff1a9974dc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9616c7101df4531" /><Relationship Type="http://schemas.openxmlformats.org/officeDocument/2006/relationships/notesMaster" Target="/ppt/notesMasters/notesMaster1.xml" Id="Rb6600f3e7a3a40b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3f4e861ef924b0d" /><Relationship Type="http://schemas.openxmlformats.org/officeDocument/2006/relationships/notesMaster" Target="/ppt/notesMasters/notesMaster1.xml" Id="R8eec76136cda4d1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78f9a9d17e94f3a" /><Relationship Type="http://schemas.openxmlformats.org/officeDocument/2006/relationships/notesMaster" Target="/ppt/notesMasters/notesMaster1.xml" Id="R38ee3d7078a0486f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f4d096a75bab4914" /><Relationship Type="http://schemas.openxmlformats.org/officeDocument/2006/relationships/notesMaster" Target="/ppt/notesMasters/notesMaster1.xml" Id="Rcddbb128d6df40bf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915ca1545f944e38" /><Relationship Type="http://schemas.openxmlformats.org/officeDocument/2006/relationships/notesMaster" Target="/ppt/notesMasters/notesMaster1.xml" Id="Ra2422560c4ad4f54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ce8ca746e5744f30" /><Relationship Type="http://schemas.openxmlformats.org/officeDocument/2006/relationships/notesMaster" Target="/ppt/notesMasters/notesMaster1.xml" Id="Rdd813bc01b2d47a0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ab76cd7474744c86" /><Relationship Type="http://schemas.openxmlformats.org/officeDocument/2006/relationships/notesMaster" Target="/ppt/notesMasters/notesMaster1.xml" Id="R27d34faa6add41bb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1cd5ba3f8bba4d53" /><Relationship Type="http://schemas.openxmlformats.org/officeDocument/2006/relationships/notesMaster" Target="/ppt/notesMasters/notesMaster1.xml" Id="Rc3fa242ecfb245a8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f027559642a343cf" /><Relationship Type="http://schemas.openxmlformats.org/officeDocument/2006/relationships/notesMaster" Target="/ppt/notesMasters/notesMaster1.xml" Id="Re6771cb8dd644426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e728f3006ebb4168" /><Relationship Type="http://schemas.openxmlformats.org/officeDocument/2006/relationships/notesMaster" Target="/ppt/notesMasters/notesMaster1.xml" Id="Rdfff25c94b6c410a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69be8c3b38e84d27" /><Relationship Type="http://schemas.openxmlformats.org/officeDocument/2006/relationships/notesMaster" Target="/ppt/notesMasters/notesMaster1.xml" Id="R59213f1567654209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245929de3ea749f4" /><Relationship Type="http://schemas.openxmlformats.org/officeDocument/2006/relationships/notesMaster" Target="/ppt/notesMasters/notesMaster1.xml" Id="R59aff75d53c54bd8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3a4487991c4546b5" /><Relationship Type="http://schemas.openxmlformats.org/officeDocument/2006/relationships/notesMaster" Target="/ppt/notesMasters/notesMaster1.xml" Id="R1d499bb0eb214e01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a685917a75164a39" /><Relationship Type="http://schemas.openxmlformats.org/officeDocument/2006/relationships/notesMaster" Target="/ppt/notesMasters/notesMaster1.xml" Id="R88c7e89e73f24dda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20bed1bef3744aee" /><Relationship Type="http://schemas.openxmlformats.org/officeDocument/2006/relationships/notesMaster" Target="/ppt/notesMasters/notesMaster1.xml" Id="R000ae337cdf043fd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a33abe716f92445d" /><Relationship Type="http://schemas.openxmlformats.org/officeDocument/2006/relationships/notesMaster" Target="/ppt/notesMasters/notesMaster1.xml" Id="R7b6dceeb5cce4e00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933791b70d7e4af1" /><Relationship Type="http://schemas.openxmlformats.org/officeDocument/2006/relationships/notesMaster" Target="/ppt/notesMasters/notesMaster1.xml" Id="Rb515e964769a4fc1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11fb32b0760149c7" /><Relationship Type="http://schemas.openxmlformats.org/officeDocument/2006/relationships/notesMaster" Target="/ppt/notesMasters/notesMaster1.xml" Id="R36ef21cb680e4369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51258a59f9774f31" /><Relationship Type="http://schemas.openxmlformats.org/officeDocument/2006/relationships/notesMaster" Target="/ppt/notesMasters/notesMaster1.xml" Id="R558f280b2eec4148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535e2be4dff24af2" /><Relationship Type="http://schemas.openxmlformats.org/officeDocument/2006/relationships/notesMaster" Target="/ppt/notesMasters/notesMaster1.xml" Id="R8e5ede0c8c9943c9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229c9f280ebc4a6b" /><Relationship Type="http://schemas.openxmlformats.org/officeDocument/2006/relationships/notesMaster" Target="/ppt/notesMasters/notesMaster1.xml" Id="R30d6c1b906db48f0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72c54744ccd64b78" /><Relationship Type="http://schemas.openxmlformats.org/officeDocument/2006/relationships/notesMaster" Target="/ppt/notesMasters/notesMaster1.xml" Id="Raa2b055b44df4110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323f1fbfe8fe415d" /><Relationship Type="http://schemas.openxmlformats.org/officeDocument/2006/relationships/notesMaster" Target="/ppt/notesMasters/notesMaster1.xml" Id="R0f047095d9804f55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603d075fc4544f53" /><Relationship Type="http://schemas.openxmlformats.org/officeDocument/2006/relationships/notesMaster" Target="/ppt/notesMasters/notesMaster1.xml" Id="Rb918c1dc720744a7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5cf6b9ac358a42d6" /><Relationship Type="http://schemas.openxmlformats.org/officeDocument/2006/relationships/notesMaster" Target="/ppt/notesMasters/notesMaster1.xml" Id="Rf6820d0768ff412c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4f655200923e42ec" /><Relationship Type="http://schemas.openxmlformats.org/officeDocument/2006/relationships/notesMaster" Target="/ppt/notesMasters/notesMaster1.xml" Id="R2880c512a8154417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bb2cc33ebd984fb7" /><Relationship Type="http://schemas.openxmlformats.org/officeDocument/2006/relationships/notesMaster" Target="/ppt/notesMasters/notesMaster1.xml" Id="R4e876a98f73a40b1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6c6d98efcea94c45" /><Relationship Type="http://schemas.openxmlformats.org/officeDocument/2006/relationships/notesMaster" Target="/ppt/notesMasters/notesMaster1.xml" Id="Rc87177a2df9d4f3f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8d191b681a8d4a39" /><Relationship Type="http://schemas.openxmlformats.org/officeDocument/2006/relationships/notesMaster" Target="/ppt/notesMasters/notesMaster1.xml" Id="Rb3bcf08e1e784fb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aac1abee6514c7a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d8aeb8b906df4928" /><Relationship Type="http://schemas.openxmlformats.org/officeDocument/2006/relationships/slideLayout" Target="/ppt/slideLayouts/slideLayout2.xml" Id="Rbe3a7e388e9849d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e3a7e388e9849d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408770abfaf4c62" /><Relationship Type="http://schemas.openxmlformats.org/officeDocument/2006/relationships/image" Target="/ppt/media/image.png" Id="R8754ef64849c4f97" /><Relationship Type="http://schemas.openxmlformats.org/officeDocument/2006/relationships/image" Target="/ppt/media/image2.png" Id="R72d40df877b546f6" /><Relationship Type="http://schemas.openxmlformats.org/officeDocument/2006/relationships/notesSlide" Target="/ppt/notesSlides/notesSlide1.xml" Id="Re344d311bae643d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5b613f1447e4ef4" /><Relationship Type="http://schemas.openxmlformats.org/officeDocument/2006/relationships/image" Target="/ppt/media/image3.png" Id="Reb06ac968f094c65" /><Relationship Type="http://schemas.openxmlformats.org/officeDocument/2006/relationships/notesSlide" Target="/ppt/notesSlides/notesSlide2.xml" Id="R1646fd3d02b44e0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f9f6c10a7fe449c" /><Relationship Type="http://schemas.openxmlformats.org/officeDocument/2006/relationships/image" Target="/ppt/media/image4.png" Id="Reeac4fb947f74197" /><Relationship Type="http://schemas.openxmlformats.org/officeDocument/2006/relationships/notesSlide" Target="/ppt/notesSlides/notesSlide3.xml" Id="R33b05a12b0d540e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4baf0a891c34040" /><Relationship Type="http://schemas.openxmlformats.org/officeDocument/2006/relationships/image" Target="/ppt/media/image5.png" Id="R181d35e56a2b4241" /><Relationship Type="http://schemas.openxmlformats.org/officeDocument/2006/relationships/notesSlide" Target="/ppt/notesSlides/notesSlide4.xml" Id="R37aa1e188633447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5d38f6cdfe94639" /><Relationship Type="http://schemas.openxmlformats.org/officeDocument/2006/relationships/image" Target="/ppt/media/image6.png" Id="R92400f2512d74688" /><Relationship Type="http://schemas.openxmlformats.org/officeDocument/2006/relationships/notesSlide" Target="/ppt/notesSlides/notesSlide5.xml" Id="R8b9362a10a2c416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99e5320add44e1a" /><Relationship Type="http://schemas.openxmlformats.org/officeDocument/2006/relationships/image" Target="/ppt/media/image7.png" Id="Rde6d5391878a44ff" /><Relationship Type="http://schemas.openxmlformats.org/officeDocument/2006/relationships/notesSlide" Target="/ppt/notesSlides/notesSlide6.xml" Id="R7f6c884967d345a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7558c735bae4c10" /><Relationship Type="http://schemas.openxmlformats.org/officeDocument/2006/relationships/image" Target="/ppt/media/image8.png" Id="Rdd0f0acd1643421d" /><Relationship Type="http://schemas.openxmlformats.org/officeDocument/2006/relationships/image" Target="/ppt/media/image9.png" Id="R093227c53fbc4430" /><Relationship Type="http://schemas.openxmlformats.org/officeDocument/2006/relationships/notesSlide" Target="/ppt/notesSlides/notesSlide7.xml" Id="R7f21f9a0fcf94aa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3a3289b088c4c3c" /><Relationship Type="http://schemas.openxmlformats.org/officeDocument/2006/relationships/image" Target="/ppt/media/image10.png" Id="Rcd7b25aa4d3c4e0d" /><Relationship Type="http://schemas.openxmlformats.org/officeDocument/2006/relationships/notesSlide" Target="/ppt/notesSlides/notesSlide8.xml" Id="Rf0d9ac0316db43d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25e18f0b3494962" /><Relationship Type="http://schemas.openxmlformats.org/officeDocument/2006/relationships/image" Target="/ppt/media/image11.png" Id="Ra585c3d98fe24f57" /><Relationship Type="http://schemas.openxmlformats.org/officeDocument/2006/relationships/image" Target="/ppt/media/image12.png" Id="Rf089c94e95e841c3" /><Relationship Type="http://schemas.openxmlformats.org/officeDocument/2006/relationships/notesSlide" Target="/ppt/notesSlides/notesSlide9.xml" Id="Rdce9e0d40074481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fd1f5f65abd4dc5" /><Relationship Type="http://schemas.openxmlformats.org/officeDocument/2006/relationships/image" Target="/ppt/media/image13.png" Id="R14e38412fa3440cd" /><Relationship Type="http://schemas.openxmlformats.org/officeDocument/2006/relationships/image" Target="/ppt/media/image14.png" Id="Rc9c3724877fc4085" /><Relationship Type="http://schemas.openxmlformats.org/officeDocument/2006/relationships/notesSlide" Target="/ppt/notesSlides/notesSlide10.xml" Id="R0ca7e8c2c68642f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561a3ef328548a5" /><Relationship Type="http://schemas.openxmlformats.org/officeDocument/2006/relationships/image" Target="/ppt/media/image15.png" Id="R99dff86442a74770" /><Relationship Type="http://schemas.openxmlformats.org/officeDocument/2006/relationships/image" Target="/ppt/media/image16.png" Id="R0cb0c6054b9e4925" /><Relationship Type="http://schemas.openxmlformats.org/officeDocument/2006/relationships/notesSlide" Target="/ppt/notesSlides/notesSlide11.xml" Id="R507a95fcd554486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a750dd549e84b10" /><Relationship Type="http://schemas.openxmlformats.org/officeDocument/2006/relationships/image" Target="/ppt/media/image17.png" Id="R5ac8629baded4b58" /><Relationship Type="http://schemas.openxmlformats.org/officeDocument/2006/relationships/notesSlide" Target="/ppt/notesSlides/notesSlide12.xml" Id="R463ffda51bb94bec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a2d34efd879461f" /><Relationship Type="http://schemas.openxmlformats.org/officeDocument/2006/relationships/image" Target="/ppt/media/image18.png" Id="R18f83a5fc7584652" /><Relationship Type="http://schemas.openxmlformats.org/officeDocument/2006/relationships/image" Target="/ppt/media/image19.png" Id="R1990b84f33f148a9" /><Relationship Type="http://schemas.openxmlformats.org/officeDocument/2006/relationships/notesSlide" Target="/ppt/notesSlides/notesSlide13.xml" Id="Rbf2ab6127cbb43e8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06049a0f7684f52" /><Relationship Type="http://schemas.openxmlformats.org/officeDocument/2006/relationships/image" Target="/ppt/media/image20.png" Id="R9f05fc6e07ef4fff" /><Relationship Type="http://schemas.openxmlformats.org/officeDocument/2006/relationships/image" Target="/ppt/media/image21.png" Id="Re8c735ec49124e82" /><Relationship Type="http://schemas.openxmlformats.org/officeDocument/2006/relationships/notesSlide" Target="/ppt/notesSlides/notesSlide14.xml" Id="Re4e74ddeff064137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f848cebb2cb4070" /><Relationship Type="http://schemas.openxmlformats.org/officeDocument/2006/relationships/image" Target="/ppt/media/image22.png" Id="R69a53734c2b34d1c" /><Relationship Type="http://schemas.openxmlformats.org/officeDocument/2006/relationships/notesSlide" Target="/ppt/notesSlides/notesSlide15.xml" Id="Rcae371fb29884f7f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0e68f1fad6f45b1" /><Relationship Type="http://schemas.openxmlformats.org/officeDocument/2006/relationships/image" Target="/ppt/media/image23.png" Id="Rd8fc87c57ee24795" /><Relationship Type="http://schemas.openxmlformats.org/officeDocument/2006/relationships/notesSlide" Target="/ppt/notesSlides/notesSlide16.xml" Id="Rcc78a2c9f3b64340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6f928a9628144d2" /><Relationship Type="http://schemas.openxmlformats.org/officeDocument/2006/relationships/image" Target="/ppt/media/image24.png" Id="Rdbf43e180ea341dc" /><Relationship Type="http://schemas.openxmlformats.org/officeDocument/2006/relationships/image" Target="/ppt/media/image25.png" Id="Rc2430d3a9cb549be" /><Relationship Type="http://schemas.openxmlformats.org/officeDocument/2006/relationships/notesSlide" Target="/ppt/notesSlides/notesSlide17.xml" Id="R1405834904054818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ef68f63b3524e23" /><Relationship Type="http://schemas.openxmlformats.org/officeDocument/2006/relationships/image" Target="/ppt/media/image26.png" Id="R2a86ac8a3c0d4860" /><Relationship Type="http://schemas.openxmlformats.org/officeDocument/2006/relationships/notesSlide" Target="/ppt/notesSlides/notesSlide18.xml" Id="R42065fa16d8d49ca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912e31609b84c29" /><Relationship Type="http://schemas.openxmlformats.org/officeDocument/2006/relationships/image" Target="/ppt/media/image27.png" Id="R60ffa578720443a4" /><Relationship Type="http://schemas.openxmlformats.org/officeDocument/2006/relationships/image" Target="/ppt/media/image28.png" Id="Rcda6f8ca39ef4ae4" /><Relationship Type="http://schemas.openxmlformats.org/officeDocument/2006/relationships/notesSlide" Target="/ppt/notesSlides/notesSlide19.xml" Id="Rdb8db44bd95242dc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beced90d9094b69" /><Relationship Type="http://schemas.openxmlformats.org/officeDocument/2006/relationships/image" Target="/ppt/media/image29.png" Id="R489beef3a2724ba5" /><Relationship Type="http://schemas.openxmlformats.org/officeDocument/2006/relationships/image" Target="/ppt/media/image30.png" Id="Ree33b3bc03e741ca" /><Relationship Type="http://schemas.openxmlformats.org/officeDocument/2006/relationships/notesSlide" Target="/ppt/notesSlides/notesSlide20.xml" Id="Rac761be4251a454f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074db147d5d448a" /><Relationship Type="http://schemas.openxmlformats.org/officeDocument/2006/relationships/image" Target="/ppt/media/image31.png" Id="Rc48658fe0daa4a0d" /><Relationship Type="http://schemas.openxmlformats.org/officeDocument/2006/relationships/image" Target="/ppt/media/image32.png" Id="R7ab70f36d4524b62" /><Relationship Type="http://schemas.openxmlformats.org/officeDocument/2006/relationships/notesSlide" Target="/ppt/notesSlides/notesSlide21.xml" Id="Rfdb3f7e7a33045a4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2038ac673cc454b" /><Relationship Type="http://schemas.openxmlformats.org/officeDocument/2006/relationships/image" Target="/ppt/media/image33.png" Id="R042c241b10f4445c" /><Relationship Type="http://schemas.openxmlformats.org/officeDocument/2006/relationships/notesSlide" Target="/ppt/notesSlides/notesSlide22.xml" Id="R1016e0d4f8d64039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b61fe2f44db4c69" /><Relationship Type="http://schemas.openxmlformats.org/officeDocument/2006/relationships/image" Target="/ppt/media/image34.png" Id="Rba58943829b648b2" /><Relationship Type="http://schemas.openxmlformats.org/officeDocument/2006/relationships/image" Target="/ppt/media/image35.png" Id="Rd67a20519a3e4d31" /><Relationship Type="http://schemas.openxmlformats.org/officeDocument/2006/relationships/notesSlide" Target="/ppt/notesSlides/notesSlide23.xml" Id="R7da879bda2fd4165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2da64698bbd4cb4" /><Relationship Type="http://schemas.openxmlformats.org/officeDocument/2006/relationships/image" Target="/ppt/media/image36.png" Id="Rc156cb4a777a4e90" /><Relationship Type="http://schemas.openxmlformats.org/officeDocument/2006/relationships/notesSlide" Target="/ppt/notesSlides/notesSlide24.xml" Id="Rfa6ea02eddc74093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16358b345da47da" /><Relationship Type="http://schemas.openxmlformats.org/officeDocument/2006/relationships/image" Target="/ppt/media/image37.png" Id="R1b2c31c26a47438a" /><Relationship Type="http://schemas.openxmlformats.org/officeDocument/2006/relationships/notesSlide" Target="/ppt/notesSlides/notesSlide25.xml" Id="R7d64cec91fe24576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e85b107a27c4198" /><Relationship Type="http://schemas.openxmlformats.org/officeDocument/2006/relationships/image" Target="/ppt/media/image38.png" Id="Rdc8c45e2273b42bd" /><Relationship Type="http://schemas.openxmlformats.org/officeDocument/2006/relationships/notesSlide" Target="/ppt/notesSlides/notesSlide26.xml" Id="Rf6a8f8b9611744e1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c378f00c83e494e" /><Relationship Type="http://schemas.openxmlformats.org/officeDocument/2006/relationships/image" Target="/ppt/media/image39.png" Id="R9d092b47797540f4" /><Relationship Type="http://schemas.openxmlformats.org/officeDocument/2006/relationships/notesSlide" Target="/ppt/notesSlides/notesSlide27.xml" Id="R31060b1e74a9456c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3c7cc929c8b4efa" /><Relationship Type="http://schemas.openxmlformats.org/officeDocument/2006/relationships/image" Target="/ppt/media/image40.png" Id="R0204bd7051a84231" /><Relationship Type="http://schemas.openxmlformats.org/officeDocument/2006/relationships/notesSlide" Target="/ppt/notesSlides/notesSlide28.xml" Id="R929b70c61f3749d8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acdccdb4a1b4d3c" /><Relationship Type="http://schemas.openxmlformats.org/officeDocument/2006/relationships/image" Target="/ppt/media/image41.png" Id="Rda3d1d4c05f54755" /><Relationship Type="http://schemas.openxmlformats.org/officeDocument/2006/relationships/notesSlide" Target="/ppt/notesSlides/notesSlide29.xml" Id="R567bc8d1d38349cc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33c1cbd70894eef" /><Relationship Type="http://schemas.openxmlformats.org/officeDocument/2006/relationships/image" Target="/ppt/media/image42.png" Id="Rc310857897954104" /><Relationship Type="http://schemas.openxmlformats.org/officeDocument/2006/relationships/notesSlide" Target="/ppt/notesSlides/notesSlide30.xml" Id="Rc6587ed8318741b7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d9bacc29c8f4be7" /><Relationship Type="http://schemas.openxmlformats.org/officeDocument/2006/relationships/image" Target="/ppt/media/image43.png" Id="Rf96408c8334c4002" /><Relationship Type="http://schemas.openxmlformats.org/officeDocument/2006/relationships/notesSlide" Target="/ppt/notesSlides/notesSlide31.xml" Id="R12c1134c182a4ec0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d11a19a8b16433e" /><Relationship Type="http://schemas.openxmlformats.org/officeDocument/2006/relationships/image" Target="/ppt/media/image44.png" Id="R84cef52f586948fa" /><Relationship Type="http://schemas.openxmlformats.org/officeDocument/2006/relationships/notesSlide" Target="/ppt/notesSlides/notesSlide32.xml" Id="R8797755abc9e4627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d75239f26574d97" /><Relationship Type="http://schemas.openxmlformats.org/officeDocument/2006/relationships/image" Target="/ppt/media/image45.png" Id="R501176db57824b62" /><Relationship Type="http://schemas.openxmlformats.org/officeDocument/2006/relationships/notesSlide" Target="/ppt/notesSlides/notesSlide33.xml" Id="Rb7e44e16e3504548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1953779d662439a" /><Relationship Type="http://schemas.openxmlformats.org/officeDocument/2006/relationships/image" Target="/ppt/media/image46.png" Id="R9cb7ec8aaccc4d89" /><Relationship Type="http://schemas.openxmlformats.org/officeDocument/2006/relationships/image" Target="/ppt/media/image47.png" Id="Re0b9fa123ee84c56" /><Relationship Type="http://schemas.openxmlformats.org/officeDocument/2006/relationships/notesSlide" Target="/ppt/notesSlides/notesSlide34.xml" Id="Rcc9d64e95407457b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6b3c279655248d7" /><Relationship Type="http://schemas.openxmlformats.org/officeDocument/2006/relationships/image" Target="/ppt/media/image48.png" Id="R400ecedee21f4e0d" /><Relationship Type="http://schemas.openxmlformats.org/officeDocument/2006/relationships/image" Target="/ppt/media/image49.png" Id="Raff86f7084cf4e5b" /><Relationship Type="http://schemas.openxmlformats.org/officeDocument/2006/relationships/notesSlide" Target="/ppt/notesSlides/notesSlide35.xml" Id="Rc43d03e7464f4454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c9a140236b6412c" /><Relationship Type="http://schemas.openxmlformats.org/officeDocument/2006/relationships/image" Target="/ppt/media/image50.png" Id="Rd4582671255b4e9e" /><Relationship Type="http://schemas.openxmlformats.org/officeDocument/2006/relationships/notesSlide" Target="/ppt/notesSlides/notesSlide36.xml" Id="Rfa99f0d5d1214fc3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9a3496cd5954558" /><Relationship Type="http://schemas.openxmlformats.org/officeDocument/2006/relationships/image" Target="/ppt/media/image51.png" Id="Rd92ff328dc0a4d81" /><Relationship Type="http://schemas.openxmlformats.org/officeDocument/2006/relationships/notesSlide" Target="/ppt/notesSlides/notesSlide37.xml" Id="Rf7534badd8824d60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2f24e033ba14085" /><Relationship Type="http://schemas.openxmlformats.org/officeDocument/2006/relationships/image" Target="/ppt/media/image52.png" Id="Ref9c06edb91f43a9" /><Relationship Type="http://schemas.openxmlformats.org/officeDocument/2006/relationships/notesSlide" Target="/ppt/notesSlides/notesSlide38.xml" Id="Rb873c2fbd24b4577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852EAC4-A628-44B7-8565-130A45AF1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95F30B-6399-458D-8F3C-66318F6D5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54ef64849c4f97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89668DE-DE4A-4B3C-854E-190C8AE67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628650"/>
            <a:ext cx="6858000" cy="1752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90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What should go into the objective function?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5786C60-6B06-4A1C-B7D1-EAC5CAB3A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55270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205CA49-1190-4197-8767-765B90BE7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819400"/>
            <a:ext cx="6667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Lecture 3: neoclassical, turbulence, and fast-particle gates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B254AB6-8CB4-4FBF-B596-70C8FF2D7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9338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AC6695-889F-41AE-85A0-BDC0819E4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29050"/>
            <a:ext cx="5429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Can transport physics become an optimization metric?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F8473F4-4EA8-4CB1-8E94-DCA135625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6196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7C98924-77F7-48A8-80EE-12283A383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14850"/>
            <a:ext cx="5429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Docs: https://sos2026-rjorge-stellarator-optimization.readthedocs.io/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AF9DA14-6F48-4392-9D2D-5DF48B910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066800"/>
            <a:ext cx="4171950" cy="3105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d40df877b546f6"/>
          <a:stretch xmlns:a="http://schemas.openxmlformats.org/drawingml/2006/main"/>
        </p:blipFill>
        <p:spPr>
          <a:xfrm xmlns:a="http://schemas.openxmlformats.org/drawingml/2006/main">
            <a:off x="7277100" y="1486161"/>
            <a:ext cx="3752850" cy="2266427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B5E2E3C-FC91-4384-A0FB-E24EB3D5D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676900"/>
            <a:ext cx="1219200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BED3636-D302-4405-9AE1-B67BBF6D4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24550"/>
            <a:ext cx="542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CEA-IRFM / Renaissance Fusion School on Stellarators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EF6D4B8-D547-4B8A-833E-E1E56960C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0"/>
            <a:ext cx="3619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Aix-en-Provence, 2026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50335B8-2CB5-4928-A0DC-6CCB8CDAF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6038850"/>
            <a:ext cx="371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Rogerio Jorge, University of Wisconsin-Madison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E7D8FBC-B6FF-4552-8EC1-36EC2FA17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00800"/>
            <a:ext cx="495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Repo: github.com/rogeriojorge/sos2026-rjorge-stellarator-optimization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A7F1BC6-F3A7-4253-B092-2E8FA82E1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6286500"/>
            <a:ext cx="3714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Docs: sos2026-rjorge-stellarator-optimization.readthedocs.io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C99D67E-9564-4A68-BA54-F4667D0CB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Slide 01</a:t>
            </a:r>
          </a:p>
        </p:txBody>
      </p:sp>
    </p:spTree>
    <p:extLst>
      <p:ext uri="{BB962C8B-B14F-4D97-AF65-F5344CB8AC3E}">
        <p14:creationId xmlns:p14="http://schemas.microsoft.com/office/powerpoint/2010/main" val="80982235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D133906-F363-43C8-87B4-DEF81BA3F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2C1ADB-4786-4A52-A802-641ED83B2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b06ac968f094c65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81FE2B-1B5D-4016-AC48-3B721820C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714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Lecture 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049E04-9D2B-4550-8B79-779795F39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8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C5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482FE7-8F1C-42CA-9EB9-AB3D47CB7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190750"/>
            <a:ext cx="85725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40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40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PART 1. A hierarchy of transport calculations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F66D50-80EA-4C3D-B84E-51426F5EA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3638550"/>
            <a:ext cx="14097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2189676-E1FC-4386-A10C-0BB17DEBE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2005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900AC88-CA74-4C51-A2B5-E735BA4AA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095750"/>
            <a:ext cx="7524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Cheap screens move many designs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C0B3496-8BC8-4348-8312-0906E74A0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8291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C98EBE0-D731-4666-98D5-89786BDC3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724400"/>
            <a:ext cx="7524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Expensive calculations validate finalists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4E1B79C-9843-48D9-AD3A-C118738E0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071D82F-EBC1-47D7-A717-3D09245CD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D61BB31-E001-4E1E-B95C-6739E6570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optimization workflow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0D7CE9C-1311-43D9-96DF-A15A3B22D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CC078EE-7FB4-49B2-87A1-360BA6BAA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02</a:t>
            </a:r>
          </a:p>
        </p:txBody>
      </p:sp>
    </p:spTree>
    <p:extLst>
      <p:ext uri="{BB962C8B-B14F-4D97-AF65-F5344CB8AC3E}">
        <p14:creationId xmlns:p14="http://schemas.microsoft.com/office/powerpoint/2010/main" val="777681921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D7D85B2-4005-40CB-A62C-2DDE2A7BF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C4CA71-CC2B-48C3-9C45-3E5CB49A4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ac4fb947f74197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236AED-CAAE-49EB-91AA-B48D8E7C9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0005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What is neoclassical transport?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0A971F-3945-4E25-A751-6DFFA613D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F7FED0-55A1-48A0-AAC8-D84767AD5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62100"/>
            <a:ext cx="4552950" cy="3200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06C08F8-998E-4431-AAEB-00544F141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62100"/>
            <a:ext cx="45529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A1BF42E-2769-4093-8C22-DE4CDF0A4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1905000"/>
            <a:ext cx="39052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Neoclassical transport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C684344-2748-454F-B58A-D586A1925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438400"/>
            <a:ext cx="38481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Collisional transport caused by guiding-center drifts in a toroidal magnetic field with trapped particles.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DC4C84-E8A7-4E64-9958-74254B429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581400"/>
            <a:ext cx="37719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F76EE3A-2C9D-493A-B34C-A24499382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724275"/>
            <a:ext cx="3467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F2937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1F2937"/>
                </a:solidFill>
                <a:latin typeface="Aptos Display"/>
                <a:ea typeface="Aptos Display"/>
                <a:cs typeface="Aptos Display"/>
              </a:rPr>
              <a:t>Gamma, Q = functions(geometry, nu, E_r, profiles)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A933AF1-3338-44CB-98E0-6433F2FC1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581150"/>
            <a:ext cx="52197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802EF71-12DA-483A-8E88-5DDCA94B4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581150"/>
            <a:ext cx="762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E0E9E44-C4B6-40E1-A980-F8F56D4FF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1714500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Physical meaning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016E963-55D7-4A41-A6BE-9DD9BB338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1981200"/>
            <a:ext cx="45910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It is geometry sensitive, especially in stellarators, and can be reduced by optimization.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4C3AF29-7206-4C21-9C42-8E7BE021E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686050"/>
            <a:ext cx="52197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3129140-9E48-4ADC-B679-2907DCCA8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686050"/>
            <a:ext cx="762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F5120A1-1652-4459-ABA5-E85CEDE31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819400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What the optimizer sees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10B407F-1188-4D31-B955-323A46EC5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086100"/>
            <a:ext cx="45910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Use cheap geometry metrics first, then drift-kinetic validation for finalists.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2A4094D-B8DB-4453-AC3E-6040DCC23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790950"/>
            <a:ext cx="52197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483F656-FE55-4905-950C-39C2B69CF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790950"/>
            <a:ext cx="762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1086700-11E9-42EC-AA9E-8DA1166D3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924300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46A00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46A00"/>
                </a:solidFill>
                <a:latin typeface="Aptos Display"/>
                <a:ea typeface="Aptos Display"/>
                <a:cs typeface="Aptos Display"/>
              </a:rPr>
              <a:t>Failure mode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39191E8-80C9-47E7-9CBA-DF33E3C63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191000"/>
            <a:ext cx="45910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The result depends on collisionality, radial electric field, species, and profiles.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3106BDA-111D-44C3-9FD7-FA4A5223C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200650"/>
            <a:ext cx="8667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C0EEC94-627D-4313-8511-E4FD7DD86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5324475"/>
            <a:ext cx="81724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Neoclassical metrics are geometry gates with plasma-state assumptions.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577085E-1F66-49F8-96C6-B37B98713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E804ADE-EE43-455B-890B-84F6C3C45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2F4CD44-45D4-40BE-9A89-9C04A56EE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optimization workflow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76D128D-CF09-4791-B221-0139B4682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98429A3-BE94-42A4-9C65-2DC1998EB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03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06957E6-40D8-4C73-AF76-ED64F8B8D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076950"/>
            <a:ext cx="8667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Refs: Helander RPP 77, 087001 (2014); Beidler et al., Nature 596, 221-226 (2021).</a:t>
            </a:r>
          </a:p>
        </p:txBody>
      </p:sp>
    </p:spTree>
    <p:extLst>
      <p:ext uri="{BB962C8B-B14F-4D97-AF65-F5344CB8AC3E}">
        <p14:creationId xmlns:p14="http://schemas.microsoft.com/office/powerpoint/2010/main" val="195727682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2512E42-14F5-4126-A963-A6BAB7760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7DC9DD6-B70E-40CD-813B-8439000B1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81d35e56a2b4241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DE5EC1-3B2F-465B-BC24-979A381AA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809750"/>
            <a:ext cx="8953500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390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90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The optimizer follows the metric we choose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826E18-28D8-4131-9225-4159A4324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562350"/>
            <a:ext cx="3238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A3A685-8E4B-4F39-B63B-087831F94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2005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1094F73-0AEF-4189-82EA-C24D41155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095750"/>
            <a:ext cx="6953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Metric design is part of physics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1FC1988-9E1C-4A84-8679-6DB5F847F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41139E-AE91-4E35-8EE4-6579788E4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58260A-FA77-4A5D-9DF6-6CE2CA3FC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optimization workflow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02CF0BD-F4B1-4FEB-94F0-491A0606C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E4A8793-A65B-4264-850C-9CDB733A8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04</a:t>
            </a:r>
          </a:p>
        </p:txBody>
      </p:sp>
    </p:spTree>
    <p:extLst>
      <p:ext uri="{BB962C8B-B14F-4D97-AF65-F5344CB8AC3E}">
        <p14:creationId xmlns:p14="http://schemas.microsoft.com/office/powerpoint/2010/main" val="513656694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35BA54F-F7EC-4A5B-AB52-116333869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DCDD3F-A0A3-40DE-9D39-DCCD0E9D1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400f2512d74688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1C0613-619D-4E46-844F-5F3DB5714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0005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Cost hierarchy for transport metrics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70338F-3A3D-47BF-A662-EA656B190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6FB225D-1DB9-4C4D-ADB3-144548B45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717317-038F-42E3-92E8-960581AFB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Design question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A4F230B-58A0-4EE1-B470-CEBA0785E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202AF89-8814-436D-89BF-E9AFD3135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Optimization interpretation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31B9DE8-1319-48FB-9CE5-0290DEA7F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7F9AB51-1845-4CF4-8CDE-AEAC6FD8E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643A253-A8C8-47E5-9253-15ECA4F91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Geometry metrics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9C318D7-2F1E-47CF-8911-68483B63C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fastest screens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A3DE3D6-13ED-4E6C-8239-126A0EB8F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B19E3D9-3FED-41A1-AEB3-5E4E26272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2CA5301-ECF9-494E-8611-6787400EB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Effective ripple and Boozer metrics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F68F302-7EF7-41FB-B27D-11474170E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early transport warnings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E3B9702-7AD0-4F93-88BF-80DDA2A22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F96EEE5-F52E-4B27-909E-6217C7B13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C6ADFFA-1383-40EF-B961-14A7A779D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DKE, gyrokinetics, particles, profiles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0439E30-D04D-4D5C-A800-3129BD00D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validation gates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C8B920A-53F3-4106-B56B-D5FB37BC0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FA19420-AB64-4ECF-A653-8D09083B8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DCFE856-28C7-4CCC-B5C8-B9684B206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optimization workflow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9E6E505-14E0-44FE-8843-1D044E412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6202C5F-6BC6-4368-A920-F71BE6BAB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05</a:t>
            </a:r>
          </a:p>
        </p:txBody>
      </p:sp>
    </p:spTree>
    <p:extLst>
      <p:ext uri="{BB962C8B-B14F-4D97-AF65-F5344CB8AC3E}">
        <p14:creationId xmlns:p14="http://schemas.microsoft.com/office/powerpoint/2010/main" val="54223863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8BBE0E2-70E7-4DC8-8A06-8547783E2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60FFBE3-0CD6-4339-8679-095AD80D5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e6d5391878a44ff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8EC3DF-F283-4076-9CF3-2822F4374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0005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Transport literature says: validate the winner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8B6B61-9D84-4C33-AB7C-595E18891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1E6F6B-E038-47BF-AA10-19BA37779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54A0FB3-C313-4097-8FF8-4E655166F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Design question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FE9AA9-12D1-4A3A-9BC8-083842C3E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53322D5-67C9-4FE8-B92E-B27855DB2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Optimization interpretation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77B4E06-BECE-4D4C-941E-F087C4315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EDB3A91-71A3-4A8C-82F5-16968A82C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F516346-5B50-4CAE-9B5F-AB291B6B4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W7-X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C1F90F9-197C-494E-8263-EC7781903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neoclassical optimization reduced the geometry-driven loss channel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B6188FF-9C20-448D-BCF9-8E759017D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8901723-B086-425E-B80B-71C74283E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F7C1E13-21B5-4232-A812-076BB48B5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SFINCS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4C8B49A-4F72-403C-BC41-9C4C75CF9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drift-kinetic validation depends on trajectory, electric-field, and collision modeling choices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5BFBCF4-6185-494E-B95A-423EA622D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71674E4-F144-4509-B56C-7D47F3672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DD700C4-DD9C-4D6E-9012-C5D5761F3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Nonlinear turbulence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10AB098-AFD4-47A5-981D-D940CB491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heat-flux objectives can be noisy enough to need stochastic or staged optimization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B26D7E4-C698-4F11-8DB7-9A5D2FE93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F62F729-6BD3-4CC9-B4EE-5694F2271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449D374-AD65-46EB-BA0E-7FFFE8D5E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optimization workflow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A41820C-1C72-4FAF-B643-DAA86DE22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F57D424-E5D8-4D56-9E92-6FB91EF85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06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6C8C549-B598-4881-B106-ECEF12313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076950"/>
            <a:ext cx="8667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Refs: Beidler et al., Nature 596, 221-226 (2021); Landreman et al., Phys. Plasmas 21, 042503 (2014); Kim et al., JPP 90, 905900203 (2024).</a:t>
            </a:r>
          </a:p>
        </p:txBody>
      </p:sp>
    </p:spTree>
    <p:extLst>
      <p:ext uri="{BB962C8B-B14F-4D97-AF65-F5344CB8AC3E}">
        <p14:creationId xmlns:p14="http://schemas.microsoft.com/office/powerpoint/2010/main" val="190200015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1BE0C7E-028B-4EFB-BA5A-FDC3F210B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7FBC836-60F0-4116-8F07-986BDFF2F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24000"/>
            <a:ext cx="73914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d0f0acd1643421d"/>
          <a:stretch xmlns:a="http://schemas.openxmlformats.org/drawingml/2006/main"/>
        </p:blipFill>
        <p:spPr>
          <a:xfrm xmlns:a="http://schemas.openxmlformats.org/drawingml/2006/main">
            <a:off x="906201" y="1695450"/>
            <a:ext cx="6569597" cy="37338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C41061-D5B9-4862-84C9-E24B9434A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61925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How to read it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2A954C-6DA8-43F3-AC64-3F3FE73C9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181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8188EC2-F572-4B3E-BDE9-DC1CC0EE2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07645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Rank candidates before expensive runs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17D36A5-B2F0-42E2-9CEB-BFAE4EA1C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0384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D0F8D9-0CEC-4A45-891A-E3F55AD0B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93370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Do not treat the scalar as the whole transport story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1052F3E-94B1-43BB-A3D1-2F569B074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838700"/>
            <a:ext cx="3238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A93B7F5-6970-4C0A-8720-D148D7DBC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972050"/>
            <a:ext cx="2895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These curves show how the screen should be read; full transport validation remains a separate step.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DB78689-BCDA-4983-A311-89F4DD852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93227c53fbc4430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BA94249-04EA-4856-9680-CD0698ABD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0005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Effective ripple is a neoclassical screen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5219AAF-9B97-46A2-8FFF-F8368330C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A054DD8-2829-496D-BF3B-E0A17189E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8E109E6-A9DD-431E-9AA0-194586EEC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DE6335F-61CC-4100-AF40-78C6A9D9B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optimization workflow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83F76EC-88BC-4600-B669-5EB3CF4D1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462131E-E90C-4A1A-A85E-274103D02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07</a:t>
            </a:r>
          </a:p>
        </p:txBody>
      </p:sp>
    </p:spTree>
    <p:extLst>
      <p:ext uri="{BB962C8B-B14F-4D97-AF65-F5344CB8AC3E}">
        <p14:creationId xmlns:p14="http://schemas.microsoft.com/office/powerpoint/2010/main" val="1114026706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867B1C5-81E3-4A42-B1D6-774E7FA22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1CD7B81-A31E-47C6-80AA-A671D2197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7b25aa4d3c4e0d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66A47DA-8DB8-46E7-B04F-F62DBB4B4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0005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What is D11?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DFEE51-AA58-4A02-9DD8-3D28AAAA3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365347-6766-48AF-A325-46ADD5D65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62100"/>
            <a:ext cx="4552950" cy="3200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4F5E649-0F8B-4491-B0C2-5B43A4839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62100"/>
            <a:ext cx="45529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8C6BB9F-3F2D-4D19-8C80-AD3864825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1905000"/>
            <a:ext cx="39052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D11 transport coefficient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50C664D-686C-48F0-BFD2-173BB6883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438400"/>
            <a:ext cx="38481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A radial particle-transport coefficient from the drift-kinetic response, often scanned versus collisionality.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5CACE0-ED72-444E-8E44-FCC35F35F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581400"/>
            <a:ext cx="37719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E9D89CB-FDF4-4903-B008-C61C8B506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724275"/>
            <a:ext cx="3467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F2937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1F2937"/>
                </a:solidFill>
                <a:latin typeface="Aptos Display"/>
                <a:ea typeface="Aptos Display"/>
                <a:cs typeface="Aptos Display"/>
              </a:rPr>
              <a:t>Gamma_1 = - n D_11 (d ln n / dr + ...)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D57B049-1A1A-436D-AFF9-4A12DA9D8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581150"/>
            <a:ext cx="52197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FC79340-A3CB-4E6D-8C5B-FED9E8A02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581150"/>
            <a:ext cx="762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619B624-4BC7-4513-99C5-E6EFB0F7A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1714500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Physical meaning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C2F553F-33A8-48FE-B372-8B4E456A5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1981200"/>
            <a:ext cx="45910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It tells how strongly particles diffuse radially for a given thermodynamic drive.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1930863-688B-409E-9489-786B1190D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686050"/>
            <a:ext cx="52197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AE4C012-F3DF-4FEE-98EA-821CACB06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686050"/>
            <a:ext cx="762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0638D9E-2B20-4965-AE50-0599EE177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819400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What the optimizer sees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16D9D3C-D9B0-4887-8C6C-BB7CACAFE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086100"/>
            <a:ext cx="45910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Use D11 scans to test whether a low-ripple design remains good under richer kinetic physics.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4D9063D-879F-4392-AD0E-22447A35F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790950"/>
            <a:ext cx="52197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25BB83C-9845-40B7-84A7-6C15071A1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790950"/>
            <a:ext cx="762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8D93F16-822C-4E17-B054-C307E8469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924300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46A00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46A00"/>
                </a:solidFill>
                <a:latin typeface="Aptos Display"/>
                <a:ea typeface="Aptos Display"/>
                <a:cs typeface="Aptos Display"/>
              </a:rPr>
              <a:t>Failure mode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42A636D-B08E-4A1D-B840-90A347BDA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191000"/>
            <a:ext cx="45910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A single D11 curve is not a full flux prediction without Er, sources, profiles, and species choices.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6972196-EF80-48B7-9E5E-B0B0B4F62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200650"/>
            <a:ext cx="8667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7224D56-D1C6-49F5-998E-07724868C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5324475"/>
            <a:ext cx="81724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D11 is a validation coefficient, not a universal confinement number.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A411CE4-DFF3-44FB-A1AD-41CE49E17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60A9DC2-4DD9-41FD-82FF-44E9C236B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AC25F6F-8A36-4BC0-8CE7-8111541E5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optimization workflow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E481AD9-87B7-4C34-BBEE-B0D63F542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E625905-89D3-4FDA-B5F6-D85A786B9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08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CD7FC1D-7F8D-49FF-B3BA-4425F733C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076950"/>
            <a:ext cx="8667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Ref: Landreman et al., Phys. Plasmas 21, 042503 (2014).</a:t>
            </a:r>
          </a:p>
        </p:txBody>
      </p:sp>
    </p:spTree>
    <p:extLst>
      <p:ext uri="{BB962C8B-B14F-4D97-AF65-F5344CB8AC3E}">
        <p14:creationId xmlns:p14="http://schemas.microsoft.com/office/powerpoint/2010/main" val="1122627095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512BEB6-D978-45D7-B158-067540BA8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0C3ED61-D0AF-4F15-B043-32BED2242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24000"/>
            <a:ext cx="73914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85c3d98fe24f57"/>
          <a:stretch xmlns:a="http://schemas.openxmlformats.org/drawingml/2006/main"/>
        </p:blipFill>
        <p:spPr>
          <a:xfrm xmlns:a="http://schemas.openxmlformats.org/drawingml/2006/main">
            <a:off x="675055" y="1695450"/>
            <a:ext cx="7031889" cy="37338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C03DD8-0B90-444B-A5C7-2D9133C57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61925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How to read it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88BF7B4-0276-442F-9E63-A875F2548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181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BB92EB6-F900-4634-9093-68C4959E4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07645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Collisionality changes the answer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1C05B33-A387-4CC8-A403-7360FA885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0384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18E0295-B10E-478D-B483-4533020BD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93370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Er suppression changes the interpretation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74B3CFF-01AA-4BE5-9482-6BB612BC1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838700"/>
            <a:ext cx="3238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9C2C69-ADF0-427E-B7EE-E1EABA854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972050"/>
            <a:ext cx="2895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Read the slope, the electric-field suppression, and the collisionality window.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CDCA227-1685-47CC-B3FF-67E416554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089c94e95e841c3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E0BEEE6-549D-4138-A342-956F0F1E6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0005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D11 scans add richer validation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6DEF22F-E000-4E13-AA02-68A40F1EA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2F83610-CFBE-45BA-9CE1-4B59A2978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D9F8683-CE4E-4B0B-A77B-B57EEE0FC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8A3A7B1-154E-4FE1-98B0-6C348FD72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optimization workflow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5C5D07B-10E7-4F03-9687-FD6FF7D0E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C5165A7-A4EE-4E76-BB83-B0B7DAA61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09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3C08E59-8C62-4077-B85C-2BE7BCCA6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076950"/>
            <a:ext cx="8667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Ref: Landreman et al., Phys. Plasmas 21, 042503 (2014), SFINCS drift-kinetic solver.</a:t>
            </a:r>
          </a:p>
        </p:txBody>
      </p:sp>
    </p:spTree>
    <p:extLst>
      <p:ext uri="{BB962C8B-B14F-4D97-AF65-F5344CB8AC3E}">
        <p14:creationId xmlns:p14="http://schemas.microsoft.com/office/powerpoint/2010/main" val="1049681275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1B646A9-5C83-417A-AC71-A8CCC5805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F8B44D-0CD5-4ED0-8AB8-205975053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24000"/>
            <a:ext cx="73914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4e38412fa3440cd"/>
          <a:stretch xmlns:a="http://schemas.openxmlformats.org/drawingml/2006/main"/>
        </p:blipFill>
        <p:spPr>
          <a:xfrm xmlns:a="http://schemas.openxmlformats.org/drawingml/2006/main">
            <a:off x="666750" y="1711325"/>
            <a:ext cx="7048500" cy="37020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FBB9BE3-1A26-4E02-BAC8-CBBB5849A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61925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How to read it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8A7441-90C2-4F84-8C3B-27FA828D6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181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3539FFE-1B03-4D2D-A193-B05079934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07645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Multiple roots imply multiple regimes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16177BD-AA74-4FAC-BA33-DE61D3D81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0384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B724CAB-3B9B-4D6E-A9BC-420C9B5D7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93370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Optimization needs a root-choice rule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7E78A36-91C9-4EAE-8D78-A708E56F0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838700"/>
            <a:ext cx="3238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21BEA9F-C5F7-4D76-8C19-02C424371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972050"/>
            <a:ext cx="2895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The root structure is the lesson; the numbers are not a live SFINCS result.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0150A7A-9EDE-4D0E-BC1E-71D8FFBFF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9c3724877fc4085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C622E7C-7017-4D29-9C09-29DD97532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0005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Ambipolar roots are not always unique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EA2B3BC-91CB-4580-9057-AB6A3134C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38BB4FC-B5C6-4784-AE5A-4AC0DE89F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3C7B43E-20AA-4422-AAFF-413C2D71A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E1D068F-FB21-4C1B-BC9E-2269A4D08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optimization workflow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32F1F03-1744-4656-8D76-66ED62841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5FCEA6B-36EE-4113-B054-ACCE6345B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10</a:t>
            </a:r>
          </a:p>
        </p:txBody>
      </p:sp>
    </p:spTree>
    <p:extLst>
      <p:ext uri="{BB962C8B-B14F-4D97-AF65-F5344CB8AC3E}">
        <p14:creationId xmlns:p14="http://schemas.microsoft.com/office/powerpoint/2010/main" val="609894831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38AB419-DA9D-4947-97B5-A78CB8FD7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4CD0F3-F019-4DB3-AF49-FFCCDB5C4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24000"/>
            <a:ext cx="73914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dff86442a74770"/>
          <a:stretch xmlns:a="http://schemas.openxmlformats.org/drawingml/2006/main"/>
        </p:blipFill>
        <p:spPr>
          <a:xfrm xmlns:a="http://schemas.openxmlformats.org/drawingml/2006/main">
            <a:off x="1216128" y="1695450"/>
            <a:ext cx="5949743" cy="37338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ED19F2-C7AC-4324-A0E0-0129BD9F7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61925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How to read it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8AD529D-E192-46B2-936E-1B5132F57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181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D484230-4707-48E5-BA51-CDEB6F040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07645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Bootstrap current can alter transform and islands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8BF8281-E576-4530-B70A-2C77C0BDE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0384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50EF7EB-F617-44C0-8B6A-E037E90FD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93370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Profile dependence enters early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7C3FB5-6649-4CE3-9CAD-0BC2AE0E4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838700"/>
            <a:ext cx="3238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2162E02-AE01-47A1-97C5-43D022926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972050"/>
            <a:ext cx="2895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Transport outputs become equilibrium inputs.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8262408-84FE-4E70-A2E9-39F5CB2F0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b0c6054b9e4925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AA5D15F-2682-436B-8DC5-0E3B51D19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0005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Bootstrap current feeds back on equilibrium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3C9DA07-7B4C-47F4-AC52-A7C5FD91C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DCDF846-2364-4DA1-B700-01A0B075E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73F27AE-4F79-407B-B74F-6D927D475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2A66215-E19A-4216-8812-EEEB3A813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optimization workflow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DFE4E9E-5A8E-4CBA-8B15-0122AC766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4A09F6F-F3A7-490C-946D-BE6151958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11</a:t>
            </a:r>
          </a:p>
        </p:txBody>
      </p:sp>
    </p:spTree>
    <p:extLst>
      <p:ext uri="{BB962C8B-B14F-4D97-AF65-F5344CB8AC3E}">
        <p14:creationId xmlns:p14="http://schemas.microsoft.com/office/powerpoint/2010/main" val="145117916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15DB6C5-C921-4E71-8108-02F377711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0EC2D28-F7B2-4AA4-8BB5-33A6781E3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c8629baded4b58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71583F-32A3-4737-9194-CEB30A6E7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0005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W7-X lesson for optimizers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93D2B7C-1942-4DF9-8372-FF1EF5B03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ADE5C9-9D6F-42C2-A14E-F65BA08BF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847A661-ED82-4346-8610-C04D82923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Design question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CE021A2-2CB9-4A1E-98D2-F23DF3074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027102-288D-4E3C-A6C3-78FED9DCA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Optimization interpretation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FACDD3D-F943-44EC-A0A9-B76982FC9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31AC72C-5E64-4E7C-A3DF-A404002C8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C6E6090-EA8B-4308-A3CE-9D3B058D0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Neoclassical optimization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984797F-26CC-45FC-84DE-F5E93B435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reduced radial losses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14DBDA3-F574-4575-AAA3-09BEE2C82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B7AE108-6D44-4170-98AC-EEEF933BF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C9034EA-FBAE-42D8-943A-E37B875D4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Ion-temperature clamping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F39B740-5FA9-421F-A22D-478174DAF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turbulence bottleneck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F3A9D32-93A6-451F-A629-114252888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075D274-9FF7-42AA-96D2-CEA8F993A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C6F25FD-774C-497A-A8AE-4C5816937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Profiles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25CF5BA-289C-4ECB-AC68-438564BF4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decide whether the metric matters experimentally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F96A308-F2CD-4411-9176-F2211D292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9923C08-7162-4AF0-8930-6BF6566DA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7FFC95D-EB2E-40CE-91F3-2706B12C7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optimization workflow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7479660-1A97-4478-85C8-DD3640920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5DB427A-8EC7-4833-B2A9-A2476558A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12</a:t>
            </a:r>
          </a:p>
        </p:txBody>
      </p:sp>
    </p:spTree>
    <p:extLst>
      <p:ext uri="{BB962C8B-B14F-4D97-AF65-F5344CB8AC3E}">
        <p14:creationId xmlns:p14="http://schemas.microsoft.com/office/powerpoint/2010/main" val="107612648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B1EBD04-8225-44E8-A99A-287843236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D085A6B-19BF-4BEF-9A95-6D26CC846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24000"/>
            <a:ext cx="73914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8f83a5fc7584652"/>
          <a:stretch xmlns:a="http://schemas.openxmlformats.org/drawingml/2006/main"/>
        </p:blipFill>
        <p:spPr>
          <a:xfrm xmlns:a="http://schemas.openxmlformats.org/drawingml/2006/main">
            <a:off x="1100848" y="1695450"/>
            <a:ext cx="6180304" cy="37338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406E8BA-05B2-4B0B-8A62-3055E152C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61925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How to read it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F3AED8-C7DE-46A1-9652-5FFAA731A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181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0F7EE0-CF68-4D76-9196-0C0D931CA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07645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The blue expectation keeps rising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0984A98-3D9D-4CB4-8CE5-FE9054B88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0384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C186D9C-474B-4E01-90C6-990164C44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93370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The orange curve saturates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2A61ACA-189C-4589-9427-87E682E20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838700"/>
            <a:ext cx="3238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7D8C2E-F3F7-477A-BEF2-04766B9E1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972050"/>
            <a:ext cx="2895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The cartoon motivates turbulence-aware validation without rederiving transport theory.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1F22913-D397-48B2-AE3A-D039863A6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90b84f33f148a9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371767D-7079-4687-8475-3E5B79E17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0005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Neoclassical success can expose turbulence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FD7E5FF-6221-4E90-AF94-836D4769D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F239F4E-C1F6-4A3B-BFAF-C59839A8A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229D58B-B721-4531-9F8B-801E48A0B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3AE84A4-924C-4CB6-A940-92FF5D8CE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optimization workflow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20866CB-098A-4555-86F2-E7AC660C9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AF9C7C6-5047-4736-BAB8-AF7CCE3E8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C743A2A-2B44-490E-A25C-8D077B15D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076950"/>
            <a:ext cx="8667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Ref: Beidler et al., Nature 596, 221-226 (2021); W7-X ion-temperature clamping literature.</a:t>
            </a:r>
          </a:p>
        </p:txBody>
      </p:sp>
    </p:spTree>
    <p:extLst>
      <p:ext uri="{BB962C8B-B14F-4D97-AF65-F5344CB8AC3E}">
        <p14:creationId xmlns:p14="http://schemas.microsoft.com/office/powerpoint/2010/main" val="1345503743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EEEB9CC-C509-405F-B1BB-3E571C0E1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E029EF-13FC-4483-9421-C8B560020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05fc6e07ef4fff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7BCCB7-159B-4DD9-930F-30A3DC163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0005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Demo break: neoclassical validation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D9F90B-A1B9-4A89-8879-EB7BB7B26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937805-93D6-4A75-82DD-A5AA5F23D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4000500" cy="3409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B8E488D-C2AA-4DC1-AC32-69789E578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4000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E0B30D6-05A3-4713-A6A3-CD49806BF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038350"/>
            <a:ext cx="2857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Notebook break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2F623C3-BDB5-40C1-8C76-CFC29686A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552700"/>
            <a:ext cx="3238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  <p:txBody>
          <a:bodyPr xmlns:a="http://schemas.openxmlformats.org/drawingml/2006/main" lIns="133350" tIns="76200" rIns="133350" bIns="7620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B2B2B"/>
                </a:solidFill>
                <a:latin typeface="Aptos Mono"/>
                <a:ea typeface="Aptos Mono"/>
                <a:cs typeface="Aptos Mono"/>
              </a:defRPr>
            </a:pPr>
            <a:r>
              <a:rPr sz="1350" b="0">
                <a:solidFill>
                  <a:srgbClr val="2B2B2B"/>
                </a:solidFill>
                <a:latin typeface="Aptos Mono"/>
                <a:ea typeface="Aptos Mono"/>
                <a:cs typeface="Aptos Mono"/>
              </a:rPr>
              <a:t>Notebook: Sfincs Jax Neoclassical Validation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4B35399-542F-4945-BF84-D7257FC33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766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DF3AEC9-572C-4EBC-ACF8-AAF68FA2B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371850"/>
            <a:ext cx="2952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Read a collisionality scan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6FBAA6D-D117-4F64-A0BB-0B5570E73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086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2B8F54E-8816-443B-BBBD-5DFFC1F08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981450"/>
            <a:ext cx="2952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Inspect Er roots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DC5F3E7-E300-47B7-9CA4-213170FAE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6958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2188BE9-DBF4-4CA6-BE04-0E5C488E0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591050"/>
            <a:ext cx="2952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Plot bootstrap feedback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c735ec49124e82"/>
          <a:stretch xmlns:a="http://schemas.openxmlformats.org/drawingml/2006/main"/>
        </p:blipFill>
        <p:spPr>
          <a:xfrm xmlns:a="http://schemas.openxmlformats.org/drawingml/2006/main">
            <a:off x="5619750" y="1812848"/>
            <a:ext cx="5334000" cy="2832253"/>
          </a:xfrm>
          <a:prstGeom xmlns:a="http://schemas.openxmlformats.org/drawingml/2006/main" prst="rect">
            <a:avLst/>
          </a:prstGeom>
        </p:spPr>
      </p:pic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9A850B3-56C8-4DE2-88EA-6F6D1A685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5143500"/>
            <a:ext cx="5334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C7D2FE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C0CCD8F-52E4-423D-8B39-4C5422D03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5267325"/>
            <a:ext cx="49149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Notebook 07: SFINCS-style neoclassical validation.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A8864AD-F00D-4D89-A4C4-FEADFDEBE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F888A2E-A34F-45AA-994D-EE5AC9CAC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A8A4EE9-3657-4E2A-A490-84BA293D4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optimization workflow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069F3DA-570C-412C-A544-6DDD06955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3EDF02A-A012-46DF-A977-3ECA91D7F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14</a:t>
            </a:r>
          </a:p>
        </p:txBody>
      </p:sp>
    </p:spTree>
    <p:extLst>
      <p:ext uri="{BB962C8B-B14F-4D97-AF65-F5344CB8AC3E}">
        <p14:creationId xmlns:p14="http://schemas.microsoft.com/office/powerpoint/2010/main" val="1436892679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1A474C4-AC69-444C-9C26-7AD17B737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9D5CCD-416D-4118-AD5D-B8150E495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9a53734c2b34d1c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272A72-A264-4BE9-BCC6-6E991A601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714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Lecture 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F2066C-D2AA-4EF8-B899-ABEE65073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8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C5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8D923DE-5BEC-4650-A65D-E3E41311A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190750"/>
            <a:ext cx="85725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40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40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PART 2. Turbulence metrics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1FA258-ABAF-477F-A44B-11D70BD49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3638550"/>
            <a:ext cx="14097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915A54-D18B-410B-928D-4434FD1BC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2005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28E9D46-97BC-4F4C-A27A-4E85B2620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095750"/>
            <a:ext cx="7524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Linear calculations are early screens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21779E3-1B9F-4CBB-92AA-084EE1F66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8291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322A84F-CD69-4109-B896-3FF2B1500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724400"/>
            <a:ext cx="7524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Nonlinear validation changes rankings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3DC7928-4C8D-4D91-A281-F2A3E86EE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4DA2EDD-D11A-4589-972E-E3F38CBE6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A0787DA-15A1-40EC-8C6A-7FCA15569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optimization workflow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88DEB8F-DC56-4632-B4A1-0135059D2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F77074C-D732-4F5D-BA9C-087B6E40D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15</a:t>
            </a:r>
          </a:p>
        </p:txBody>
      </p:sp>
    </p:spTree>
    <p:extLst>
      <p:ext uri="{BB962C8B-B14F-4D97-AF65-F5344CB8AC3E}">
        <p14:creationId xmlns:p14="http://schemas.microsoft.com/office/powerpoint/2010/main" val="2076266235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2FB3200-37B0-45E6-929E-84F8BD1C9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47A0845-7EEE-46F5-8AE9-55889EF58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fc87c57ee24795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DCC67C-BBC9-40E3-B999-F7EDDB9B4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0005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What is turbulent transport?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C8BA545-760B-412B-AD8C-CB38D90BF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C3D5CB-66C3-497B-A4BF-949C7C914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62100"/>
            <a:ext cx="4552950" cy="3200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C04732B-6A89-4CC9-8E68-0CC149A15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62100"/>
            <a:ext cx="45529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1DF53B-91C3-4DF9-A95A-EDE71F625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1905000"/>
            <a:ext cx="39052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Turbulent transport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472ED03-AEEC-4601-BC93-E82EF7381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438400"/>
            <a:ext cx="38481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Radial heat and particle transport driven by microinstabilities and nonlinear fluctuations.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F6D4238-0266-4656-9741-58A643AC5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581400"/>
            <a:ext cx="37719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EA93EE-9F79-4FA8-AF82-3A9292B2E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724275"/>
            <a:ext cx="3467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F2937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1F2937"/>
                </a:solidFill>
                <a:latin typeface="Aptos Display"/>
                <a:ea typeface="Aptos Display"/>
                <a:cs typeface="Aptos Display"/>
              </a:rPr>
              <a:t>Q_turb ~ &lt;delta v_E · delta p&gt;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0B5A4B0-2BFA-401F-A6C5-044C98F32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581150"/>
            <a:ext cx="52197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1AAFF9D-F579-493C-8EE8-D76DE888B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581150"/>
            <a:ext cx="762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11E9601-DE75-40A4-8760-DF2B9EF09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1714500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Physical meaning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06E9251-7612-4A1A-82F9-0411466C2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1981200"/>
            <a:ext cx="45910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It can dominate after neoclassical losses are reduced, as seen in W7-X temperature-clamping discussions.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BF5BA87-6582-46F2-9158-8747E8523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686050"/>
            <a:ext cx="52197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658A5F7-254C-4BB1-B594-B467829CC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686050"/>
            <a:ext cx="762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DD32727-E095-4107-8771-3B9EBFA72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819400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What the optimizer sees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163C958-511B-4139-84F3-146FB1D28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086100"/>
            <a:ext cx="45910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Start with linear or proxy metrics, then validate finalists with nonlinear heat-flux calculations.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BE7EEA3-10E0-4E76-9E12-919B53DD2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790950"/>
            <a:ext cx="52197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5EB26AB-CCE9-4DA4-869C-59A3CD83F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790950"/>
            <a:ext cx="762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4ACDAEE-9146-49B4-8C8C-E77A66D8E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924300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46A00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46A00"/>
                </a:solidFill>
                <a:latin typeface="Aptos Display"/>
                <a:ea typeface="Aptos Display"/>
                <a:cs typeface="Aptos Display"/>
              </a:rPr>
              <a:t>Failure mode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C1C2164-51AC-489E-B39A-5787F3995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191000"/>
            <a:ext cx="45910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Linear growth rates can rank designs differently from nonlinear heat flux.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A5BCE81-36BC-4645-8EB8-DC8A5B249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200650"/>
            <a:ext cx="8667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A22EBA9-A4A7-40FD-BB7D-90E4D6A4D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5324475"/>
            <a:ext cx="81724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A transport optimizer must survive both neoclassical and turbulence gates.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900616D-94DB-4425-B89F-8D7343F78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BE012A0-5B9D-4D96-A1BC-DA5D2B147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F571CF9-267A-4615-85A1-4027AE596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optimization workflow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49B4252-AAB5-43FB-A35F-A0BEC323B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0D6537C-B474-40F5-BB26-A9CAD61E4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16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CAE1DAE-4B9F-4F33-9537-ADB2F3E3B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076950"/>
            <a:ext cx="8667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Ref: Kim et al., J. Plasma Phys. 90, 905900203 (2024).</a:t>
            </a:r>
          </a:p>
        </p:txBody>
      </p:sp>
    </p:spTree>
    <p:extLst>
      <p:ext uri="{BB962C8B-B14F-4D97-AF65-F5344CB8AC3E}">
        <p14:creationId xmlns:p14="http://schemas.microsoft.com/office/powerpoint/2010/main" val="564409631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7137C34-0C3C-4C4F-B860-621EF514C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3A2351A-D039-4937-BCB8-4D261CBC1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24000"/>
            <a:ext cx="73914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f43e180ea341dc"/>
          <a:stretch xmlns:a="http://schemas.openxmlformats.org/drawingml/2006/main"/>
        </p:blipFill>
        <p:spPr>
          <a:xfrm xmlns:a="http://schemas.openxmlformats.org/drawingml/2006/main">
            <a:off x="1084837" y="1695450"/>
            <a:ext cx="6212326" cy="37338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A9CD15-6AE8-483B-B900-7E05391A9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61925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How to read it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B55129-486F-4FC2-8AA9-57ACFD72B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181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78001C9-92F7-40B0-BB9E-40D869003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07645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Positive growth marks unstable branches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92C25D-345D-4921-9C27-B6757E97E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0384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86B0F2-D246-4A0D-8C66-49833417C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93370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The peak is not the heat flux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2A9926C-49E1-453B-B0A6-377B5CA3A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838700"/>
            <a:ext cx="3238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82A4954-6177-4C53-894D-D31A34F8E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972050"/>
            <a:ext cx="2895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Use growth rate as a screen, not as the final objective.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2B7802-78F6-4F66-A3E9-9B62A48DA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430d3a9cb549be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91F9C99-CFFF-4E27-B8AB-C3B5CF197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0005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Linear growth is a fast warning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240BDA0-A3CE-46D2-8F93-12287BE26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74A9E40-D74E-4FFD-ABBC-F6DDFAFD3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EE637B7-FB61-4025-8970-B85288324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8C46A49-01CE-402B-9CCE-5C03F305E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optimization workflow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822F3C8-DF71-4DFF-9FA7-E1C09D0C1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C96611A-8D6B-47C6-B7A9-8C022F16A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17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C18612A-1784-4D23-8366-BACD4D927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076950"/>
            <a:ext cx="8667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Ref: SPECTRAX-GK PyPI/docs, JAX-native gyrokinetic solver for stellarator optimization workflows.</a:t>
            </a:r>
          </a:p>
        </p:txBody>
      </p:sp>
    </p:spTree>
    <p:extLst>
      <p:ext uri="{BB962C8B-B14F-4D97-AF65-F5344CB8AC3E}">
        <p14:creationId xmlns:p14="http://schemas.microsoft.com/office/powerpoint/2010/main" val="743654636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4FA2206-C83A-4542-BE76-6128CDB43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EB13D9-1193-431A-8806-1C0DE8595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a86ac8a3c0d4860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2FFDB9-3998-4DB9-A031-B38E6AB10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0005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What are growth rate and frequency?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DAC2D0-B5E0-4359-8CFB-7C1C8821D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0873F7F-E693-41CE-8344-E718EE73C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62100"/>
            <a:ext cx="4552950" cy="3200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5BB10EE-D20A-4B2B-9B2E-44A3A8411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62100"/>
            <a:ext cx="45529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1CA5D9-8BA6-41C5-9A05-3B5447542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1905000"/>
            <a:ext cx="39052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2325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Linear gyrokinetic spectrum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2E991E2-3A86-4D34-8DB3-03BBA2B80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438400"/>
            <a:ext cx="38481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The growth rate says whether a mode amplifies; the frequency helps identify the branch.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274BAEF-BCD2-472D-B74B-8469D1A22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581400"/>
            <a:ext cx="37719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B912B6D-2496-44CD-8D93-F6ED819E1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724275"/>
            <a:ext cx="3467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F2937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1F2937"/>
                </a:solidFill>
                <a:latin typeface="Aptos Display"/>
                <a:ea typeface="Aptos Display"/>
                <a:cs typeface="Aptos Display"/>
              </a:rPr>
              <a:t>omega = omega_r + i gamma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3F26AB2-CFB4-4449-B2A6-08C450E9E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581150"/>
            <a:ext cx="52197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12DBDC1-B376-4CF8-AD8B-148370622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581150"/>
            <a:ext cx="762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B97A6A4-6077-49DA-A155-2F531CE53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1714500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Physical meaning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1A0BC99-8CB8-4EF3-8D08-5C5ADB5A7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1981200"/>
            <a:ext cx="45910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Positive gamma marks an unstable mode, but the nonlinear saturated flux is a separate result.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F429510-94D5-4805-B8AB-D5189FDBF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686050"/>
            <a:ext cx="52197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DC96816-00CA-451B-93DA-EAB6470AE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686050"/>
            <a:ext cx="762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878F188-ECC3-4FF0-B202-37964D85D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819400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What the optimizer sees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46D0137-BECF-4A97-97D0-46601E89B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086100"/>
            <a:ext cx="45910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Use spectra as fast screens and branch diagnostics before nonlinear validation.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0E58B11-F05A-4131-8726-662BE9997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790950"/>
            <a:ext cx="52197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F187EAE-DCA1-40B3-BC4E-0150531E6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790950"/>
            <a:ext cx="762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A58DB09-6F89-4ACC-A7C0-E36279FAF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924300"/>
            <a:ext cx="209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46A00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C46A00"/>
                </a:solidFill>
                <a:latin typeface="Aptos Display"/>
                <a:ea typeface="Aptos Display"/>
                <a:cs typeface="Aptos Display"/>
              </a:rPr>
              <a:t>Failure mode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14F566E-364A-452B-A1A4-2B72E6487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191000"/>
            <a:ext cx="45910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A design with a lower peak gamma can still have worse nonlinear heat flux.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DB922C5-BE56-4463-BD77-82B2AFD3B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200650"/>
            <a:ext cx="8667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3633496-428F-4FD6-88E6-C155AE350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5324475"/>
            <a:ext cx="81724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Linear spectra are warning lights; nonlinear flux is the stronger gate.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2807934-E038-4C98-A768-312178B63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27B2EB8-83B5-42D5-9D34-0F7252752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5BF8616-91F6-4D43-BD8C-0D222DA1B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optimization workflow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91B8071-74B8-442E-A4E0-B9DAFB7ED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22D2267-C1E1-4164-9D20-B2834149B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18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F1EDEA6-D869-4401-ACB7-BCA64FEBF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076950"/>
            <a:ext cx="8667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Ref: SPECTRAX-GK public package notes and nonlinear turbulence optimization literature.</a:t>
            </a:r>
          </a:p>
        </p:txBody>
      </p:sp>
    </p:spTree>
    <p:extLst>
      <p:ext uri="{BB962C8B-B14F-4D97-AF65-F5344CB8AC3E}">
        <p14:creationId xmlns:p14="http://schemas.microsoft.com/office/powerpoint/2010/main" val="1411473331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6364CF1-5FC4-4B70-BF51-9F1B32E01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A508F8-D0C6-44BC-ADC4-D86565CC4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24000"/>
            <a:ext cx="73914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0ffa578720443a4"/>
          <a:stretch xmlns:a="http://schemas.openxmlformats.org/drawingml/2006/main"/>
        </p:blipFill>
        <p:spPr>
          <a:xfrm xmlns:a="http://schemas.openxmlformats.org/drawingml/2006/main">
            <a:off x="1126466" y="1695450"/>
            <a:ext cx="6129068" cy="37338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C071D6-C269-4F24-8747-08191317D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61925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How to read it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1E15B6-AEEB-487F-BD4A-744061BF2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181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292E899-603B-443B-85A8-22AFD39DA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07645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Growth and frequency belong together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BE8143-675A-4AB1-885C-FCB872B76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0384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AB45C10-BEF7-4D35-9B2D-83FB34A91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93370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The sign and trend help classify modes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50D9D25-90BC-4C88-AC2D-54687ACF7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838700"/>
            <a:ext cx="3238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FC7C057-14BD-4EB6-8F1B-671F770B4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972050"/>
            <a:ext cx="2895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Frequency is diagnostic context, not the scalar objective.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2C5A1F5-E72C-4A40-9A87-989460AF0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a6f8ca39ef4ae4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93AA4A0-E04B-4287-BEE5-E2C8A349F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0005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Frequency helps identify the branch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328677B-ECD8-472F-8B6B-2248059E0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3D90B63-0EE2-4B87-9B55-EB1D9C876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EB3FC85-CABA-4B3F-82ED-81AAA3A04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C91E86A-B401-4E43-A902-AE659295B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optimization workflow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1B08F5A-A229-4333-9203-AF498477D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DCF4372-A3BC-4118-9C95-332FD1D3E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19</a:t>
            </a:r>
          </a:p>
        </p:txBody>
      </p:sp>
    </p:spTree>
    <p:extLst>
      <p:ext uri="{BB962C8B-B14F-4D97-AF65-F5344CB8AC3E}">
        <p14:creationId xmlns:p14="http://schemas.microsoft.com/office/powerpoint/2010/main" val="56642294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B5DD7E8-E4A4-4AB0-9BD8-E16568060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82B685-4AEC-4EEA-82A9-945F0C0BD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24000"/>
            <a:ext cx="73914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9beef3a2724ba5"/>
          <a:stretch xmlns:a="http://schemas.openxmlformats.org/drawingml/2006/main"/>
        </p:blipFill>
        <p:spPr>
          <a:xfrm xmlns:a="http://schemas.openxmlformats.org/drawingml/2006/main">
            <a:off x="1099705" y="1695450"/>
            <a:ext cx="6182591" cy="37338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8AD6F9-1D44-4961-9D91-31DB23FDC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61925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How to read it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92E363-7551-4C04-85F2-E7B0A0B52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181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9391CA-9957-43E5-8C5B-EBF6771DE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07645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Red circle: proxy winner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2CCBD3-5903-4BC7-AF42-6731234E9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0384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EC34F7-CB4B-4A0C-A616-939C9BE33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93370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Green circle: validation winner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9470B82-1524-4CD0-A19C-847FAB010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838700"/>
            <a:ext cx="3238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39A2760-D5A0-4475-B1B9-92B4ECC2E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972050"/>
            <a:ext cx="2895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The ranking failure is the point of the plot.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B4A95F2-3724-448B-90AE-FC0230030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33b3bc03e741ca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65F6E67-4485-4ED4-9611-C533A85FD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0005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A proxy can pick the wrong winner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5EE3ED7-2816-4C0F-BAD8-25797F7E5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08A72BC-7B56-4508-B686-0CE10415C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9EF187D-390B-465A-8D1A-66C997F5D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2630F27-D844-4AA4-808D-46681BA33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optimization workflow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714374A-A71F-431C-BA4C-8744A1323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B4F98B7-17B6-45D6-B97F-6FC194A21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20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32F7794-6556-44B1-834E-199FE4767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076950"/>
            <a:ext cx="8667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Ref: Kim et al., J. Plasma Phys. 90, 905900203 (2024), nonlinear turbulence optimization with noisy heat fluxes.</a:t>
            </a:r>
          </a:p>
        </p:txBody>
      </p:sp>
    </p:spTree>
    <p:extLst>
      <p:ext uri="{BB962C8B-B14F-4D97-AF65-F5344CB8AC3E}">
        <p14:creationId xmlns:p14="http://schemas.microsoft.com/office/powerpoint/2010/main" val="699509757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4D663AD-6F19-4770-AAFA-0C67175E0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91026A-831A-43C2-BCEC-D59C39868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8658fe0daa4a0d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C5CAD0-070B-4C32-AF4E-9351E7E14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0005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Demo break: turbulence proxy versus validation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D3907B-271D-4FB1-BD79-BEA9D4318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4A54530-D74F-4D22-BA45-1043136D3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4000500" cy="3409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3A8E363-5C1F-421D-BE81-9DB8DB0F6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4000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6B52B09-0D54-4807-8928-C7B94F537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038350"/>
            <a:ext cx="2857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Notebook break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F626430-6A19-45A2-A457-1CBFE16CE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552700"/>
            <a:ext cx="3238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  <p:txBody>
          <a:bodyPr xmlns:a="http://schemas.openxmlformats.org/drawingml/2006/main" lIns="133350" tIns="76200" rIns="133350" bIns="7620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B2B2B"/>
                </a:solidFill>
                <a:latin typeface="Aptos Mono"/>
                <a:ea typeface="Aptos Mono"/>
                <a:cs typeface="Aptos Mono"/>
              </a:defRPr>
            </a:pPr>
            <a:r>
              <a:rPr sz="1350" b="0">
                <a:solidFill>
                  <a:srgbClr val="2B2B2B"/>
                </a:solidFill>
                <a:latin typeface="Aptos Mono"/>
                <a:ea typeface="Aptos Mono"/>
                <a:cs typeface="Aptos Mono"/>
              </a:rPr>
              <a:t>Notebook: Turbulence Metric Surrogate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11CAED6-1D52-474E-97A3-841D5ECD3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766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F94CE39-7188-4714-8D97-97803CBC0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371850"/>
            <a:ext cx="2952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Choose the proxy winner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6EE93A7-431A-4969-AC26-986ED46D9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086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2F47DCF-8430-4313-A051-B2C502595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981450"/>
            <a:ext cx="2952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Compare validation ranking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3402EEB-DA94-4E0E-8929-1899FC0B9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6958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CC5F599-3767-4A04-A7F9-D530006A9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591050"/>
            <a:ext cx="2952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Explain the failure mode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b70f36d4524b62"/>
          <a:stretch xmlns:a="http://schemas.openxmlformats.org/drawingml/2006/main"/>
        </p:blipFill>
        <p:spPr>
          <a:xfrm xmlns:a="http://schemas.openxmlformats.org/drawingml/2006/main">
            <a:off x="5684384" y="1657350"/>
            <a:ext cx="5204732" cy="3143250"/>
          </a:xfrm>
          <a:prstGeom xmlns:a="http://schemas.openxmlformats.org/drawingml/2006/main" prst="rect">
            <a:avLst/>
          </a:prstGeom>
        </p:spPr>
      </p:pic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BBC546D-043F-4378-9497-CDE6A47D3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5143500"/>
            <a:ext cx="5334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C7D2FE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BBD4409-C779-45B5-AB19-F08FCFA2A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5267325"/>
            <a:ext cx="49149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F293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F2937"/>
                </a:solidFill>
                <a:latin typeface="Aptos"/>
                <a:ea typeface="Aptos"/>
                <a:cs typeface="Aptos"/>
              </a:rPr>
              <a:t>Notebook path: notebooks/08_spectrax_gk_linear_metric.ipynb + notebooks/09_turbulence_metric_surrogate.ipynb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FB98136-E796-4291-9979-680C9CCD5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0BF62BD-6FDA-4115-BD6F-2E1E19312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D42458C-7066-4703-AEEE-542FE6B43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optimization workflow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B96AAD9-0867-4454-AAF7-0F9AAC0F2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25FFD53-AFD5-4E6D-BB8B-C14C47356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21</a:t>
            </a:r>
          </a:p>
        </p:txBody>
      </p:sp>
    </p:spTree>
    <p:extLst>
      <p:ext uri="{BB962C8B-B14F-4D97-AF65-F5344CB8AC3E}">
        <p14:creationId xmlns:p14="http://schemas.microsoft.com/office/powerpoint/2010/main" val="1161495519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08258B1-F680-49F2-B6A5-3ADC0B11D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F2FCE95-C218-4F31-983F-DC2C16BDA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2c241b10f4445c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71CE0E-4436-4F5C-9FD0-D2D935C79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714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Lecture 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C84732-43B0-4C8E-A38B-A5F9A1B54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8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C5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6AB64E-D33F-48E5-8A98-0A1ED0558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190750"/>
            <a:ext cx="85725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40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40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PART 3. Fast particles are reactor gates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C01D02-2027-4466-A785-A63848070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3638550"/>
            <a:ext cx="14097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EDF152C-D5FF-4F90-BE34-0255AED14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2005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4128873-F587-45CD-9172-3A86B0B52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095750"/>
            <a:ext cx="7524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Alpha confinement, wall loads, and orbit classes matter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F9A9C24-886F-4C57-A4D2-3D95AB80A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8291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5AB6CBA-5830-448D-AF99-9EB05D142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724400"/>
            <a:ext cx="7524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Particle metrics must rerun after coil changes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AC58B8F-E1E1-4159-A4FC-41080E80D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8BC02B4-BBEA-4AC7-BD71-159ACC9ED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261CB59-B91F-428E-8B3F-ACCFBCEC1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optimization workflow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04FA21D-5CBC-46F3-965F-EC95A0781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8ABC5FD-BC52-4373-8466-CB6AB572D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22</a:t>
            </a:r>
          </a:p>
        </p:txBody>
      </p:sp>
    </p:spTree>
    <p:extLst>
      <p:ext uri="{BB962C8B-B14F-4D97-AF65-F5344CB8AC3E}">
        <p14:creationId xmlns:p14="http://schemas.microsoft.com/office/powerpoint/2010/main" val="2074001709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094EAA3-8ABB-49AA-8E70-1AC439B66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5414A1-6955-4F29-A023-F6F9CA0E7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24000"/>
            <a:ext cx="73914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a58943829b648b2"/>
          <a:stretch xmlns:a="http://schemas.openxmlformats.org/drawingml/2006/main"/>
        </p:blipFill>
        <p:spPr>
          <a:xfrm xmlns:a="http://schemas.openxmlformats.org/drawingml/2006/main">
            <a:off x="1011115" y="1695450"/>
            <a:ext cx="6359769" cy="37338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34EAF6-DB53-4930-88B4-8DE5112EE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61925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How to read it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28F677-3731-44EB-8740-96D12D1C4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181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787B509-1EC9-47BD-829F-77CAFE6AA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07645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A fieldline picture can look acceptable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B183B9-987E-4E97-A8FD-4862D395A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0384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B6075DA-1658-4495-A3E8-27C4E44DC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93370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An orbit diagnostic can still fail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C951E5C-4CB6-4401-A35D-509F16A48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838700"/>
            <a:ext cx="3238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37FD61-9C72-4B0B-9864-CB31FF4CA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972050"/>
            <a:ext cx="2895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Fast-particle checks belong in the validation ladder.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0CAA5FD-73FF-4B3D-9332-7A9B83296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67a20519a3e4d31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44B8797-96CC-4941-AF52-C4ED465E5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0005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Particle metrics connect back to coils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15B349F-BCDB-4ED2-82E5-3B4AE10F4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D53CD34-2CD6-44A2-B328-07E44D7AD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BD53FF6-ECD8-47BE-8E54-6895F222A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76A1551-20AE-444D-B52A-D5DF3EE97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optimization workflow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5DF853B-C48E-45E5-8251-E2C95AA6F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9A20233-9D58-4D76-82BA-4E998AB07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23</a:t>
            </a:r>
          </a:p>
        </p:txBody>
      </p:sp>
    </p:spTree>
    <p:extLst>
      <p:ext uri="{BB962C8B-B14F-4D97-AF65-F5344CB8AC3E}">
        <p14:creationId xmlns:p14="http://schemas.microsoft.com/office/powerpoint/2010/main" val="997671435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821B7FF-02AC-4273-B2AA-BEE585619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381B86-430F-4EEF-8D58-4C28328B2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971550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ED7AA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EBB262-9EBC-46F5-8441-133AE5FDD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1714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FAEB3E-E636-4AC4-84DA-94534307D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019300"/>
            <a:ext cx="400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9A3412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9A3412"/>
                </a:solidFill>
                <a:latin typeface="Aptos Display"/>
                <a:ea typeface="Aptos Display"/>
                <a:cs typeface="Aptos Display"/>
              </a:rPr>
              <a:t>Validation 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712B1D-8FAF-46E4-8703-905711A9D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7336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8F1FBF1-A9E4-4701-B43B-BB9394122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628900"/>
            <a:ext cx="8191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Does the metric fail on a known bad design?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935B69F-E3BD-4469-A27E-92835A25B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324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A84B21C-DA8E-4117-B7A7-A36523665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219450"/>
            <a:ext cx="8191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Does it rank a known good design correctly?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3AB60F-911E-40A8-9F47-D704833BE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9147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8AB2D8F-B1D7-4882-BDB2-DA92FC4A9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810000"/>
            <a:ext cx="8191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Does it change smoothly under perturbations?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D5EA01B-4EEF-4ECC-AB23-DECEA96A3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876800"/>
            <a:ext cx="8286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D7A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BBB272-B7A4-4FF2-B9C6-4FB67B1D1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5029200"/>
            <a:ext cx="8096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A341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9A3412"/>
                </a:solidFill>
                <a:latin typeface="Aptos"/>
                <a:ea typeface="Aptos"/>
                <a:cs typeface="Aptos"/>
              </a:rPr>
              <a:t>Validation rule: state the assumption, identify the metric, and explain what would change your mind.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C1ACCF0-C285-4CAC-96CF-EF6E3DF62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56cb4a777a4e90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5769371-620D-41FA-97B8-A213904A0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0005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Validation compares failure modes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96BAF6A-949C-4704-A117-FEF38284D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14B6817-E17F-46BC-98B5-137D5D77C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46E96DA-C23B-4E4D-AB2B-30B807683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2B47A6D-0ABD-429B-B258-54CC576D7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optimization workflow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D2F792D-B167-4CC3-8FE1-3AB313E36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FA98D3F-49E2-41FD-B50A-F819348D2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24</a:t>
            </a:r>
          </a:p>
        </p:txBody>
      </p:sp>
    </p:spTree>
    <p:extLst>
      <p:ext uri="{BB962C8B-B14F-4D97-AF65-F5344CB8AC3E}">
        <p14:creationId xmlns:p14="http://schemas.microsoft.com/office/powerpoint/2010/main" val="1217043472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093ABED-1F8E-4024-8228-2DA1753FD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275DDF-629F-4C5C-A04E-4C7CFB3A4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2c31c26a47438a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FFD142F-EDEF-4526-9716-FAA548941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0005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Metric trust ladder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814F02A-5998-4885-89F2-FF586C1BC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98E3EF-3BEC-448A-8DFB-D2E34C400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C1CBF6-7AFC-40D0-8D97-ADFE7F356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Design question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CC2CA35-3674-43D6-A888-FD4A55C72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5DCAF1B-77B4-48C3-A62B-5915AD21D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Optimization interpretation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A4871F7-FF0D-47CA-848D-3149C5122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CEF9863-22A5-4022-A0C9-3DE05142E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9D9BE87-F124-44AF-94E5-5467C7B43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Screen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DBB6414-BD7C-4975-9318-04DE80F26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reduced model trend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4911A9D-6B39-4D40-AE6E-22503264B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7180B7F-BAEF-477F-806F-BB761925C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C817BF6-715F-4ABD-AAE3-0A51CC0B9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Ranking hypothesis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F79AFE8-C960-4E7B-A84E-62E20C302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fast or quasilinear run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20CB575-F3ED-44F0-9E97-788377303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ECE5861-9C66-4F08-AD1A-7A6C1819F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5144BF0-E148-4B9A-A0CD-57610D7AA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Validation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9762AB1-3BDD-4C64-9D85-43BE80101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expensive run or experimental comparison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AB4051D-807E-4106-99D6-63E772643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8783CC1-3244-46D6-B545-992DC1307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5FEF7FF-F9F9-4738-A946-65584141C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optimization workflow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4097930-2A76-4E36-AD83-7D8929A55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82DDE54-791E-4999-85A2-7CF6EE573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25</a:t>
            </a:r>
          </a:p>
        </p:txBody>
      </p:sp>
    </p:spTree>
    <p:extLst>
      <p:ext uri="{BB962C8B-B14F-4D97-AF65-F5344CB8AC3E}">
        <p14:creationId xmlns:p14="http://schemas.microsoft.com/office/powerpoint/2010/main" val="1138780511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9F42EAD-A18B-4D92-A5FE-6DEDAA49F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BA281B6-6F4F-4DFB-889E-0C6B6167E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c8c45e2273b42bd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A5795E2-1FF9-4395-ACE2-57CFD3727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0005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Lecture 3 what to remember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AD979B-7B76-4CD3-9932-77D9113B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7E77D98-8F75-40C3-8373-4A2F3BFFE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9145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CBB12E-29A8-4E2F-B94B-EF87797F6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809750"/>
            <a:ext cx="8667750" cy="5667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Use cheap metrics to steer the search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8423573-3D7E-4A7F-B120-2985DFFE2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595563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5DF093B-9CA0-4595-9C5C-162B96909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490788"/>
            <a:ext cx="8667750" cy="5667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Use expensive metrics to challenge finalists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55FFECE-EEEE-4730-8610-0D7537AEC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2766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C738C11-1450-469E-B574-694D5854F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171825"/>
            <a:ext cx="8667750" cy="5667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Plot profiles and regimes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5C233CA-DE16-4A57-B606-B47FACE03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957638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7E901AB-0010-465D-9E57-80D57CA94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852863"/>
            <a:ext cx="8667750" cy="5667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Never hide proxy failure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8BD14D8-B53D-44FE-A05A-F6384D167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838700"/>
            <a:ext cx="8001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EF43165-1437-49D7-BF0E-79BA7A2DE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4962525"/>
            <a:ext cx="7524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A good optimization result is a design argument that survives new metrics.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8E20D3D-F1ED-4998-8A7A-E04D58100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566EF99-D607-4146-8C29-E99EBE926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FF78627-045B-45D2-A92A-523547051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optimization workflow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14501F6-2335-4532-B573-D2A0F541D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601895E-FB1F-474F-97B8-9606191B7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26</a:t>
            </a:r>
          </a:p>
        </p:txBody>
      </p:sp>
    </p:spTree>
    <p:extLst>
      <p:ext uri="{BB962C8B-B14F-4D97-AF65-F5344CB8AC3E}">
        <p14:creationId xmlns:p14="http://schemas.microsoft.com/office/powerpoint/2010/main" val="87365875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16726A2-FEE4-487D-A0CC-C08EB2292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F4B93D-1FCB-4B36-83A1-6E646B814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d092b47797540f4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7C27EE-6A63-460E-A9C9-105804659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809750"/>
            <a:ext cx="8953500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390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90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Transport metrics are validation gates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DED9B0-709D-4F70-BFB4-8EBE048B9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562350"/>
            <a:ext cx="3238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C6B0FDF-2D94-4F0D-B2D2-2B55FB055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2005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145264-1C55-44E9-88AB-F0E41EEA8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095750"/>
            <a:ext cx="6953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A good design survives a stronger metric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84E0579-4D36-4FEA-AFD5-BCADF567B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A2BA974-8440-45C1-957A-3D80632CC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611290E-E96D-4F44-8635-3B5BB593A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optimization workflow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E46C68E-2FDF-40F9-9326-57C2986B9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9D3640E-E3BE-4ABB-BE9C-732BDA80B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27</a:t>
            </a:r>
          </a:p>
        </p:txBody>
      </p:sp>
    </p:spTree>
    <p:extLst>
      <p:ext uri="{BB962C8B-B14F-4D97-AF65-F5344CB8AC3E}">
        <p14:creationId xmlns:p14="http://schemas.microsoft.com/office/powerpoint/2010/main" val="1478109535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3E1024B-7B7B-489F-923B-1EAB915D4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93D9BE3-2640-4D6E-AB44-8FB198580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04bd7051a84231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6E3C33-9D25-4DAF-BF55-2D9F6F566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714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Lecture 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367187-A57D-4CC2-8868-318B761AC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1028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C5D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6060EB-36F3-4CF1-81F5-E4F69E223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190750"/>
            <a:ext cx="85725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40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40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APPENDIX. Lecture 3 checks and replacements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FBF9B7-1701-4EBB-BE3F-4C66230AF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3638550"/>
            <a:ext cx="14097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8976F0-0C73-4FCF-B582-A37715316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2005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1A2C98A-140B-4F57-AB01-4CB666F18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095750"/>
            <a:ext cx="7524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Use this section when SFINCS, SPECTRAX, or particle tools are live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162CE37-983B-4D0D-9989-A61FEB76F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8291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8997361-66A1-4087-AF44-3149F45CC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724400"/>
            <a:ext cx="7524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Keep reference ranking plots ready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43E7FF-9C12-4EE2-BF83-A7337A4B7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AF1B474-FF50-41AC-9D4E-FEE5664A8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73BFCF3-499F-4C1C-B4C2-B3621FE80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optimization workflow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6495204-B92A-42FF-8B3C-29E2555CF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7E7ED24-3192-4865-94BA-3165A92FC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28</a:t>
            </a:r>
          </a:p>
        </p:txBody>
      </p:sp>
    </p:spTree>
    <p:extLst>
      <p:ext uri="{BB962C8B-B14F-4D97-AF65-F5344CB8AC3E}">
        <p14:creationId xmlns:p14="http://schemas.microsoft.com/office/powerpoint/2010/main" val="95167699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0F3A5DC-9145-4FA7-906F-176021762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1EF1AF-9450-425C-A787-382D42D1A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a3d1d4c05f54755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A02C63-6FBF-4EEE-82BA-A655A918D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0005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Neoclassical outputs to track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93FD80-137A-4B64-97EE-55D9A0726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FC8B2B-81A0-4ADA-BB8A-11DA71BF6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4275D8F-DD86-4F2B-9D00-16DCFD947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Design question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948006F-6C9A-49F7-B572-AF01EAE20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A235391-EB06-4DE5-9F50-10A455F53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Optimization interpretation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C1D8FE8-3061-48A1-9550-236201F61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C320EA6-E98C-4BB4-94BE-1AE4DB85B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754533-1822-4D51-AC47-D0A058DD2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Effective ripple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A14EE25-77BD-4D5D-AF19-343C759B1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low-collisionality screen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69374B3-E6E6-4768-A5BF-97FDE83C1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DFF7388-F088-4905-B75A-748D4B199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B20E8F5-9565-49D3-82C3-F6EF8E5CC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Ambipolar roots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E989658-041E-4D64-B02E-606335797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radial electric-field validation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79D81D4-3116-4479-AF6A-4A0814EAC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EA61310-2339-4171-A2BE-98ABA4235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31A5B15-2E33-4882-ADD7-70A3EB37F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Bootstrap current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2262F86-C1AC-462D-90C1-C25C835CF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profile-dependent equilibrium feedback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3C9569C-3EB6-4B8E-901A-D87D9AE06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7C6E1F9-3257-4933-82DB-7681B1FC4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EC7EE11-DE1F-4A3E-B651-C51C688EE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optimization workflow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F832FC2-0DA6-46D6-83FF-56DA2E6E4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2E28A54-112C-4124-ACCA-C3D144605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29</a:t>
            </a:r>
          </a:p>
        </p:txBody>
      </p:sp>
    </p:spTree>
    <p:extLst>
      <p:ext uri="{BB962C8B-B14F-4D97-AF65-F5344CB8AC3E}">
        <p14:creationId xmlns:p14="http://schemas.microsoft.com/office/powerpoint/2010/main" val="1293734432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0AF8876-505F-4FB6-9E30-B0C323103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8EA487-012D-4B44-8444-89019C996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10857897954104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713195E-0B1D-4A95-815D-919754E3D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0005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Turbulence outputs to track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06CD52-665C-48F1-AD84-178FA0FE9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B9CB4C-85F6-43A7-8B78-2C780CD65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EB6F25-ED31-4E1B-8A0D-E8419C639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Design question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9A1F91D-B040-4DE5-BA82-F11A3F93B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B8F03E4-D5E4-46A4-AFED-BD3D3019E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Optimization interpretation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01441AC-F714-4DDD-9670-4AAE02F00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7812E6D-170B-4255-B3AA-4AAA8F7C1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59B9327-12A0-4F98-9133-381471EA9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Linear growth rate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176E739-9895-4C45-AC57-32CE89953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fast instability screen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DFB0E4D-4224-4A07-8ECC-369FA744F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62793A2-7F18-48B0-97B3-825285778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B610456-B1CF-4ECE-ADA4-D1469C2DC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Quasilinear weight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51209D2-75B9-40E8-97E3-C19D034E2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ranking hypothesis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18E3F11-612A-496B-96F3-AC48DAA90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6FE40CC-3638-464D-B5D6-612B3B888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BEF17E2-6989-4D26-8E81-D685FA096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Nonlinear heat flux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44DDA68-C0AA-43D8-BEE2-C96DFA439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validation for finalists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71DB077-B77B-47A7-B2A6-1F8761311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F80EB4B-FD26-4A41-AE4E-3889B1ABB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B13D963-B9D6-458C-8DAC-23B51E0A0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optimization workflow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5408950-BB0C-4680-B29C-17D005D3E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2199420-081F-4F79-8EFD-F68527321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30</a:t>
            </a:r>
          </a:p>
        </p:txBody>
      </p:sp>
    </p:spTree>
    <p:extLst>
      <p:ext uri="{BB962C8B-B14F-4D97-AF65-F5344CB8AC3E}">
        <p14:creationId xmlns:p14="http://schemas.microsoft.com/office/powerpoint/2010/main" val="1537742117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5C33BD9-4C4A-4D9B-8CF6-DB17220FE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33AEC9-AFF6-483D-9F0B-608BD5A93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6408c8334c4002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239B90-A69C-4296-9AEE-830C4682D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0005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Research path: NEO_JAX and SFINCS_JAX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35D110-B0D5-4820-8B7B-4465B19CF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91AD3AB-FDEA-4DD3-9796-C86765713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33550"/>
            <a:ext cx="66675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1601D9-7B84-4BEC-904B-AD50AF27B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33550"/>
            <a:ext cx="6667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228AC4E-E7E3-4F60-8E2B-AD98672CB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809750"/>
            <a:ext cx="304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E5E7E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E5E7EB"/>
                </a:solidFill>
                <a:latin typeface="Aptos"/>
                <a:ea typeface="Aptos"/>
                <a:cs typeface="Aptos"/>
              </a:rPr>
              <a:t>command surface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EF9405B-B5D7-4483-AAF3-E8B6B9C9F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305050"/>
            <a:ext cx="59055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defRPr>
            </a:pPr>
            <a:r>
              <a: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rPr>
              <a:t>$ python scripts/run_smoke_tests.py</a:t>
            </a:r>
          </a:p>
          <a:p xmlns:a="http://schemas.openxmlformats.org/drawingml/2006/main">
            <a:pPr algn="l">
              <a:def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defRPr>
            </a:pPr>
            <a:r>
              <a: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rPr>
              <a:t>$ python scripts/execute_all_notebooks.py</a:t>
            </a:r>
          </a:p>
          <a:p xmlns:a="http://schemas.openxmlformats.org/drawingml/2006/main">
            <a:pPr algn="l">
              <a:def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defRPr>
            </a:pPr>
            <a:r>
              <a: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rPr>
              <a:t>$ python scripts/build_powerpoint_decks.mjs</a:t>
            </a:r>
          </a:p>
          <a:p xmlns:a="http://schemas.openxmlformats.org/drawingml/2006/main">
            <a:pPr algn="l">
              <a:def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defRPr>
            </a:pPr>
            <a:r>
              <a: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rPr>
              <a:t>$ python scripts/check_release_ready.py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2F693C-9546-4F47-9797-007FBA97F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9907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226A29-B593-4C1C-9CAA-52F943774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885950"/>
            <a:ext cx="2571750" cy="679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Choose the same equilibrium and flux surface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1AC5981-82D2-4DF5-9AA3-955188811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7844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5D0EBA8-FE89-4314-8225-C208585C8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679700"/>
            <a:ext cx="2571750" cy="679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Scan collisionality and radial electric field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543763E-5A46-4D54-94FC-268AA908B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578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248B74A-0445-456F-B882-D1B983C9B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473450"/>
            <a:ext cx="2571750" cy="679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Compare compact metrics before detailed validation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45E7CA2-8FF3-4CAA-B5C8-7C8549010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9E5D7B8-C013-416B-A682-1778FFA8A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2B55C34-7F07-4CB6-9D34-BCE7DDD8B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optimization workflow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2591FBE-2DF3-42DF-94DD-6011455C1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F9FE65D-BFB1-4ADA-B2E3-B46460936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31</a:t>
            </a:r>
          </a:p>
        </p:txBody>
      </p:sp>
    </p:spTree>
    <p:extLst>
      <p:ext uri="{BB962C8B-B14F-4D97-AF65-F5344CB8AC3E}">
        <p14:creationId xmlns:p14="http://schemas.microsoft.com/office/powerpoint/2010/main" val="1752197884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569377A-9262-46FC-8966-DB5735F0A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743DF7-B38F-4350-8933-BBDF363D8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cef52f586948fa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C9B2DA-5F0E-4E92-B450-3BA57960C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0005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Research path: SPECTRAX-GK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9DB1D3-E870-48D8-9C56-54CF6315D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98879A3-9139-41A9-851E-7C01F989A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33550"/>
            <a:ext cx="66675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DE35332-B5F2-4ED8-8710-6681FAA81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33550"/>
            <a:ext cx="6667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93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9A0E13F-C9AA-43BD-BF45-6F7007D9D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809750"/>
            <a:ext cx="304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E5E7E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E5E7EB"/>
                </a:solidFill>
                <a:latin typeface="Aptos"/>
                <a:ea typeface="Aptos"/>
                <a:cs typeface="Aptos"/>
              </a:rPr>
              <a:t>command surface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B844E3E-DF7B-4109-947D-A7929F55C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305050"/>
            <a:ext cx="59055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defRPr>
            </a:pPr>
            <a:r>
              <a: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rPr>
              <a:t>$ python scripts/run_smoke_tests.py</a:t>
            </a:r>
          </a:p>
          <a:p xmlns:a="http://schemas.openxmlformats.org/drawingml/2006/main">
            <a:pPr algn="l">
              <a:def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defRPr>
            </a:pPr>
            <a:r>
              <a: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rPr>
              <a:t>$ python scripts/execute_all_notebooks.py</a:t>
            </a:r>
          </a:p>
          <a:p xmlns:a="http://schemas.openxmlformats.org/drawingml/2006/main">
            <a:pPr algn="l">
              <a:def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defRPr>
            </a:pPr>
            <a:r>
              <a: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rPr>
              <a:t>$ python scripts/build_powerpoint_decks.mjs</a:t>
            </a:r>
          </a:p>
          <a:p xmlns:a="http://schemas.openxmlformats.org/drawingml/2006/main">
            <a:pPr algn="l">
              <a:def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defRPr>
            </a:pPr>
            <a:r>
              <a:rPr sz="1725" b="0">
                <a:solidFill>
                  <a:srgbClr val="D1FAE5"/>
                </a:solidFill>
                <a:latin typeface="Aptos Mono"/>
                <a:ea typeface="Aptos Mono"/>
                <a:cs typeface="Aptos Mono"/>
              </a:rPr>
              <a:t>$ python scripts/check_release_ready.py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6D10357-DECA-41E4-9EF9-867867EE2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9907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87557F3-D3BC-4C5D-A2BB-6A3C58D42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885950"/>
            <a:ext cx="2571750" cy="679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Start with a short linear calculation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4D8E3CC-4D5F-4313-8263-322A6A6A8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7844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5A48690-B0D5-4E5B-A817-D43E68DAA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679700"/>
            <a:ext cx="2571750" cy="679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Plot growth rate and frequency versus ky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B569D70-6F5B-4C8C-A23E-12663D07D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578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E1143DA-CB14-4772-BD0A-DBC7A0681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473450"/>
            <a:ext cx="2571750" cy="679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Keep nonlinear validation gate explicit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2DC3437-F493-4E60-BE33-3539A750F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18A42F1-1677-434A-84D4-EDA61CEC6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1C544B0-5390-42BC-919A-B342323F6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optimization workflow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291087F-26DB-4ADD-A598-6F3725F71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147A17E-DB71-4166-85D2-69AD92213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32</a:t>
            </a:r>
          </a:p>
        </p:txBody>
      </p:sp>
    </p:spTree>
    <p:extLst>
      <p:ext uri="{BB962C8B-B14F-4D97-AF65-F5344CB8AC3E}">
        <p14:creationId xmlns:p14="http://schemas.microsoft.com/office/powerpoint/2010/main" val="746815806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FFC4C88-10F7-45B5-9242-C40D29FFA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CD4D334-5DB2-4FB4-B5EE-776FE933B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971550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ED7AA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41379B2-1A01-444A-A03A-AF7695BD1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1714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72E216-E4A7-4FE9-89D2-72705EAC2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019300"/>
            <a:ext cx="400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9A3412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9A3412"/>
                </a:solidFill>
                <a:latin typeface="Aptos Display"/>
                <a:ea typeface="Aptos Display"/>
                <a:cs typeface="Aptos Display"/>
              </a:rPr>
              <a:t>Validation 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0704633-16AD-4030-B798-16D8D4663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7336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D04A31F-0223-48DD-8895-285681DE1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628900"/>
            <a:ext cx="8191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Growth rate screens instability before heat-flux validation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B70BD7-ACAE-4953-A2A9-09470984D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324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4A61FA8-7DA6-44E4-BCA2-CFBD196AC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219450"/>
            <a:ext cx="8191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A scalar ripple value should point back to where losses occur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E5C5E62-0ED3-4A15-B3BD-E8FF1B2EA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9147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6A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10D4BDF-6089-4B84-9421-AE4A8D6B7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810000"/>
            <a:ext cx="8191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A profile proxy should lead to a solved discharge model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27B07BF-A6A2-4038-9357-C8E136E5F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876800"/>
            <a:ext cx="8286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D7A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8F422BC-9706-4BDC-9756-1A84646E5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5029200"/>
            <a:ext cx="8096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A3412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9A3412"/>
                </a:solidFill>
                <a:latin typeface="Aptos"/>
                <a:ea typeface="Aptos"/>
                <a:cs typeface="Aptos"/>
              </a:rPr>
              <a:t>Validation rule: state the assumption, identify the metric, and explain what would change your mind.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879A974-5102-4555-8702-59E06E4AE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1176db57824b62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D521458-79E9-4338-A845-E5DDF8B6E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0005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How to read a fast metric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5CA5D39-BFFD-4A1C-ACCF-F43DCD83A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64B863E-00DB-4762-955B-4444FF34F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86C5AAD-CC52-4927-846B-4277AE39C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DE00EB7-E4DD-4C45-8732-3350A2600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optimization workflow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79A8DAF-9F19-43A9-B007-4327351F5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A056B1B-D05B-4FF2-BBAE-AB42D3050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33</a:t>
            </a:r>
          </a:p>
        </p:txBody>
      </p:sp>
    </p:spTree>
    <p:extLst>
      <p:ext uri="{BB962C8B-B14F-4D97-AF65-F5344CB8AC3E}">
        <p14:creationId xmlns:p14="http://schemas.microsoft.com/office/powerpoint/2010/main" val="1645352012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1F2A801-9618-4438-8473-B455A0E5C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382E234-C68B-49DC-B0EE-EEBF14E00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24000"/>
            <a:ext cx="73914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b7ec8aaccc4d89"/>
          <a:stretch xmlns:a="http://schemas.openxmlformats.org/drawingml/2006/main"/>
        </p:blipFill>
        <p:spPr>
          <a:xfrm xmlns:a="http://schemas.openxmlformats.org/drawingml/2006/main">
            <a:off x="1084837" y="1695450"/>
            <a:ext cx="6212326" cy="37338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EA7B102-ECBB-4E8A-878F-E6182DC6D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61925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How to read it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008C48-9946-4F2C-B951-713440559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181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629CE9-0CE0-4A04-9FBA-45F168B4E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07645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Use if a live linear run is slow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10FF1F-06C3-493F-A3B4-7F22A763E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0384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CCD3F3-44CF-45F8-B11F-20F306BC2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93370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Ask what the scalar should be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ECF42A-A2CD-4842-BCCE-CB9B25016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838700"/>
            <a:ext cx="3238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6DFED83-E221-4745-843A-BC11243FE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972050"/>
            <a:ext cx="2895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Read the plot as a diagnostic, not as a new validated result.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EF94E14-6C69-41F1-9F51-71F390A22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b9fa123ee84c56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6F8B0DD-D4C5-400A-82C4-0A8A610DF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0005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Reference figure: growth-rate spectrum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3F13B0E-BD87-4DF7-A98A-AAD74A332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EFC5873-169E-4FCC-870B-6B08EF0FA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411F470-5BCC-44F0-BC7D-B520F6E9C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B6F2484-FB9C-4D88-85BB-C4984DA07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optimization workflow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D062540-9E0D-4479-8ED9-D35F7DA70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983372D-987D-4B1A-A2A6-B3FC758A9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34</a:t>
            </a:r>
          </a:p>
        </p:txBody>
      </p:sp>
    </p:spTree>
    <p:extLst>
      <p:ext uri="{BB962C8B-B14F-4D97-AF65-F5344CB8AC3E}">
        <p14:creationId xmlns:p14="http://schemas.microsoft.com/office/powerpoint/2010/main" val="157926031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5126EC8-AD70-4719-8377-88356887F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159E933-A82D-4563-AA00-66452B79B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24000"/>
            <a:ext cx="73914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00ecedee21f4e0d"/>
          <a:stretch xmlns:a="http://schemas.openxmlformats.org/drawingml/2006/main"/>
        </p:blipFill>
        <p:spPr>
          <a:xfrm xmlns:a="http://schemas.openxmlformats.org/drawingml/2006/main">
            <a:off x="1100848" y="1695450"/>
            <a:ext cx="6180304" cy="373380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9D2F96-11CC-4529-9AD9-FBAFABA08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61925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How to read it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5C3ED6-55A6-4775-8B5D-964D1A9C0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1812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DD7411-F0D7-45C4-AFF4-5AAB58010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07645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Use to motivate turbulence after neoclassical success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784BE40-2A1A-479B-B2E7-14596A308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0384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08E659E-A681-428E-93B9-F17962B0C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933700"/>
            <a:ext cx="2952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Keep the cartoon label visible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91C4EB7-F704-4626-9160-21F9B3F92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838700"/>
            <a:ext cx="3238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9525">
            <a:solidFill>
              <a:srgbClr val="D0D0D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F884B39-925E-4F20-8D93-A53AA2FE7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972050"/>
            <a:ext cx="2895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Read the plot as a diagnostic, not as a new validated result.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DF411E9-5E9F-4966-9487-5175309BE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f86f7084cf4e5b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C077034-42B1-4FCC-9149-B4D2A61AB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0005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Reference figure: W7-X clamping cartoon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A84AE4A-2C3D-4624-9DC0-DE2941024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7C5DE78-2C1D-4C7C-80BC-FEC2E3003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BF7EB00-EC47-40FA-B0AF-5EDE67EAB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B4C12A3-CA09-4133-845C-73D0E57DB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optimization workflow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1F870CE-F7C0-486B-AE78-50F151BB0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9C6C925-B035-4A83-845F-9876FA6F3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35</a:t>
            </a:r>
          </a:p>
        </p:txBody>
      </p:sp>
    </p:spTree>
    <p:extLst>
      <p:ext uri="{BB962C8B-B14F-4D97-AF65-F5344CB8AC3E}">
        <p14:creationId xmlns:p14="http://schemas.microsoft.com/office/powerpoint/2010/main" val="1714039065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AC65DF5-1FA0-4897-941F-D7C3AC1AB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032D82-60C0-4140-B3CC-2E7FAC8C2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4582671255b4e9e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73CAD7E-27C3-4ED7-8837-AB252899D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0005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Before showing a transport number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FDD324-3044-4BBD-947A-A6C1CB5A3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AF78ECB-D0FB-4C93-85C8-B9C90B8C7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DA7962D-EB7B-4F45-8674-2E221D34B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Design question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B9B932-52C2-4B90-8E04-CD8F79D6B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D1BD637-800F-4C91-80B6-90B7FF3D7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Optimization interpretation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4622B52-2309-445D-B7C3-AB008B22A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C59D8BD-508B-4730-85DE-42CF9465A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2D7C5B1-FFBB-4C4D-9492-958A2DFC3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Equilibrium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99387F4-7F72-4047-BB72-7812018CA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which surface and assumptions?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57183F4-A8D8-4207-990C-60D122420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D145231-3FA6-4DFC-9624-C29D15D47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73F75B8-DFBA-4AFB-AC0F-C6D85525B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Kinetics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16151A6-2DE9-4A9E-8B21-159966AC0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which species and collisionality?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20943A9-4D95-4283-98CA-08D27DADB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3EC6BC2-0203-46E0-9401-4E2E57718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B07C7AD-5652-452F-ADDE-419D6BFEE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Validation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2101F8C-5947-4ACD-B791-B44DBFC2B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which expensive calculation confirms it?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92E9445-8F4A-4880-9902-FC27FF863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BBEE1B5-BD43-41D9-ACC7-18C3D0C2B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93741EA-2F88-4A55-82EF-7FBF6AB7D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optimization workflow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5B769C7-55CC-4B28-87F8-F132C4700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E1377FA-2EAB-44FD-B6DB-4A30C09BE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36</a:t>
            </a:r>
          </a:p>
        </p:txBody>
      </p:sp>
    </p:spTree>
    <p:extLst>
      <p:ext uri="{BB962C8B-B14F-4D97-AF65-F5344CB8AC3E}">
        <p14:creationId xmlns:p14="http://schemas.microsoft.com/office/powerpoint/2010/main" val="729688200"/>
      </p:ext>
    </p:extLst>
  </p:cSld>
</p:sld>
</file>

<file path=ppt/slides/slide3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5380647-386F-43B6-8F4D-274631D17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E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C8EB5F-05D0-4AC7-A539-78C45C900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2ff328dc0a4d81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78567D-6DF5-4F05-AD42-EE2AAA20E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00050"/>
            <a:ext cx="9601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Discussion: what can reverse the ranking?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B091D2-32A1-4FC3-BA86-863DCBDB4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0015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39AF78-96DF-476D-B1D9-92CA5D411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51ECE76-4A6F-4DB7-960F-873B01CF5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Design question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920D532-782E-4215-85AF-37EE8E082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695450"/>
            <a:ext cx="4953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E75D07B-6A8C-431C-B251-C9EBB8D51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781175"/>
            <a:ext cx="4610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Optimization interpretation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D2CA09F-ED48-4DEC-BFCF-18C76904A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94BFFA4-9FAD-484A-A99D-E9B91B195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1336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72A397F-E753-47C7-A6FB-89BAC5B07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Neoclassical winner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7E8B7BC-5838-4A7D-B57F-37BC7BC85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479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can lose on turbulence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59A4818-24E8-414A-BBA2-2E5F0DD6C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FB1ECE3-F0EF-4287-B7AE-BDFD2656F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8575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D05B34C-AC7F-48EE-AE9F-C1B0F6E44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Turbulence winner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7282038-3DDE-413E-82C7-6482B36E9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9718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can fail alpha confinement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91C4025-732D-4BAA-8309-F07303A98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40A09CC-D3F1-4CEF-A6E1-371B62016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581400"/>
            <a:ext cx="4953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CC0F21A-2C8F-4F7C-B337-D85F1CCCD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C5050C"/>
                </a:solidFill>
                <a:latin typeface="Aptos Display"/>
                <a:ea typeface="Aptos Display"/>
                <a:cs typeface="Aptos Display"/>
              </a:rPr>
              <a:t>Profile change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CDA9AB5-A75C-4188-A24C-93585AED7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95700"/>
            <a:ext cx="4610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can move both metrics together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9230C4E-A89A-4DA5-A2F3-22DF09616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865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7E180B5-F6A7-4A02-ADE9-EB6AF34F1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6429375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 2026 Stellarator Optimization, Rogerio Jorge, UW-Madison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3FFDB9A-B55E-40C1-A4C8-2947756D6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6429375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optimization workflow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0232694-5058-4FC3-AF50-087341866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29375"/>
            <a:ext cx="3143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F74091F-DEFF-4537-9CEB-F56B5A52E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37</a:t>
            </a:r>
          </a:p>
        </p:txBody>
      </p:sp>
    </p:spTree>
    <p:extLst>
      <p:ext uri="{BB962C8B-B14F-4D97-AF65-F5344CB8AC3E}">
        <p14:creationId xmlns:p14="http://schemas.microsoft.com/office/powerpoint/2010/main" val="2138042467"/>
      </p:ext>
    </p:extLst>
  </p:cSld>
</p:sld>
</file>

<file path=ppt/slides/slide3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50B5D7A-EBDC-40D4-963A-99D4BD5B9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B483FA0-4025-493A-85E4-F4403A7FA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6E423B8-3B1E-41DA-BB5B-778829BFA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0"/>
            <a:ext cx="457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f9c06edb91f43a9"/>
          <a:stretch xmlns:a="http://schemas.openxmlformats.org/drawingml/2006/main"/>
        </p:blipFill>
        <p:spPr>
          <a:xfrm xmlns:a="http://schemas.openxmlformats.org/drawingml/2006/main">
            <a:off x="11487150" y="133196"/>
            <a:ext cx="266700" cy="419407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F6D0D5-2FD6-46ED-B59A-63F903E0D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714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Lecture 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D66CF6-9D51-4607-AF3E-C7CEEEEE7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78105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defRPr>
            </a:pPr>
            <a:r>
              <a:rPr sz="4050" b="1">
                <a:solidFill>
                  <a:srgbClr val="2B2B2B"/>
                </a:solidFill>
                <a:latin typeface="Aptos Display"/>
                <a:ea typeface="Aptos Display"/>
                <a:cs typeface="Aptos Display"/>
              </a:rPr>
              <a:t>What to remember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39C31F-2CE1-439C-805D-883E59463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628900"/>
            <a:ext cx="8763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0643BF-8A29-4CAE-A29F-A55F1C167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3623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997E59B-365F-4124-9CBF-C866D2DDB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257550"/>
            <a:ext cx="7810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Keep the scientific object and the computed artifact together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D3FFB87-B6C9-46E1-B25B-245068FFA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95287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9D522C9-0785-4682-AAE8-88D8B4EF6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848100"/>
            <a:ext cx="7810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Rerun, perturb, compare, and explain before trusting the optimum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5E4BCA0-0D17-43FD-8CBC-BA774247D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543425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C244A76-658D-4D4F-BE0F-E47CCE46A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438650"/>
            <a:ext cx="7810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7620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Docs: https://sos2026-rjorge-stellarator-optimization.readthedocs.io/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0A2D220-6208-4032-A313-2E7E83746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829300"/>
            <a:ext cx="7734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05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60C5654-AC91-4117-A680-421DA5E74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57900"/>
            <a:ext cx="7810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Repo lab handoff: rerun, perturb, compare, explain.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1D4B8AA-2A6A-4A3D-A097-AB5293B33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5810250"/>
            <a:ext cx="2857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github.com/rogeriojorge/sos2026-rjorge-stellarator-optimization</a:t>
            </a:r>
          </a:p>
          <a:p xmlns:a="http://schemas.openxmlformats.org/drawingml/2006/main">
            <a:pPr algn="r">
              <a:defRPr sz="975" b="0">
                <a:solidFill>
                  <a:srgbClr val="64656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46569"/>
                </a:solidFill>
                <a:latin typeface="Aptos"/>
                <a:ea typeface="Aptos"/>
                <a:cs typeface="Aptos"/>
              </a:rPr>
              <a:t>sos2026-rjorge-stellarator-optimization.readthedocs.io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2C1436B-E437-4DEA-BBA5-324847BB3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477000"/>
            <a:ext cx="857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6F6F6F"/>
                </a:solidFill>
                <a:latin typeface="Aptos"/>
                <a:ea typeface="Aptos"/>
                <a:cs typeface="Aptos"/>
              </a:defRPr>
            </a:pPr>
            <a:r>
              <a:rPr sz="600" b="0">
                <a:solidFill>
                  <a:srgbClr val="6F6F6F"/>
                </a:solidFill>
                <a:latin typeface="Aptos"/>
                <a:ea typeface="Aptos"/>
                <a:cs typeface="Aptos"/>
              </a:rPr>
              <a:t>Slide 38</a:t>
            </a:r>
          </a:p>
        </p:txBody>
      </p:sp>
    </p:spTree>
    <p:extLst>
      <p:ext uri="{BB962C8B-B14F-4D97-AF65-F5344CB8AC3E}">
        <p14:creationId xmlns:p14="http://schemas.microsoft.com/office/powerpoint/2010/main" val="86499783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2026-05-24T12:47:46.1520000Z</dcterms:created>
  <dcterms:modified xsi:type="dcterms:W3CDTF">2026-05-24T12:47:46.1520000Z</dcterms:modified>
</coreProperties>
</file>