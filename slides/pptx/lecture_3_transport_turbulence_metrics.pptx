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4a0d7e9914fb9" /><Relationship Type="http://schemas.openxmlformats.org/officeDocument/2006/relationships/extended-properties" Target="/docProps/app.xml" Id="R68e1b99c504240b6" /><Relationship Type="http://schemas.openxmlformats.org/officeDocument/2006/relationships/officeDocument" Target="/ppt/presentation.xml" Id="R5a4c4f225e13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472f15a9244952"/>
  </p:sldMasterIdLst>
  <p:notesMasterIdLst>
    <p:notesMasterId xmlns:r="http://schemas.openxmlformats.org/officeDocument/2006/relationships" r:id="R2f81460ad61d4e1f"/>
  </p:notesMasterIdLst>
  <p:sldIdLst>
    <p:sldId xmlns:r="http://schemas.openxmlformats.org/officeDocument/2006/relationships" id="256" r:id="Rb5b64171a0f24c5e"/>
    <p:sldId xmlns:r="http://schemas.openxmlformats.org/officeDocument/2006/relationships" id="257" r:id="Rb16272cf6de541c4"/>
    <p:sldId xmlns:r="http://schemas.openxmlformats.org/officeDocument/2006/relationships" id="258" r:id="Rceef3b72189743d9"/>
    <p:sldId xmlns:r="http://schemas.openxmlformats.org/officeDocument/2006/relationships" id="259" r:id="R36855aaa53be4dfb"/>
    <p:sldId xmlns:r="http://schemas.openxmlformats.org/officeDocument/2006/relationships" id="260" r:id="Rc77c756591d64dad"/>
    <p:sldId xmlns:r="http://schemas.openxmlformats.org/officeDocument/2006/relationships" id="261" r:id="R103af9c4ffea4469"/>
    <p:sldId xmlns:r="http://schemas.openxmlformats.org/officeDocument/2006/relationships" id="262" r:id="R62d4d1b6676641e2"/>
    <p:sldId xmlns:r="http://schemas.openxmlformats.org/officeDocument/2006/relationships" id="263" r:id="R784616eff4714eb7"/>
    <p:sldId xmlns:r="http://schemas.openxmlformats.org/officeDocument/2006/relationships" id="264" r:id="Rdb876c6050754f59"/>
    <p:sldId xmlns:r="http://schemas.openxmlformats.org/officeDocument/2006/relationships" id="265" r:id="Rbb07719e2d494a84"/>
    <p:sldId xmlns:r="http://schemas.openxmlformats.org/officeDocument/2006/relationships" id="266" r:id="Rdd5b6eff3f444239"/>
    <p:sldId xmlns:r="http://schemas.openxmlformats.org/officeDocument/2006/relationships" id="267" r:id="R9db3096a1e1a49ce"/>
    <p:sldId xmlns:r="http://schemas.openxmlformats.org/officeDocument/2006/relationships" id="268" r:id="R8b4329d708b4489a"/>
    <p:sldId xmlns:r="http://schemas.openxmlformats.org/officeDocument/2006/relationships" id="269" r:id="R17dfc99454444789"/>
    <p:sldId xmlns:r="http://schemas.openxmlformats.org/officeDocument/2006/relationships" id="270" r:id="Radfea49b4ea54f89"/>
    <p:sldId xmlns:r="http://schemas.openxmlformats.org/officeDocument/2006/relationships" id="271" r:id="R74d284a683df4040"/>
    <p:sldId xmlns:r="http://schemas.openxmlformats.org/officeDocument/2006/relationships" id="272" r:id="Re248ddbbef3c4004"/>
    <p:sldId xmlns:r="http://schemas.openxmlformats.org/officeDocument/2006/relationships" id="273" r:id="Rae38d046b88e48a5"/>
    <p:sldId xmlns:r="http://schemas.openxmlformats.org/officeDocument/2006/relationships" id="274" r:id="R0ccd2fc578374d7e"/>
    <p:sldId xmlns:r="http://schemas.openxmlformats.org/officeDocument/2006/relationships" id="275" r:id="R75c65dea0e744d1b"/>
    <p:sldId xmlns:r="http://schemas.openxmlformats.org/officeDocument/2006/relationships" id="276" r:id="R84384b3427934d84"/>
    <p:sldId xmlns:r="http://schemas.openxmlformats.org/officeDocument/2006/relationships" id="277" r:id="Rfdb5d9f7a661480a"/>
    <p:sldId xmlns:r="http://schemas.openxmlformats.org/officeDocument/2006/relationships" id="278" r:id="Rce3c6ca2d65d4d37"/>
    <p:sldId xmlns:r="http://schemas.openxmlformats.org/officeDocument/2006/relationships" id="279" r:id="R980c55cd47d64b07"/>
    <p:sldId xmlns:r="http://schemas.openxmlformats.org/officeDocument/2006/relationships" id="280" r:id="R7ea81289f54443f8"/>
    <p:sldId xmlns:r="http://schemas.openxmlformats.org/officeDocument/2006/relationships" id="281" r:id="Rb05fcd0180434f9c"/>
    <p:sldId xmlns:r="http://schemas.openxmlformats.org/officeDocument/2006/relationships" id="282" r:id="R401d7a65b5a24f7d"/>
    <p:sldId xmlns:r="http://schemas.openxmlformats.org/officeDocument/2006/relationships" id="283" r:id="R00d4cb1b5a834024"/>
    <p:sldId xmlns:r="http://schemas.openxmlformats.org/officeDocument/2006/relationships" id="284" r:id="R95da29c552d44a00"/>
    <p:sldId xmlns:r="http://schemas.openxmlformats.org/officeDocument/2006/relationships" id="285" r:id="Ra266822f61bd491d"/>
    <p:sldId xmlns:r="http://schemas.openxmlformats.org/officeDocument/2006/relationships" id="286" r:id="R6e4c1c7cbe4848ad"/>
    <p:sldId xmlns:r="http://schemas.openxmlformats.org/officeDocument/2006/relationships" id="287" r:id="Rcf626b71212f49d0"/>
    <p:sldId xmlns:r="http://schemas.openxmlformats.org/officeDocument/2006/relationships" id="288" r:id="R894e47dc576445d6"/>
    <p:sldId xmlns:r="http://schemas.openxmlformats.org/officeDocument/2006/relationships" id="289" r:id="Rf09959170c294fa7"/>
    <p:sldId xmlns:r="http://schemas.openxmlformats.org/officeDocument/2006/relationships" id="290" r:id="R2db1cc2ec87e4d0e"/>
    <p:sldId xmlns:r="http://schemas.openxmlformats.org/officeDocument/2006/relationships" id="291" r:id="Rdd828a33d0c94c2a"/>
    <p:sldId xmlns:r="http://schemas.openxmlformats.org/officeDocument/2006/relationships" id="292" r:id="R9b6c2d3bbf484322"/>
    <p:sldId xmlns:r="http://schemas.openxmlformats.org/officeDocument/2006/relationships" id="293" r:id="Re3240bb31b904965"/>
    <p:sldId xmlns:r="http://schemas.openxmlformats.org/officeDocument/2006/relationships" id="294" r:id="R443b936927f94452"/>
    <p:sldId xmlns:r="http://schemas.openxmlformats.org/officeDocument/2006/relationships" id="295" r:id="Rb7c51d575de84ca1"/>
    <p:sldId xmlns:r="http://schemas.openxmlformats.org/officeDocument/2006/relationships" id="296" r:id="Ra4131bf3d18743a4"/>
    <p:sldId xmlns:r="http://schemas.openxmlformats.org/officeDocument/2006/relationships" id="297" r:id="R052009ac03ce4cb9"/>
    <p:sldId xmlns:r="http://schemas.openxmlformats.org/officeDocument/2006/relationships" id="298" r:id="Rda7813e94a1e43b4"/>
    <p:sldId xmlns:r="http://schemas.openxmlformats.org/officeDocument/2006/relationships" id="299" r:id="R1ed2d669c3c845e6"/>
    <p:sldId xmlns:r="http://schemas.openxmlformats.org/officeDocument/2006/relationships" id="300" r:id="R5cb2f45bd8324c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72f15a9244952" /><Relationship Type="http://schemas.openxmlformats.org/officeDocument/2006/relationships/theme" Target="/ppt/theme/theme1.xml" Id="R0ec459c8ffe64569" /><Relationship Type="http://schemas.openxmlformats.org/officeDocument/2006/relationships/notesMaster" Target="/ppt/notesMasters/notesMaster1.xml" Id="R2f81460ad61d4e1f" /><Relationship Type="http://schemas.openxmlformats.org/officeDocument/2006/relationships/presProps" Target="/ppt/presProps.xml" Id="R20420cf088ae416b" /><Relationship Type="http://schemas.openxmlformats.org/officeDocument/2006/relationships/viewProps" Target="/ppt/viewProps.xml" Id="Re37f55d960b2458a" /><Relationship Type="http://schemas.openxmlformats.org/officeDocument/2006/relationships/tableStyles" Target="/ppt/tableStyles.xml" Id="R4f58e045e7e246f4" /><Relationship Type="http://schemas.openxmlformats.org/officeDocument/2006/relationships/slide" Target="/ppt/slides/slide1.xml" Id="Rb5b64171a0f24c5e" /><Relationship Type="http://schemas.openxmlformats.org/officeDocument/2006/relationships/slide" Target="/ppt/slides/slide2.xml" Id="Rb16272cf6de541c4" /><Relationship Type="http://schemas.openxmlformats.org/officeDocument/2006/relationships/slide" Target="/ppt/slides/slide3.xml" Id="Rceef3b72189743d9" /><Relationship Type="http://schemas.openxmlformats.org/officeDocument/2006/relationships/slide" Target="/ppt/slides/slide4.xml" Id="R36855aaa53be4dfb" /><Relationship Type="http://schemas.openxmlformats.org/officeDocument/2006/relationships/slide" Target="/ppt/slides/slide5.xml" Id="Rc77c756591d64dad" /><Relationship Type="http://schemas.openxmlformats.org/officeDocument/2006/relationships/slide" Target="/ppt/slides/slide6.xml" Id="R103af9c4ffea4469" /><Relationship Type="http://schemas.openxmlformats.org/officeDocument/2006/relationships/slide" Target="/ppt/slides/slide7.xml" Id="R62d4d1b6676641e2" /><Relationship Type="http://schemas.openxmlformats.org/officeDocument/2006/relationships/slide" Target="/ppt/slides/slide8.xml" Id="R784616eff4714eb7" /><Relationship Type="http://schemas.openxmlformats.org/officeDocument/2006/relationships/slide" Target="/ppt/slides/slide9.xml" Id="Rdb876c6050754f59" /><Relationship Type="http://schemas.openxmlformats.org/officeDocument/2006/relationships/slide" Target="/ppt/slides/slide10.xml" Id="Rbb07719e2d494a84" /><Relationship Type="http://schemas.openxmlformats.org/officeDocument/2006/relationships/slide" Target="/ppt/slides/slide11.xml" Id="Rdd5b6eff3f444239" /><Relationship Type="http://schemas.openxmlformats.org/officeDocument/2006/relationships/slide" Target="/ppt/slides/slide12.xml" Id="R9db3096a1e1a49ce" /><Relationship Type="http://schemas.openxmlformats.org/officeDocument/2006/relationships/slide" Target="/ppt/slides/slide13.xml" Id="R8b4329d708b4489a" /><Relationship Type="http://schemas.openxmlformats.org/officeDocument/2006/relationships/slide" Target="/ppt/slides/slide14.xml" Id="R17dfc99454444789" /><Relationship Type="http://schemas.openxmlformats.org/officeDocument/2006/relationships/slide" Target="/ppt/slides/slide15.xml" Id="Radfea49b4ea54f89" /><Relationship Type="http://schemas.openxmlformats.org/officeDocument/2006/relationships/slide" Target="/ppt/slides/slide16.xml" Id="R74d284a683df4040" /><Relationship Type="http://schemas.openxmlformats.org/officeDocument/2006/relationships/slide" Target="/ppt/slides/slide17.xml" Id="Re248ddbbef3c4004" /><Relationship Type="http://schemas.openxmlformats.org/officeDocument/2006/relationships/slide" Target="/ppt/slides/slide18.xml" Id="Rae38d046b88e48a5" /><Relationship Type="http://schemas.openxmlformats.org/officeDocument/2006/relationships/slide" Target="/ppt/slides/slide19.xml" Id="R0ccd2fc578374d7e" /><Relationship Type="http://schemas.openxmlformats.org/officeDocument/2006/relationships/slide" Target="/ppt/slides/slide20.xml" Id="R75c65dea0e744d1b" /><Relationship Type="http://schemas.openxmlformats.org/officeDocument/2006/relationships/slide" Target="/ppt/slides/slide21.xml" Id="R84384b3427934d84" /><Relationship Type="http://schemas.openxmlformats.org/officeDocument/2006/relationships/slide" Target="/ppt/slides/slide22.xml" Id="Rfdb5d9f7a661480a" /><Relationship Type="http://schemas.openxmlformats.org/officeDocument/2006/relationships/slide" Target="/ppt/slides/slide23.xml" Id="Rce3c6ca2d65d4d37" /><Relationship Type="http://schemas.openxmlformats.org/officeDocument/2006/relationships/slide" Target="/ppt/slides/slide24.xml" Id="R980c55cd47d64b07" /><Relationship Type="http://schemas.openxmlformats.org/officeDocument/2006/relationships/slide" Target="/ppt/slides/slide25.xml" Id="R7ea81289f54443f8" /><Relationship Type="http://schemas.openxmlformats.org/officeDocument/2006/relationships/slide" Target="/ppt/slides/slide26.xml" Id="Rb05fcd0180434f9c" /><Relationship Type="http://schemas.openxmlformats.org/officeDocument/2006/relationships/slide" Target="/ppt/slides/slide27.xml" Id="R401d7a65b5a24f7d" /><Relationship Type="http://schemas.openxmlformats.org/officeDocument/2006/relationships/slide" Target="/ppt/slides/slide28.xml" Id="R00d4cb1b5a834024" /><Relationship Type="http://schemas.openxmlformats.org/officeDocument/2006/relationships/slide" Target="/ppt/slides/slide29.xml" Id="R95da29c552d44a00" /><Relationship Type="http://schemas.openxmlformats.org/officeDocument/2006/relationships/slide" Target="/ppt/slides/slide30.xml" Id="Ra266822f61bd491d" /><Relationship Type="http://schemas.openxmlformats.org/officeDocument/2006/relationships/slide" Target="/ppt/slides/slide31.xml" Id="R6e4c1c7cbe4848ad" /><Relationship Type="http://schemas.openxmlformats.org/officeDocument/2006/relationships/slide" Target="/ppt/slides/slide32.xml" Id="Rcf626b71212f49d0" /><Relationship Type="http://schemas.openxmlformats.org/officeDocument/2006/relationships/slide" Target="/ppt/slides/slide33.xml" Id="R894e47dc576445d6" /><Relationship Type="http://schemas.openxmlformats.org/officeDocument/2006/relationships/slide" Target="/ppt/slides/slide34.xml" Id="Rf09959170c294fa7" /><Relationship Type="http://schemas.openxmlformats.org/officeDocument/2006/relationships/slide" Target="/ppt/slides/slide35.xml" Id="R2db1cc2ec87e4d0e" /><Relationship Type="http://schemas.openxmlformats.org/officeDocument/2006/relationships/slide" Target="/ppt/slides/slide36.xml" Id="Rdd828a33d0c94c2a" /><Relationship Type="http://schemas.openxmlformats.org/officeDocument/2006/relationships/slide" Target="/ppt/slides/slide37.xml" Id="R9b6c2d3bbf484322" /><Relationship Type="http://schemas.openxmlformats.org/officeDocument/2006/relationships/slide" Target="/ppt/slides/slide38.xml" Id="Re3240bb31b904965" /><Relationship Type="http://schemas.openxmlformats.org/officeDocument/2006/relationships/slide" Target="/ppt/slides/slide39.xml" Id="R443b936927f94452" /><Relationship Type="http://schemas.openxmlformats.org/officeDocument/2006/relationships/slide" Target="/ppt/slides/slide40.xml" Id="Rb7c51d575de84ca1" /><Relationship Type="http://schemas.openxmlformats.org/officeDocument/2006/relationships/slide" Target="/ppt/slides/slide41.xml" Id="Ra4131bf3d18743a4" /><Relationship Type="http://schemas.openxmlformats.org/officeDocument/2006/relationships/slide" Target="/ppt/slides/slide42.xml" Id="R052009ac03ce4cb9" /><Relationship Type="http://schemas.openxmlformats.org/officeDocument/2006/relationships/slide" Target="/ppt/slides/slide43.xml" Id="Rda7813e94a1e43b4" /><Relationship Type="http://schemas.openxmlformats.org/officeDocument/2006/relationships/slide" Target="/ppt/slides/slide44.xml" Id="R1ed2d669c3c845e6" /><Relationship Type="http://schemas.openxmlformats.org/officeDocument/2006/relationships/slide" Target="/ppt/slides/slide45.xml" Id="R5cb2f45bd832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00e9c0e3834c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9744015ee4697" /><Relationship Type="http://schemas.openxmlformats.org/officeDocument/2006/relationships/notesMaster" Target="/ppt/notesMasters/notesMaster1.xml" Id="R6966333dc44b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7918feb9584caa" /><Relationship Type="http://schemas.openxmlformats.org/officeDocument/2006/relationships/notesMaster" Target="/ppt/notesMasters/notesMaster1.xml" Id="R60be071829f84d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5fe3a4e1f46c5" /><Relationship Type="http://schemas.openxmlformats.org/officeDocument/2006/relationships/notesMaster" Target="/ppt/notesMasters/notesMaster1.xml" Id="R57c81e8710f048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eed0ac6c74ddb" /><Relationship Type="http://schemas.openxmlformats.org/officeDocument/2006/relationships/notesMaster" Target="/ppt/notesMasters/notesMaster1.xml" Id="R46145b60c9de42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c6c9ff2ee74580" /><Relationship Type="http://schemas.openxmlformats.org/officeDocument/2006/relationships/notesMaster" Target="/ppt/notesMasters/notesMaster1.xml" Id="R6ebab0c4222b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c633ce29f4a11" /><Relationship Type="http://schemas.openxmlformats.org/officeDocument/2006/relationships/notesMaster" Target="/ppt/notesMasters/notesMaster1.xml" Id="R9f531707e21145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e307f485084b1e" /><Relationship Type="http://schemas.openxmlformats.org/officeDocument/2006/relationships/notesMaster" Target="/ppt/notesMasters/notesMaster1.xml" Id="R24f4c7a48215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8aa79b48fe4148" /><Relationship Type="http://schemas.openxmlformats.org/officeDocument/2006/relationships/notesMaster" Target="/ppt/notesMasters/notesMaster1.xml" Id="Rf6fc76178203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8ac2ed89cc4f28" /><Relationship Type="http://schemas.openxmlformats.org/officeDocument/2006/relationships/notesMaster" Target="/ppt/notesMasters/notesMaster1.xml" Id="Rbbe199fe497e4d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ee107abf314794" /><Relationship Type="http://schemas.openxmlformats.org/officeDocument/2006/relationships/notesMaster" Target="/ppt/notesMasters/notesMaster1.xml" Id="R051432bb20024a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f0eb4e3f3a4c6b" /><Relationship Type="http://schemas.openxmlformats.org/officeDocument/2006/relationships/notesMaster" Target="/ppt/notesMasters/notesMaster1.xml" Id="Rf6c0bc0a24ee4b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1a21810742422d" /><Relationship Type="http://schemas.openxmlformats.org/officeDocument/2006/relationships/notesMaster" Target="/ppt/notesMasters/notesMaster1.xml" Id="R93d0749f21784f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0ccea18ce54c90" /><Relationship Type="http://schemas.openxmlformats.org/officeDocument/2006/relationships/notesMaster" Target="/ppt/notesMasters/notesMaster1.xml" Id="R9a962f13a65549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fcb52001704128" /><Relationship Type="http://schemas.openxmlformats.org/officeDocument/2006/relationships/notesMaster" Target="/ppt/notesMasters/notesMaster1.xml" Id="R388aec5b825442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70efdf006e4822" /><Relationship Type="http://schemas.openxmlformats.org/officeDocument/2006/relationships/notesMaster" Target="/ppt/notesMasters/notesMaster1.xml" Id="R920b8fbee0f740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72e9a182fa4368" /><Relationship Type="http://schemas.openxmlformats.org/officeDocument/2006/relationships/notesMaster" Target="/ppt/notesMasters/notesMaster1.xml" Id="R9a5133bd46ba49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b3d329e6844db4" /><Relationship Type="http://schemas.openxmlformats.org/officeDocument/2006/relationships/notesMaster" Target="/ppt/notesMasters/notesMaster1.xml" Id="R3ca0a3e8f4f54e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9a4d2af7a94de3" /><Relationship Type="http://schemas.openxmlformats.org/officeDocument/2006/relationships/notesMaster" Target="/ppt/notesMasters/notesMaster1.xml" Id="R3c7e0866d17f4c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f16030af484269" /><Relationship Type="http://schemas.openxmlformats.org/officeDocument/2006/relationships/notesMaster" Target="/ppt/notesMasters/notesMaster1.xml" Id="R492ff8f73e9f4c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3649e8cdf34de7" /><Relationship Type="http://schemas.openxmlformats.org/officeDocument/2006/relationships/notesMaster" Target="/ppt/notesMasters/notesMaster1.xml" Id="R501645c33f9e4a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80a560b6be4721" /><Relationship Type="http://schemas.openxmlformats.org/officeDocument/2006/relationships/notesMaster" Target="/ppt/notesMasters/notesMaster1.xml" Id="Rcef9266ef8484a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4099ce0a8b496a" /><Relationship Type="http://schemas.openxmlformats.org/officeDocument/2006/relationships/notesMaster" Target="/ppt/notesMasters/notesMaster1.xml" Id="Rf7dc498d26de41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7042341ca64c25" /><Relationship Type="http://schemas.openxmlformats.org/officeDocument/2006/relationships/notesMaster" Target="/ppt/notesMasters/notesMaster1.xml" Id="R2d30f2663fe24e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667a23c7bba45d6" /><Relationship Type="http://schemas.openxmlformats.org/officeDocument/2006/relationships/notesMaster" Target="/ppt/notesMasters/notesMaster1.xml" Id="Rab88cb7c02634b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25557351b9430e" /><Relationship Type="http://schemas.openxmlformats.org/officeDocument/2006/relationships/notesMaster" Target="/ppt/notesMasters/notesMaster1.xml" Id="Rc080778d81da4d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bb7273f5d364c92" /><Relationship Type="http://schemas.openxmlformats.org/officeDocument/2006/relationships/notesMaster" Target="/ppt/notesMasters/notesMaster1.xml" Id="R9e012174b6ec4bd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07b39de5b14065" /><Relationship Type="http://schemas.openxmlformats.org/officeDocument/2006/relationships/notesMaster" Target="/ppt/notesMasters/notesMaster1.xml" Id="Rbed79aa4028045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57b86828104a7a" /><Relationship Type="http://schemas.openxmlformats.org/officeDocument/2006/relationships/notesMaster" Target="/ppt/notesMasters/notesMaster1.xml" Id="Rfaa353c99f5d4f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72a071309ea4340" /><Relationship Type="http://schemas.openxmlformats.org/officeDocument/2006/relationships/notesMaster" Target="/ppt/notesMasters/notesMaster1.xml" Id="Reaeebf16c4a3498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3485267f3649ed" /><Relationship Type="http://schemas.openxmlformats.org/officeDocument/2006/relationships/notesMaster" Target="/ppt/notesMasters/notesMaster1.xml" Id="R688dccfe8c8841e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26f3429fdd45b8" /><Relationship Type="http://schemas.openxmlformats.org/officeDocument/2006/relationships/notesMaster" Target="/ppt/notesMasters/notesMaster1.xml" Id="Ra0bbb821e869425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85bb87b2794ea1" /><Relationship Type="http://schemas.openxmlformats.org/officeDocument/2006/relationships/notesMaster" Target="/ppt/notesMasters/notesMaster1.xml" Id="Rc07e16692937499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62f602cdb8f4399" /><Relationship Type="http://schemas.openxmlformats.org/officeDocument/2006/relationships/notesMaster" Target="/ppt/notesMasters/notesMaster1.xml" Id="R9cd8d717bef8476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b5f5386bf64d34" /><Relationship Type="http://schemas.openxmlformats.org/officeDocument/2006/relationships/notesMaster" Target="/ppt/notesMasters/notesMaster1.xml" Id="Rbacc8921782946f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1379eddae44a64" /><Relationship Type="http://schemas.openxmlformats.org/officeDocument/2006/relationships/notesMaster" Target="/ppt/notesMasters/notesMaster1.xml" Id="R8fafde68c9cd4ed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d4aa016ae644358" /><Relationship Type="http://schemas.openxmlformats.org/officeDocument/2006/relationships/notesMaster" Target="/ppt/notesMasters/notesMaster1.xml" Id="R9d12b4086df142e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de8de1b6034a0e" /><Relationship Type="http://schemas.openxmlformats.org/officeDocument/2006/relationships/notesMaster" Target="/ppt/notesMasters/notesMaster1.xml" Id="Rf5e2646e175c4d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40405752ad84f0e" /><Relationship Type="http://schemas.openxmlformats.org/officeDocument/2006/relationships/notesMaster" Target="/ppt/notesMasters/notesMaster1.xml" Id="R5fb1e84c9eb24c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42b8fa8db294942" /><Relationship Type="http://schemas.openxmlformats.org/officeDocument/2006/relationships/notesMaster" Target="/ppt/notesMasters/notesMaster1.xml" Id="Rc7d872a6ab4848b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1607c969cd42bb" /><Relationship Type="http://schemas.openxmlformats.org/officeDocument/2006/relationships/notesMaster" Target="/ppt/notesMasters/notesMaster1.xml" Id="Rcf3eb3a54ece41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a03a93b93444325" /><Relationship Type="http://schemas.openxmlformats.org/officeDocument/2006/relationships/notesMaster" Target="/ppt/notesMasters/notesMaster1.xml" Id="Rc70e44928c9f4c0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c8669a56b84e66" /><Relationship Type="http://schemas.openxmlformats.org/officeDocument/2006/relationships/notesMaster" Target="/ppt/notesMasters/notesMaster1.xml" Id="R2b6bd7fb4f42460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5f56e610fec458d" /><Relationship Type="http://schemas.openxmlformats.org/officeDocument/2006/relationships/notesMaster" Target="/ppt/notesMasters/notesMaster1.xml" Id="Re36431565c374b3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b80e9be61364243" /><Relationship Type="http://schemas.openxmlformats.org/officeDocument/2006/relationships/notesMaster" Target="/ppt/notesMasters/notesMaster1.xml" Id="Rb0da93bd8054448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d0a8bf447c84990" /><Relationship Type="http://schemas.openxmlformats.org/officeDocument/2006/relationships/notesMaster" Target="/ppt/notesMasters/notesMaster1.xml" Id="Rc703ff35e56e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5eac4d73d4d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a37e7da6c88443f" /><Relationship Type="http://schemas.openxmlformats.org/officeDocument/2006/relationships/slideLayout" Target="/ppt/slideLayouts/slideLayout2.xml" Id="R060016ec6aac4f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016ec6aac4f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ccba010fe4435" /><Relationship Type="http://schemas.openxmlformats.org/officeDocument/2006/relationships/image" Target="/ppt/media/image.png" Id="R750f49daf433458b" /><Relationship Type="http://schemas.openxmlformats.org/officeDocument/2006/relationships/image" Target="/ppt/media/image2.png" Id="R7a00dfb21883405a" /><Relationship Type="http://schemas.openxmlformats.org/officeDocument/2006/relationships/notesSlide" Target="/ppt/notesSlides/notesSlide1.xml" Id="R8a1aef4b7aec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9853db34014837" /><Relationship Type="http://schemas.openxmlformats.org/officeDocument/2006/relationships/image" Target="/ppt/media/image3.png" Id="R834c5272bb2242aa" /><Relationship Type="http://schemas.openxmlformats.org/officeDocument/2006/relationships/notesSlide" Target="/ppt/notesSlides/notesSlide2.xml" Id="Raeffef24fd1e4d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675f4db294fdc" /><Relationship Type="http://schemas.openxmlformats.org/officeDocument/2006/relationships/image" Target="/ppt/media/image4.png" Id="Rd2491cf3e3ef467e" /><Relationship Type="http://schemas.openxmlformats.org/officeDocument/2006/relationships/notesSlide" Target="/ppt/notesSlides/notesSlide3.xml" Id="R7a14be4b14dd42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6166c9af347bb" /><Relationship Type="http://schemas.openxmlformats.org/officeDocument/2006/relationships/image" Target="/ppt/media/image5.png" Id="Re490d64c583f43fd" /><Relationship Type="http://schemas.openxmlformats.org/officeDocument/2006/relationships/notesSlide" Target="/ppt/notesSlides/notesSlide4.xml" Id="Rff35b773f684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8eedd449047c4" /><Relationship Type="http://schemas.openxmlformats.org/officeDocument/2006/relationships/image" Target="/ppt/media/image6.png" Id="R9e9bab510ee94d95" /><Relationship Type="http://schemas.openxmlformats.org/officeDocument/2006/relationships/image" Target="/ppt/media/image7.png" Id="R124dcb3cc92b4c88" /><Relationship Type="http://schemas.openxmlformats.org/officeDocument/2006/relationships/notesSlide" Target="/ppt/notesSlides/notesSlide5.xml" Id="R2074a5c04b4942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d22511fd4412c" /><Relationship Type="http://schemas.openxmlformats.org/officeDocument/2006/relationships/image" Target="/ppt/media/image8.png" Id="R08c2eb09d1674804" /><Relationship Type="http://schemas.openxmlformats.org/officeDocument/2006/relationships/notesSlide" Target="/ppt/notesSlides/notesSlide6.xml" Id="R80ae761e739745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1cacb74a448f1" /><Relationship Type="http://schemas.openxmlformats.org/officeDocument/2006/relationships/image" Target="/ppt/media/image9.png" Id="R494540a0cc184274" /><Relationship Type="http://schemas.openxmlformats.org/officeDocument/2006/relationships/notesSlide" Target="/ppt/notesSlides/notesSlide7.xml" Id="R6956af7837b24b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ed8ba940b8467d" /><Relationship Type="http://schemas.openxmlformats.org/officeDocument/2006/relationships/image" Target="/ppt/media/image10.png" Id="Rad53c27422434151" /><Relationship Type="http://schemas.openxmlformats.org/officeDocument/2006/relationships/image" Target="/ppt/media/image11.png" Id="R8c4ff27969b84fe1" /><Relationship Type="http://schemas.openxmlformats.org/officeDocument/2006/relationships/notesSlide" Target="/ppt/notesSlides/notesSlide8.xml" Id="R42bd5b9b2e064c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f6c39e2104155" /><Relationship Type="http://schemas.openxmlformats.org/officeDocument/2006/relationships/image" Target="/ppt/media/image12.png" Id="R9f85a9316c0b4c00" /><Relationship Type="http://schemas.openxmlformats.org/officeDocument/2006/relationships/image" Target="/ppt/media/image13.png" Id="Re328ccfd5cf24911" /><Relationship Type="http://schemas.openxmlformats.org/officeDocument/2006/relationships/notesSlide" Target="/ppt/notesSlides/notesSlide9.xml" Id="R06f1d4a5350e40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2221080c54af2" /><Relationship Type="http://schemas.openxmlformats.org/officeDocument/2006/relationships/image" Target="/ppt/media/image14.png" Id="R411cfda823b74788" /><Relationship Type="http://schemas.openxmlformats.org/officeDocument/2006/relationships/image" Target="/ppt/media/image15.png" Id="R9c4cded4cd454e0e" /><Relationship Type="http://schemas.openxmlformats.org/officeDocument/2006/relationships/notesSlide" Target="/ppt/notesSlides/notesSlide10.xml" Id="R99c3539d0fb746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d5474fa99f4bac" /><Relationship Type="http://schemas.openxmlformats.org/officeDocument/2006/relationships/image" Target="/ppt/media/image16.png" Id="R426e41b4c5194dde" /><Relationship Type="http://schemas.openxmlformats.org/officeDocument/2006/relationships/notesSlide" Target="/ppt/notesSlides/notesSlide11.xml" Id="R7b8cced2cb4b46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364953f1644847" /><Relationship Type="http://schemas.openxmlformats.org/officeDocument/2006/relationships/image" Target="/ppt/media/image17.png" Id="R219657171a164a2b" /><Relationship Type="http://schemas.openxmlformats.org/officeDocument/2006/relationships/notesSlide" Target="/ppt/notesSlides/notesSlide12.xml" Id="R6c418a3f09d64e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545f2366c4725" /><Relationship Type="http://schemas.openxmlformats.org/officeDocument/2006/relationships/image" Target="/ppt/media/image18.png" Id="Rfc1a75c937924d9c" /><Relationship Type="http://schemas.openxmlformats.org/officeDocument/2006/relationships/notesSlide" Target="/ppt/notesSlides/notesSlide13.xml" Id="Rdea8db97787341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f91ab6cae4fdb" /><Relationship Type="http://schemas.openxmlformats.org/officeDocument/2006/relationships/image" Target="/ppt/media/image19.png" Id="Ra90794d9138e4735" /><Relationship Type="http://schemas.openxmlformats.org/officeDocument/2006/relationships/notesSlide" Target="/ppt/notesSlides/notesSlide14.xml" Id="Rabd227090de44d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cfc0c3c845477b" /><Relationship Type="http://schemas.openxmlformats.org/officeDocument/2006/relationships/image" Target="/ppt/media/image20.png" Id="R1a43ccd698d844c1" /><Relationship Type="http://schemas.openxmlformats.org/officeDocument/2006/relationships/image" Target="/ppt/media/image21.png" Id="R700c3a7b9b7c454d" /><Relationship Type="http://schemas.openxmlformats.org/officeDocument/2006/relationships/notesSlide" Target="/ppt/notesSlides/notesSlide15.xml" Id="R8589cd82ccaa4e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066cb9942a4c8d" /><Relationship Type="http://schemas.openxmlformats.org/officeDocument/2006/relationships/image" Target="/ppt/media/image22.png" Id="Rbe938c9592a144df" /><Relationship Type="http://schemas.openxmlformats.org/officeDocument/2006/relationships/image" Target="/ppt/media/image23.png" Id="Ra3c37bf096b24600" /><Relationship Type="http://schemas.openxmlformats.org/officeDocument/2006/relationships/notesSlide" Target="/ppt/notesSlides/notesSlide16.xml" Id="Redc683e247e647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bad7b87a245e4" /><Relationship Type="http://schemas.openxmlformats.org/officeDocument/2006/relationships/image" Target="/ppt/media/image24.png" Id="R01322b79d141482e" /><Relationship Type="http://schemas.openxmlformats.org/officeDocument/2006/relationships/notesSlide" Target="/ppt/notesSlides/notesSlide17.xml" Id="R1e7d31fa5679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6f1cb15c204fc0" /><Relationship Type="http://schemas.openxmlformats.org/officeDocument/2006/relationships/image" Target="/ppt/media/image25.png" Id="R48d1bb4af8514fdf" /><Relationship Type="http://schemas.openxmlformats.org/officeDocument/2006/relationships/image" Target="/ppt/media/image26.png" Id="Rcc9d766637094e71" /><Relationship Type="http://schemas.openxmlformats.org/officeDocument/2006/relationships/notesSlide" Target="/ppt/notesSlides/notesSlide18.xml" Id="Re8e83f5c095e42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c95f555774f87" /><Relationship Type="http://schemas.openxmlformats.org/officeDocument/2006/relationships/image" Target="/ppt/media/image27.png" Id="R037b55ef1d27435f" /><Relationship Type="http://schemas.openxmlformats.org/officeDocument/2006/relationships/image" Target="/ppt/media/image28.png" Id="Rf230bf292aa64280" /><Relationship Type="http://schemas.openxmlformats.org/officeDocument/2006/relationships/notesSlide" Target="/ppt/notesSlides/notesSlide19.xml" Id="R83f9daf0e9c040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2e558ad5a84e9f" /><Relationship Type="http://schemas.openxmlformats.org/officeDocument/2006/relationships/image" Target="/ppt/media/image29.png" Id="Rde2a1dd454d54ae4" /><Relationship Type="http://schemas.openxmlformats.org/officeDocument/2006/relationships/notesSlide" Target="/ppt/notesSlides/notesSlide20.xml" Id="R7598dbaf4d2141f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b93db1111e4d38" /><Relationship Type="http://schemas.openxmlformats.org/officeDocument/2006/relationships/image" Target="/ppt/media/image30.png" Id="Rdd2677a6cbde472c" /><Relationship Type="http://schemas.openxmlformats.org/officeDocument/2006/relationships/notesSlide" Target="/ppt/notesSlides/notesSlide21.xml" Id="R2e40f283288c4a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d6c31b3ad949c2" /><Relationship Type="http://schemas.openxmlformats.org/officeDocument/2006/relationships/image" Target="/ppt/media/image31.png" Id="Rf6ea4503ac764ea8" /><Relationship Type="http://schemas.openxmlformats.org/officeDocument/2006/relationships/notesSlide" Target="/ppt/notesSlides/notesSlide22.xml" Id="R771d2f38f5464b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c0eb5dda54cc0" /><Relationship Type="http://schemas.openxmlformats.org/officeDocument/2006/relationships/image" Target="/ppt/media/image32.png" Id="R08939de00c8d44fe" /><Relationship Type="http://schemas.openxmlformats.org/officeDocument/2006/relationships/notesSlide" Target="/ppt/notesSlides/notesSlide23.xml" Id="R1a488390986847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dc905afac486a" /><Relationship Type="http://schemas.openxmlformats.org/officeDocument/2006/relationships/image" Target="/ppt/media/image33.png" Id="R0635c42794f8402d" /><Relationship Type="http://schemas.openxmlformats.org/officeDocument/2006/relationships/notesSlide" Target="/ppt/notesSlides/notesSlide24.xml" Id="R89178cd20fb240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cb373ca364b78" /><Relationship Type="http://schemas.openxmlformats.org/officeDocument/2006/relationships/image" Target="/ppt/media/image34.png" Id="R53e7473de7eb4fbf" /><Relationship Type="http://schemas.openxmlformats.org/officeDocument/2006/relationships/notesSlide" Target="/ppt/notesSlides/notesSlide25.xml" Id="R99e6dd982eb346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d140a75934a60" /><Relationship Type="http://schemas.openxmlformats.org/officeDocument/2006/relationships/image" Target="/ppt/media/image35.png" Id="R4fa15f99d28a4a1f" /><Relationship Type="http://schemas.openxmlformats.org/officeDocument/2006/relationships/notesSlide" Target="/ppt/notesSlides/notesSlide26.xml" Id="R92612b1b9ed046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092eb9a44742ab" /><Relationship Type="http://schemas.openxmlformats.org/officeDocument/2006/relationships/image" Target="/ppt/media/image36.png" Id="R266e348e0859443b" /><Relationship Type="http://schemas.openxmlformats.org/officeDocument/2006/relationships/notesSlide" Target="/ppt/notesSlides/notesSlide27.xml" Id="R59d958d61ac3451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cbcee03f7b40db" /><Relationship Type="http://schemas.openxmlformats.org/officeDocument/2006/relationships/image" Target="/ppt/media/image37.png" Id="R4a50b31063b543b3" /><Relationship Type="http://schemas.openxmlformats.org/officeDocument/2006/relationships/notesSlide" Target="/ppt/notesSlides/notesSlide28.xml" Id="R8e6b56f839664be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af968e2760491f" /><Relationship Type="http://schemas.openxmlformats.org/officeDocument/2006/relationships/image" Target="/ppt/media/image38.png" Id="Rf3862706718b49e3" /><Relationship Type="http://schemas.openxmlformats.org/officeDocument/2006/relationships/notesSlide" Target="/ppt/notesSlides/notesSlide29.xml" Id="R4ab1dab6f3da467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3816cbdda24827" /><Relationship Type="http://schemas.openxmlformats.org/officeDocument/2006/relationships/image" Target="/ppt/media/image39.png" Id="R41f559335aac4bbd" /><Relationship Type="http://schemas.openxmlformats.org/officeDocument/2006/relationships/notesSlide" Target="/ppt/notesSlides/notesSlide30.xml" Id="R2c6a3afe22c643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dda857c414f27" /><Relationship Type="http://schemas.openxmlformats.org/officeDocument/2006/relationships/image" Target="/ppt/media/image40.png" Id="R26ae7d1d1d5f48b4" /><Relationship Type="http://schemas.openxmlformats.org/officeDocument/2006/relationships/notesSlide" Target="/ppt/notesSlides/notesSlide31.xml" Id="R189942c6281b447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d72eb774af4d47" /><Relationship Type="http://schemas.openxmlformats.org/officeDocument/2006/relationships/image" Target="/ppt/media/image41.png" Id="R4a967fe1626447bc" /><Relationship Type="http://schemas.openxmlformats.org/officeDocument/2006/relationships/notesSlide" Target="/ppt/notesSlides/notesSlide32.xml" Id="R116998f2fb064d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a73ccc9654d05" /><Relationship Type="http://schemas.openxmlformats.org/officeDocument/2006/relationships/image" Target="/ppt/media/image42.png" Id="Rc90232530c0548a0" /><Relationship Type="http://schemas.openxmlformats.org/officeDocument/2006/relationships/notesSlide" Target="/ppt/notesSlides/notesSlide33.xml" Id="R9225157689f441b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e1840dc41e4a2b" /><Relationship Type="http://schemas.openxmlformats.org/officeDocument/2006/relationships/image" Target="/ppt/media/image43.png" Id="R3d125f91a99b4ebc" /><Relationship Type="http://schemas.openxmlformats.org/officeDocument/2006/relationships/notesSlide" Target="/ppt/notesSlides/notesSlide34.xml" Id="R956e7d79a61b4ad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8fbb8ced24af4" /><Relationship Type="http://schemas.openxmlformats.org/officeDocument/2006/relationships/image" Target="/ppt/media/image44.png" Id="R04b9dc8618124218" /><Relationship Type="http://schemas.openxmlformats.org/officeDocument/2006/relationships/notesSlide" Target="/ppt/notesSlides/notesSlide35.xml" Id="R7423923d0a584f5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5a138ee58d4254" /><Relationship Type="http://schemas.openxmlformats.org/officeDocument/2006/relationships/image" Target="/ppt/media/image45.png" Id="R8eed4806589248d0" /><Relationship Type="http://schemas.openxmlformats.org/officeDocument/2006/relationships/notesSlide" Target="/ppt/notesSlides/notesSlide36.xml" Id="R3b380133ebc0497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d6add090c4122" /><Relationship Type="http://schemas.openxmlformats.org/officeDocument/2006/relationships/image" Target="/ppt/media/image46.png" Id="R60047145c7bb4f24" /><Relationship Type="http://schemas.openxmlformats.org/officeDocument/2006/relationships/notesSlide" Target="/ppt/notesSlides/notesSlide37.xml" Id="Rfbda101be30643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2b7a9ac664f74" /><Relationship Type="http://schemas.openxmlformats.org/officeDocument/2006/relationships/image" Target="/ppt/media/image47.png" Id="Rac9068cc1d004b5d" /><Relationship Type="http://schemas.openxmlformats.org/officeDocument/2006/relationships/notesSlide" Target="/ppt/notesSlides/notesSlide38.xml" Id="Rf32965e2c67a40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63089632d4501" /><Relationship Type="http://schemas.openxmlformats.org/officeDocument/2006/relationships/image" Target="/ppt/media/image48.png" Id="R1e55dd95a2fe4c70" /><Relationship Type="http://schemas.openxmlformats.org/officeDocument/2006/relationships/notesSlide" Target="/ppt/notesSlides/notesSlide39.xml" Id="R76af65c0286940c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22b9249e704587" /><Relationship Type="http://schemas.openxmlformats.org/officeDocument/2006/relationships/image" Target="/ppt/media/image49.png" Id="R61b89badfffa4324" /><Relationship Type="http://schemas.openxmlformats.org/officeDocument/2006/relationships/notesSlide" Target="/ppt/notesSlides/notesSlide40.xml" Id="R27171a3b606340c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9ddb94a8244a9" /><Relationship Type="http://schemas.openxmlformats.org/officeDocument/2006/relationships/image" Target="/ppt/media/image50.png" Id="Rb58a9a676e0544de" /><Relationship Type="http://schemas.openxmlformats.org/officeDocument/2006/relationships/notesSlide" Target="/ppt/notesSlides/notesSlide41.xml" Id="Ref1b440558f14fb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867ae9b1343fb" /><Relationship Type="http://schemas.openxmlformats.org/officeDocument/2006/relationships/image" Target="/ppt/media/image51.png" Id="Rc2ee9a912be8444e" /><Relationship Type="http://schemas.openxmlformats.org/officeDocument/2006/relationships/notesSlide" Target="/ppt/notesSlides/notesSlide42.xml" Id="R3b33b5e9e54c4cb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36d1d05f59442f" /><Relationship Type="http://schemas.openxmlformats.org/officeDocument/2006/relationships/image" Target="/ppt/media/image52.png" Id="Rba1aa2559fd14b13" /><Relationship Type="http://schemas.openxmlformats.org/officeDocument/2006/relationships/notesSlide" Target="/ppt/notesSlides/notesSlide43.xml" Id="Re21e8bdb96a94f5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ed28d69ead4cc0" /><Relationship Type="http://schemas.openxmlformats.org/officeDocument/2006/relationships/image" Target="/ppt/media/image53.png" Id="R2ca93ef83c944192" /><Relationship Type="http://schemas.openxmlformats.org/officeDocument/2006/relationships/notesSlide" Target="/ppt/notesSlides/notesSlide44.xml" Id="Rf37fa8e8287345a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54f325586445f" /><Relationship Type="http://schemas.openxmlformats.org/officeDocument/2006/relationships/image" Target="/ppt/media/image54.png" Id="R8df42522cb6b4777" /><Relationship Type="http://schemas.openxmlformats.org/officeDocument/2006/relationships/notesSlide" Target="/ppt/notesSlides/notesSlide45.xml" Id="R27765655460c4c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C2DE8-2007-4D59-A05B-D2513366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58685-5564-4F33-9E31-CD63F36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f49daf433458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CB326-312B-4514-B582-8685382C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666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Transport physics becomes optimization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9A770-2481-4171-82DD-A56E63C6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27096-70C4-4C3A-92FC-11E1993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003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Lecture 3: neoclassical, turbulence, fast-particle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75AEA-E690-4FD3-96E2-EE0E0B71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60BC4-6FE3-4135-A018-E11F36AA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Neoclassical, turbulence, and fast particles enter as screens and validation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C5983-7FAC-4A80-9828-DF429AF3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E69F7-DC7D-4473-9C26-02AF4647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goal is to use the physics responsibly inside a design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3AF10-CBF1-4064-A7EA-5CCDF6E7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171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0dfb21883405a"/>
          <a:stretch xmlns:a="http://schemas.openxmlformats.org/drawingml/2006/main"/>
        </p:blipFill>
        <p:spPr>
          <a:xfrm xmlns:a="http://schemas.openxmlformats.org/drawingml/2006/main">
            <a:off x="7277100" y="1556419"/>
            <a:ext cx="3752850" cy="212591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918AC-40D1-4DB1-86B1-F6892651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7690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6DACC-4145-4012-9996-B9A73B6C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542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CEA-IRFM / Renaissance Fusion School on Stellarators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34EBD-56D1-4005-BF8B-FCC8609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Aix-en-Provence,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6CE1A-DFB6-48AA-8F7A-F09EBE0E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38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Rogerio Jorge, University of Wisconsin-Madison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5B17A-DD03-4CBA-BA0E-F90AC94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17899729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1FCD1-BE49-43E8-BAD4-EA8BEFD9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9FCA8-DAE3-4367-AF31-C951EC6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F34E7-3906-4CBF-B28F-8146CFF8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58C04-8546-4046-A88A-43F7553A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c5272bb2242a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6D88A-9096-479B-9EDC-20CC7DEE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E6EBE-ACF9-460D-9720-09EBF99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1. A hierarchy of transport calculations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6CFA6-DA04-42CC-8CB8-BD68C31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7DC24-C9B9-4458-9BDD-AD8BBCAD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93D6C-338A-49CE-A689-F31E384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Cheap screens remove poor designs early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6EE7D-4594-4C5A-84D9-2ABB5F5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5B13-B6F0-4E10-B9DD-1877EC8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Expensive calculations validate finalists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2AED1-A419-4FC2-91E4-6B6AE8E2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17C54-5864-4957-B06F-B73B15C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18311-2DCA-4247-A4D5-DD9EEC0C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D4BBB-13AF-4793-A50E-E00EB91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</p:spTree>
    <p:extLst>
      <p:ext uri="{BB962C8B-B14F-4D97-AF65-F5344CB8AC3E}">
        <p14:creationId xmlns:p14="http://schemas.microsoft.com/office/powerpoint/2010/main" val="19587199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F9185-FF85-4478-B3BB-5B8CE5E5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92AF-2866-4F83-A907-8558205F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91cf3e3ef467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87E2-7AD1-4939-B824-5F1D5EB5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Cost hierarchy for transport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DB59D-A783-47AC-9471-4BCDF8C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A76BD-6CD6-48F9-A9C1-57AEEFA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0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FC0E0-F0F1-4E8F-8151-E102F24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04287-D795-47A6-8206-E302291E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66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4BA1E-B70F-42DD-BB83-FC969B86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Geometry metrics are fast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F1E76-D71C-49B5-83A7-9825CB26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67ECE-D118-4BD9-BE5E-AF524EE4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14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9FC82-3D6D-47F4-BCC9-E39E403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9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74B61-965F-49FD-9FA6-76C4E6C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14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Boozer and effective-ripple metrics screen designs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C29E5-B684-4C9F-BF87-509A800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9A679-3CFE-4D81-A56D-9C361914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67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8A2B2-B201-4EBA-A589-8452647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71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A57A4-C77C-4EE5-8E88-70AACCBC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DKE, gyrokinetics, particles, and profiles validate finalists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F6309-EEE4-490A-AA36-36D1C87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Cost hierarchy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41342-9DB1-447F-977E-77394AA6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B08F3-1239-43CB-97A3-B736CEC7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66399-4A90-4887-83D6-CA69D6F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3B1B1-E10E-482E-A637-04F43597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</p:spTree>
    <p:extLst>
      <p:ext uri="{BB962C8B-B14F-4D97-AF65-F5344CB8AC3E}">
        <p14:creationId xmlns:p14="http://schemas.microsoft.com/office/powerpoint/2010/main" val="312531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B216D-3735-4178-A7A7-B250874D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9B11C-C748-45EB-A0C4-8FA9C85B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d64c583f43f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D2EBD-C4F7-42D2-8732-3FF12A2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Neoclassical recap for optimizers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B6065-75DC-4414-9737-E43B301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5C188-8F30-4015-BAE4-12D40446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2961C-390E-4E57-8E4C-413FC320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E80F5-8585-4ABA-A9F3-A6634FE1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5CB79-36DF-4135-96ED-F38FBDD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Symmetry breaking produces trapped-particle radial drifts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32BC9-A9CC-4CC7-9E03-388FF47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74BD1-A66C-4B7D-A7B3-0D7D7266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C9251-97EA-4305-943C-03F2C54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0AA3D-97A3-406F-B7C7-5D4FC6CF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Effective ripple compresses one transport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2A65B-4989-4A44-9ED8-A21E579A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255DE-4D25-4EDF-B0C5-FC144A46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F2767-71DB-4FBC-9CFD-79E8085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27171-E9DC-4725-AA20-8FDCABF0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Ambipolar electric fields and bootstrap current 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017E7-77F0-4094-AF2D-0BF61F83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08B3B-1771-44C2-84B9-832F3E35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6BE2A-664A-49C3-9CEA-3AF5F49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04F68-1D3F-4475-93CC-AC2AFAC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F7C87-5731-404B-9471-05EC9E9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EFBB9-2E3E-4447-9341-B98313D5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60E3D-DADD-42CD-8BF3-8C212E0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</p:spTree>
    <p:extLst>
      <p:ext uri="{BB962C8B-B14F-4D97-AF65-F5344CB8AC3E}">
        <p14:creationId xmlns:p14="http://schemas.microsoft.com/office/powerpoint/2010/main" val="9329373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AE5C7-1C18-41FC-8320-7C4D5DF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7C9BD-34DE-46AA-A3D5-FD143EAC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bab510ee94d95"/>
          <a:stretch xmlns:a="http://schemas.openxmlformats.org/drawingml/2006/main"/>
        </p:blipFill>
        <p:spPr>
          <a:xfrm xmlns:a="http://schemas.openxmlformats.org/drawingml/2006/main">
            <a:off x="639012" y="1790700"/>
            <a:ext cx="6627726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775D0-6AA2-4D44-BFDE-81B0115B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E769B-D90E-436D-84E8-A2FC748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C670E-E64E-48BC-8F11-AF06F5BE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Useful: fast, profile-like, interpretable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3F308-728E-4DD9-80A5-0513EF06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5FE1B-16C2-48E6-87D1-A78CC599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Limit: still followed by transport matrices or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FDDB-9267-45B3-B04D-1705C37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6745F-B677-487A-BA69-5449695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1EF2B-BBF3-4545-AC8E-253EEA4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dcb3cc92b4c8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38B28-7CC3-47B8-B394-F653EBF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effective ripple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E10BB-3CA3-49C4-A5BF-F1A04EEE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86AA8-AE4B-42CD-AF7A-51D0BD7C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F8489-FCB7-418C-8251-765AF138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F062-4310-43FC-8F08-FAFBF6D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522EB-BE87-4C11-B39A-0430EC2E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4000415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B407C-4392-467E-B0A6-3444509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85E57-3078-4F47-ACE0-EE88FF3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2eb09d167480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5BA95-C1F3-4233-83AF-64A9B8E0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NEO-JAX and SFINCS-JAX have different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C8754-A72A-4AB5-A484-0F7A430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D3C7C-162A-4529-A70D-E411BA96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30672-2961-4695-A3F4-01A0AA04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B8962-A825-4B8A-A827-3B4B584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B4027-7FCE-418D-9152-0EC9584E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C5EAD-4C02-4D1E-9441-E16A2422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4561A-ADC1-4988-8FD0-AF63AB55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2CDE9-0B7A-457F-9449-54992263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NEO_JAX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BE891-6F88-4BB7-89BE-859DA8DF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compact effective-ripple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32AE8-61DF-42DA-8776-675F083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0E4AE-74A0-4AAE-B22E-FDFC42FF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73261-6974-4F48-9E3A-D2FD4B03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SFINCS_JAX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257DB-B5E8-4E90-9896-6D96437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richer drift-kinetic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65477-66A3-4312-867E-22A5A84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F35FC-4CA2-43DD-B0EF-A827BAE5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0B7CB-614D-4459-B9A9-114287C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79D75-3E21-4217-BF5E-F94C507E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</p:spTree>
    <p:extLst>
      <p:ext uri="{BB962C8B-B14F-4D97-AF65-F5344CB8AC3E}">
        <p14:creationId xmlns:p14="http://schemas.microsoft.com/office/powerpoint/2010/main" val="19993729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21EBA-A461-43AD-9D08-E60F5935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392B0-005C-4706-8776-A93BD97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540a0cc18427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74810-8BD2-4E44-90BB-903B8B44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Notebook project: SFINCS-JAX cached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E4DCB-A5B8-49F6-9571-AFF21B7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F3FCC-42D1-490E-81F4-186360F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2F4CB-D919-4A44-ABA2-A4FF28F6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FE532-8510-4E75-83C7-105A0B59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FD0A2-F18F-41FF-9B0C-3F083C8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notebooks/07_sfincs_jax_neoclassical_cached.ipynb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BCA31-3248-44E0-9585-91CDB82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C9FFE-F198-4E62-B0F4-01E2D06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Read a collisionality 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18F7C-8CE5-46A2-8A98-842700A0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C82B9-5646-4F1D-8A65-6810E61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Inspect Er roots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B8C33-9A95-4136-AD0E-DE802D9E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3F336-5B01-49D2-9DA0-E88E4AB3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a bootstrap-current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A2684-A04F-4E7B-A3B8-CCCF775C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B6EA2-FDAE-42D3-AE27-B923494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4FF32-CE58-40BF-8D3C-74ABC856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F6472-0A54-4F2D-8C79-9B7EA1E0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B102C-18AB-4F27-99B0-32E50998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C5D4E-75E6-4B10-B4FC-D1CD750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E6384-601C-4465-9621-A14CC05F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6BAFA-A412-4792-9318-ED2903FC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D605B-2A99-42F2-BA0A-D04A1472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580F9-729E-4E06-85A8-D94F88D5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6B1983-BCEF-4230-B6F3-BAEE8BC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E9E7C-B8FF-4AF6-A381-95C3FF6A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49970-A0FB-47D0-AED5-D2452817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9A89F6-81D8-41A4-ABE2-E9C9D2BA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C6B19A-88B1-49BA-A13E-F285234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F397CF-FE1A-4912-A409-F123135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F7640-CD56-4855-87AB-14862AAA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DC474-59C4-48BF-A0B4-E957CCD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1110763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7FAE7-3C77-49A5-97A2-C9A3854A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6E1AC-B5C9-4EA9-ACCB-1781672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3c27422434151"/>
          <a:stretch xmlns:a="http://schemas.openxmlformats.org/drawingml/2006/main"/>
        </p:blipFill>
        <p:spPr>
          <a:xfrm xmlns:a="http://schemas.openxmlformats.org/drawingml/2006/main">
            <a:off x="906777" y="1790700"/>
            <a:ext cx="6092197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AAE68-C852-4938-BAF8-5FFEF75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D77CA-8947-4389-B7A3-BFCD473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26E2-9702-44A8-9DF0-1949AEDA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Transport coefficients change across 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593FD-11F8-4DDF-893D-B1729E4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CE344-1CAD-4FFB-B89F-1DD659B1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Suppression mechanisms are profile and field 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D120F-FC1E-44DB-80DF-65372C7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5B87-945F-43D4-AD4F-E4BC63BC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B6927-B0EF-4E75-A3F9-8B9B404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ff27969b84fe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899D7-7191-409F-89AA-D3C54705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cached neoclassical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2235F-E340-48D1-98C3-9D2F2212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D4B6F-5F0F-4B79-94A0-5AEDB11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065F3-AFE2-4D72-8F5A-D9CF626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D4C95-36E2-4733-992F-31D96B3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BDCE9-0BDF-455C-B937-ED0C403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15809388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19C8B-6C1E-4CDE-9F41-0D77E6A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FDD02-9B56-4F1F-BE4C-90468DC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5a9316c0b4c00"/>
          <a:stretch xmlns:a="http://schemas.openxmlformats.org/drawingml/2006/main"/>
        </p:blipFill>
        <p:spPr>
          <a:xfrm xmlns:a="http://schemas.openxmlformats.org/drawingml/2006/main">
            <a:off x="717556" y="1790700"/>
            <a:ext cx="6470639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45BC1-5FCF-4782-8544-EA43E75F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0FBD2-B82C-428F-8E9E-2A3A97F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051F1-A708-44C4-8DFB-43AA896D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Multiple roots can imply different impurity and turbulence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B22E3-4375-4686-A364-F1825D0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0DCD5-006C-49C3-A093-9491C39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Optimization records the root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A1ABF-0A6F-4C2F-8FEF-779B5070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B605E-1CF1-476D-8135-187742AD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F3803-A0C1-4E2F-A2A2-A0A545B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8ccfd5cf2491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F187B-3F2F-41FA-A9E4-8D6EE1B5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ambipolar Er roots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3D724-52D4-474A-8145-314C6B5A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B9281-91C8-4A4B-B1D3-DBB437BC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C279C-81F4-4A50-A3E7-88D0E713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9E0BC-AF0F-4B4C-BD32-8F15E4D3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E0600-E143-4223-9B38-265919E8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11138053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C74C5-49D9-41A2-9134-3391E21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D4E28-088D-46CE-A5D1-ED46675E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cfda823b74788"/>
          <a:stretch xmlns:a="http://schemas.openxmlformats.org/drawingml/2006/main"/>
        </p:blipFill>
        <p:spPr>
          <a:xfrm xmlns:a="http://schemas.openxmlformats.org/drawingml/2006/main">
            <a:off x="870196" y="1790700"/>
            <a:ext cx="6165357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49B98-9929-413B-ABF0-AF6A7209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0BACD-EDE5-4950-AFDD-25C78B9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458FA-8646-4D5D-BCD4-800D18A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Bootstrap current can change equilibrium and island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FADDA-1E4B-40B5-BE8E-E4EC96B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ED64E-254A-4D3B-B14B-345BBCC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It depends on profiles and collisionality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1E897-363E-487A-A478-CCC18277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A0D9F-DC50-4E18-B65E-A6FFEE85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F5A19-CD40-4922-8785-A123527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cded4cd454e0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69262-E7FA-44C9-A299-DB1D909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bootstrap-current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C6860-582E-4DCB-8BD3-FB2C71E1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0DC28-15E2-4A65-8BAA-E6ABA78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2D765-6D79-49D5-8AD1-22801ED1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9B8CE-1817-4C3C-9C19-3AFFF837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73694-E3DA-4D87-BA32-3983EC3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13591310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9179D-8CDA-41A8-A52E-D48A999B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620EF-199C-4FB9-939C-18B79C38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e41b4c5194dd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101E-192D-40CF-B5FB-B7792B6E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W7-X motivates neoclassical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5D998-4838-44E6-8B8A-28915CB2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00F7A-3167-46D2-8B89-1E4CD0B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110C7-88C9-49B3-989C-97B0B11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EE936-7020-4ADF-9867-B8D10E4A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E7308-660A-4675-AF9C-775D9B9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Reduced neoclassical losses are a stellarator-design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354E2-82E9-49E6-A65C-83938E1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CFE39-B7FA-423A-B3E1-AE0AA5DC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6C1AE-D784-40E8-AB82-F45025E2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CEFEB-E5B7-435F-B792-9C43E3B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next bottleneck can still be turbulence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3539D-4523-4884-BDDB-97169A9D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5A332-13DF-495B-B662-2200417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887C2-BE85-457F-B3EB-FCE0C304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D8842-871F-49B1-8C32-2A4143F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BD027-2FDF-4C61-9E68-F59B0774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6688C-9891-445F-916B-2047F82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6EFFD-8B0A-4149-A91B-B5B0614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7696642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B9660-BA6F-4B63-B7A6-427A9E0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EDEEE-D09D-4972-A476-C878903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8D975-787D-43D0-8E7F-AD392A60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4BDDB-811B-43CE-8574-7BE00421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657171a164a2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3ABF1-BF4D-4746-B0B7-8C6DCBE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08057-1BC1-4735-883B-25449CD0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2. Turbulence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8BBF7-FBCA-4138-B6B7-0CCB5AE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CCF9E-AF3C-4196-9A64-00FDA81E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E2580-6B44-4D4C-9CED-CAFCA930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linear calculations as early screens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C4D03-7660-47B0-8A80-72B1FF7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D5018-1477-4003-BF9D-EB848C49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Compare with nonlinear validation when rankings matter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29763-5DB2-424C-9502-65D691FE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CD647-0980-4A0B-A8CA-7042BD06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406D5-9D68-4BE6-AA32-13DAE9D2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96F94-B638-436F-A9C0-938697E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19681494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7DB3F-306D-461B-9031-1845A0DC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EE83F-4E6C-4A5B-AE01-E1942B3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a75c937924d9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89436-E260-44BB-BB86-C968D4BE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turbulence question is a fidelity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E40E-54E2-4AD5-894B-20C44C9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0FE4B-0BF8-4EDA-88F3-0F0C7DC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0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5248A-1D6E-4CCA-BA90-BC3F1E2B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6FF1B-5F6A-4B3E-8586-1D689CC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66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0417D-0B8D-43D7-A805-9D506317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Linear growth: fast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6D9A2-6B2A-450F-859B-BD4D256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84B45-3271-44A5-9EA2-059193D7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14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81E0E-CEBF-4E9A-9002-CE38799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9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B3922-970A-4DBC-9951-7ACA74C4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14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Quasilinear weights: ranking 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C10BA-7FAB-40F2-9A9E-40199EB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5683C-B1DF-4072-BDAB-0004814B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67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DE577-31AD-4378-9E4A-F62107C6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71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3887F-6E27-4C4D-8D3B-2962314E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Nonlinear heat flux: expensive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D8685-C89D-4716-854D-5F98EB56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57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0ED04-83AF-4F86-B6A4-B5EFFDC1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906DA-43DF-4DC9-9CF6-7B6DB90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24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24A08-C855-42B7-8AC8-B3151AE1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Profiles: performance closure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6CA04-7582-4D47-8139-355AB48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Cost hierarchy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FAFBD-67A3-4F64-9544-E5A28B8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BCF5E-67C3-45CF-8529-6F179260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D1E97-E22B-4F91-A349-D9D5A12A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5705C-8D73-4947-9C2D-B4F891FE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8326551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89892-F1D6-4C1D-A082-4CEAC99C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852A2-FD76-40A9-9569-940E6476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794d9138e473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C37FE-9E48-43FA-9CAE-A89DB965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Notebook project: SPECTRAX-GK linear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223DF-F275-444E-805C-85DD0793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6F4AD-E800-40D3-85B9-5C9D50B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56356-3C90-408E-9239-476F443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76BBB-F4E9-4FB3-9420-ECA56386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F37C6-E45C-402D-B155-4A3B6A6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notebooks/08_spectrax_gk_linear_metric.ipynb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EF277-3E1A-4179-99E5-842085C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DD28F-9F15-4CAA-A1BF-BBDF6571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growth rate versus ky rho_i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0427F-B4E0-46BB-9F91-CDFFB64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27C43-68C2-4B4D-9AF0-96DD135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mode frequency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D2C8B-FA92-44BE-81B7-5EA28DC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F4849-54BB-4512-884C-E771AA7E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State the range of validity of the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6575F-0D14-4C1D-9E0F-B85AE393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01F3C-BE5D-43C9-97E8-B146FC1D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75BEE-949F-4DDB-A904-F3DBA257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5F5F3-2B21-44B3-94C0-3923658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FC06C-419D-403C-B924-D0D31D71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708E0-CFA3-4FC7-9203-0974C4FA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F5599-1B0A-4BC3-86F5-3BF7915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F500C-1A6A-48E5-B631-6BC9AD70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896FF-3060-4F3D-BF4B-69D49885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EDCE5-3EEE-4799-8B76-138E699D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EDD23-A424-4AF2-A0AD-D4EA881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81C76-F5A1-4E48-BF44-E080D13C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8157A-7604-482B-9C7D-55838FE6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E14DE-B776-4A52-BA50-48E41A2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CEF6F-B549-4BC4-9E8F-A9DF6F9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00FA4-5BD2-4E38-A89C-653974D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C61FE9-1A7E-46B5-BC47-E7872FB7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4CF94-3441-4CE6-9E6D-56ADDE0F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14498337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CB4B2-01D9-48E7-8EC5-AB7EBDAE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1485-753F-413F-A8DA-DF8EF1F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3ccd698d844c1"/>
          <a:stretch xmlns:a="http://schemas.openxmlformats.org/drawingml/2006/main"/>
        </p:blipFill>
        <p:spPr>
          <a:xfrm xmlns:a="http://schemas.openxmlformats.org/drawingml/2006/main">
            <a:off x="707601" y="1790700"/>
            <a:ext cx="6490548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858F1-147A-445E-9D93-DE23830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83D0D-FBC4-4B22-B0A7-9A77CAAF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505E8-B8A4-4B88-BCAC-F0F56535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Growth-rate peaks indicate instability 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A7D54-D38F-4805-B9CA-0ED99DB2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5EBF3-818B-4F44-9DA1-6DF9E475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They are followed by nonlinear heat-flux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F4744-2C8D-4E7F-912A-45084455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80AB7-E9EF-450A-808E-DFC0027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B9EB9-9801-407F-9F39-F7922E82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c3a7b9b7c454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4CB76-1C90-411C-9883-DBF61D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linear growth-rate spectrum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650BD-E376-4298-AEB7-B3A6F549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CFD37-6EA7-4DA3-A84E-D6E6F07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6DD6B-9CC8-4688-8489-89A3B5A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A55F0-225B-49A5-96A9-16587465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3327D-7B39-4132-B550-EEE9DA24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187100647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8582C-3F98-423C-8711-E83928FC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54A0C-C091-4663-80D5-7667415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38c9592a144df"/>
          <a:stretch xmlns:a="http://schemas.openxmlformats.org/drawingml/2006/main"/>
        </p:blipFill>
        <p:spPr>
          <a:xfrm xmlns:a="http://schemas.openxmlformats.org/drawingml/2006/main">
            <a:off x="833695" y="1790700"/>
            <a:ext cx="6238359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242D5-60B1-485E-A17A-5719247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51910-058E-46EC-9B5E-C2CA3465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5D9BD-ED01-48AA-8EA1-9D94DFF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Growth and frequency together are more informative than growth alone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93813-FCAA-4C38-B020-DA100AC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C2505-C0EA-4BA2-A122-D58A296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sign and trend help identify mode families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AD100-01E2-4EF5-A7B7-9B7858DF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29348-8A53-4D58-AE76-6206FA50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FB360-21D4-43FE-9DE2-0F72835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37bf096b2460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4E156-58A5-441E-9F55-BF5A278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linear mode frequency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04436-6982-46D5-BCD9-814AD5DF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059DA-2A42-47F3-9619-D312AEC0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2A314-72A3-4540-B7EE-BD030DE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CF583-1B79-4001-9877-C6A9386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28764-BAD7-4EED-94EC-82BACA0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141535356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A3755-4370-47B4-9619-837180D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A6FAB-13AA-4103-83D5-115A9875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22b79d141482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1E0BF-4D9F-45F6-ADFC-55B79B9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Notebook project: proxy versus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AA07B-959E-4F74-BF7E-F827BD0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78A65-7963-412E-8B03-2449BAA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4D268-986C-4330-8B2B-715073B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10F46-7668-4554-ADFD-BC86EF26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E58C8-A003-45A6-B4ED-44275233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notebooks/09_turbulence_metric_surrogate.ipynb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022BB-ED1A-45EB-BF17-B6536F3B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0303E-E098-486A-B1E5-2ADFD930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Choose the best design by each 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A49A4-7FBB-4EF4-9913-800AFED5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84B36-4B37-42AE-A402-F931F8E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Compare the rankings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5627-EA00-41D8-90C6-678D4D71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94BF0-94CD-4A77-9166-128BD44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Discuss why rankings differ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85FC4-631F-4327-8030-0060E54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504EB-DBCD-4001-B2F7-FAAB2CC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98887-4C89-42E9-AB82-F4A11F9B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9A436-590A-456F-8FC2-35E555BB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2EB78-5808-4150-B6F8-D2B6BDBA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ECC57-48E7-4E4D-BDDF-83F58045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B0DB3-A3FB-4568-B298-74449110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7336A-06CD-462F-B418-AC3B7AF2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18032-E6F7-4DE3-8F2C-EC9E46F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79400-BF75-49C7-AA6C-067434D8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12955-99FD-4807-8C34-2C028393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3B2D9-11AE-4467-BAE7-99BF5265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CC0E5-E969-4367-9C49-AA82474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41ECD-411D-4ED8-8E1A-D4F5423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B1DFA-F5A1-4236-87D0-D27D503A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D9DC1C-5ED6-4C44-8FBF-3F050F5E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D47B6-8AB3-480F-A053-33F4E066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8742D-9C3C-4008-8DB9-975DE88F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17</a:t>
            </a:r>
          </a:p>
        </p:txBody>
      </p:sp>
    </p:spTree>
    <p:extLst>
      <p:ext uri="{BB962C8B-B14F-4D97-AF65-F5344CB8AC3E}">
        <p14:creationId xmlns:p14="http://schemas.microsoft.com/office/powerpoint/2010/main" val="16234272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A81C6-4049-48DB-B9AD-4CF19C8C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1A327-6B13-4998-B497-91A5618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1bb4af8514fdf"/>
          <a:stretch xmlns:a="http://schemas.openxmlformats.org/drawingml/2006/main"/>
        </p:blipFill>
        <p:spPr>
          <a:xfrm xmlns:a="http://schemas.openxmlformats.org/drawingml/2006/main">
            <a:off x="707700" y="1790700"/>
            <a:ext cx="6490351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2A267-4E33-451B-BB60-182D35BE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2BF76-7564-4B55-8228-A0F6C9C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6725C-8367-416A-95AC-D89C0BD9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proxy may rank designs differently from nonlinear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C5243-736E-483F-9E8C-A013D7D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2989A-4AB5-4AA4-9561-0916D9C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optimizer receives whatever metric you give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D0185-E830-4B15-96A2-4515EB5C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F3889-8B7B-4386-B532-FDDD3149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52F00-A60E-4AFD-A6EA-6F227F59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d766637094e7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C5A8A-A981-4D22-8AA1-F2A1E088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proxy versus nonlinear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D18BB-FF99-44B7-A015-CC01A870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720FF-628F-4B47-B409-2CD061AE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2B10D-BF92-496E-82F8-6D73FA7F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718CA-4D49-458E-8036-161FB1C4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62793-7D11-4B6B-B24F-AA5A9DE0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18</a:t>
            </a:r>
          </a:p>
        </p:txBody>
      </p:sp>
    </p:spTree>
    <p:extLst>
      <p:ext uri="{BB962C8B-B14F-4D97-AF65-F5344CB8AC3E}">
        <p14:creationId xmlns:p14="http://schemas.microsoft.com/office/powerpoint/2010/main" val="103712488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544E1-63A0-4F31-B183-1187D2A0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055FD-A216-425B-8942-8A947945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70675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b55ef1d27435f"/>
          <a:stretch xmlns:a="http://schemas.openxmlformats.org/drawingml/2006/main"/>
        </p:blipFill>
        <p:spPr>
          <a:xfrm xmlns:a="http://schemas.openxmlformats.org/drawingml/2006/main">
            <a:off x="940602" y="1790700"/>
            <a:ext cx="6024546" cy="3676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CC58D-8319-419D-A883-A910FDE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7B6AE-B1CE-4C48-8820-F7FB170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A8C29-1394-4095-8A10-E0E58EB4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 success can leave turbulent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D55D5-3AD2-44F8-955D-882A2EFE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75106-7348-4F2B-B8EA-B03D7C6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06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 response can saturate performance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C441-DE70-44C5-A85D-F76B5225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31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CAE6-9DB2-4701-AC13-CDC88F0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Use the figure to identify the design choice and the diagnostic that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BD227-AD0E-49EE-B102-8F7CC022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0bf292aa6428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8EBD3-BB10-45F5-992C-A9C51D16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Example: W7-X ion-temperature-gradient clamping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5D61B-9D02-4724-BFD5-19CA6FE0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69092-4534-4002-A2BE-D91FEFDB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8B231-E85A-4139-9F10-1123FAA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55879-D943-4CFD-AE5D-85089F94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D328B-6DBB-4147-B25C-0D167F8E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19</a:t>
            </a:r>
          </a:p>
        </p:txBody>
      </p:sp>
    </p:spTree>
    <p:extLst>
      <p:ext uri="{BB962C8B-B14F-4D97-AF65-F5344CB8AC3E}">
        <p14:creationId xmlns:p14="http://schemas.microsoft.com/office/powerpoint/2010/main" val="5194082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F7542-881F-4762-90B9-B1EFC0E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302DB-2B61-446F-A18F-5FB89DF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DDEB4-A40B-4F83-A2F2-E5D00813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9334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81D69-76DC-4E7D-BEE0-1288E0E6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a1dd454d54ae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8DD02-4094-4B00-9E20-1CB9EA9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A397A-469F-47A4-BA63-2474E50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3. Fast particles and validation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92848-CAFA-4CD6-81AE-1C88CC8E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57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25F53-0087-449B-8B5E-F79002BB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6A0B6-4AEC-4DC0-912B-8B0F436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Reactors require alpha-particle confinement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9CA11-ABDF-4FB2-A972-04C347B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9D639-11A7-4ED7-9581-6D179FE9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Particle metrics must be rerun after coil design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B0E8C-6295-44C3-86CE-5A03BF14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0CC07-5696-48F5-8374-16CB9F2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0A40F-18B9-495F-B8E8-4ECC5AC4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A3C88-EFB2-4F3C-9514-532DC75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20</a:t>
            </a:r>
          </a:p>
        </p:txBody>
      </p:sp>
    </p:spTree>
    <p:extLst>
      <p:ext uri="{BB962C8B-B14F-4D97-AF65-F5344CB8AC3E}">
        <p14:creationId xmlns:p14="http://schemas.microsoft.com/office/powerpoint/2010/main" val="156983449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6EA98-3816-48F9-AF11-D1F524AE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035B1-8230-498F-9417-DC3CF89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677a6cbde472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20403-CE34-4FFD-B585-58DBACC3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Fast particles are reactor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47CCC-87EE-4BED-97A3-6344738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304CA-86B4-43BD-AEF7-E4DBB83C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55B94-B399-437F-8FA4-64A79B9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87AC-49CE-416C-A74A-FE3D76C1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0F599-6AAE-4C28-AA82-4F8083A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Present experiments may tolerate losses that reactors cannot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BE901-949D-4FC2-9B09-9C07AA67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2AC79-9932-480A-8317-A16A180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CE3A6-136C-4157-B41A-F2B4C3A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BA594-44AB-41C7-9080-4055A43B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Alpha confinement, wall loads, and orbit classes enter late-stage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3D5B2-4420-4C31-B539-81619074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239C8-374F-4F19-89EC-604C9E32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BFF8B-6D56-43BC-8EC6-9B839B8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A4DAF-1100-4E75-B07E-0C3BEB0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E3086-66E5-4443-89BF-8050D97C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9F5C5-7BD0-4158-8257-0009239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E1276-D3A2-49EA-82A3-665AC0B5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21</a:t>
            </a:r>
          </a:p>
        </p:txBody>
      </p:sp>
    </p:spTree>
    <p:extLst>
      <p:ext uri="{BB962C8B-B14F-4D97-AF65-F5344CB8AC3E}">
        <p14:creationId xmlns:p14="http://schemas.microsoft.com/office/powerpoint/2010/main" val="56957024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12737-7DA9-40AA-9F96-8A43353B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94CEA-41F9-4784-B678-E8E7198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a4503ac764ea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6F3DE-0032-4227-B72C-1928B90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Particle metrics connect back to coils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56E2B-72F2-469A-A0B2-7AA3C431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486DE-D0C8-43EA-A2DD-5EA5AB1B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8973C-F8BF-4894-BAD5-02D1920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91BB9-0ABE-4F1B-A7F1-64D6F74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E2FC8-CFB6-4CF1-B17D-C0F936CF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 errors can alter field topology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8924C-EE01-437E-A698-55074B54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F1C34-16E6-47D5-AA58-EE09E0B4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9974F-3A5C-4AAC-95FF-3145A6DB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3166E-220A-4C45-883A-E5E31C1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577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Fast-particle diagnostics should be rerun after coil design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209DB-777E-4101-AC60-61DA587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FA8DA-9FF4-4990-9DC1-4882FF7F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A0149-075A-4F16-949E-EFB59E1A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A6200-97EF-456F-B08A-4765EA34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F8101-4B03-4B04-BC0A-74F382D0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B951F-02FE-457A-8BF6-318DC88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BBCE6-D918-4FE9-8DC6-020B70FC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22</a:t>
            </a:r>
          </a:p>
        </p:txBody>
      </p:sp>
    </p:spTree>
    <p:extLst>
      <p:ext uri="{BB962C8B-B14F-4D97-AF65-F5344CB8AC3E}">
        <p14:creationId xmlns:p14="http://schemas.microsoft.com/office/powerpoint/2010/main" val="755181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26D96E-2CD3-405C-9062-FCF4D04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28C00-A480-446F-9EA1-0E7944C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39de00c8d44f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5C42-DBE2-4177-9974-DE8262B1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Metric trust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3254-3A2C-41D4-9351-3F7BFFC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C7B2C-57A7-48DB-A3D2-8882687A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0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5DF1E-D222-431D-A1C4-D9AC5C56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54AE4-300A-4990-AA9D-D80348AC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66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BAFFD-98A3-4DFA-9B95-DC23661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F3609-B7F9-4A8B-8531-1AFED27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CA630-70EB-435C-BA18-B3682CD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14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B0A0D-B1DA-4C9D-B9BC-46EE9C2C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9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50813-E83E-490B-947E-24DED59A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14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ranking 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3B40E-CC14-4515-A996-5C9E875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F27F8-40BE-4B98-8837-69771026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67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A5667-4B95-4A98-9CEF-49FEE89E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71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A1FA3-EBA8-4D0B-AFB5-C090793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validation 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558D-1E4D-4DED-A5A2-92620ED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57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D57AF-1611-461D-B9B1-519267BA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5B599-8F85-40C3-A8E8-08A20B90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24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55929-CED4-4F45-9380-0765AD78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experiment or integrated 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C71C0-BBA3-4E7A-9EB3-928E61F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Cost hierarchy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C5E02-FDA7-45BE-9D64-31FB10C4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8841F-1D32-4BDD-9197-0B271608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F7429-6E7D-4BF0-BEF8-D9C2B283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F56A5-3D80-4D32-8305-81F9FAC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23</a:t>
            </a:r>
          </a:p>
        </p:txBody>
      </p:sp>
    </p:spTree>
    <p:extLst>
      <p:ext uri="{BB962C8B-B14F-4D97-AF65-F5344CB8AC3E}">
        <p14:creationId xmlns:p14="http://schemas.microsoft.com/office/powerpoint/2010/main" val="18649839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22110-2CB4-48BC-896D-95441C53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D02EE-D8F9-4E6F-8FEC-B0541D24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1CACE-0104-4B0B-8509-082E7618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D374D-BFEB-4884-8D7D-8A15DACA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52C9D-DEC2-45DF-912F-A1AA30D7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12BA-615E-4976-82E1-93DE8E92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Does the metric fail on a known bad design?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CA21E-02AA-4AEF-B3DA-7EC7E43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09CA4-8D9E-439B-A2BA-95C85C8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Does it rank a known good design correctly?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56C56-DE27-43ED-AFA9-F0944472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41853-5365-4B10-80C9-5478DD3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Does it change smoothly under small perturbations?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6389E-1CC7-4694-87F3-D12DE4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11B4C-8D68-4CC2-B31B-66E6EBEA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599D2-406F-48EC-899D-C0A6E78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5c42794f8402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A3C20-17DE-43A6-9429-7B11E37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Validation compares failure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9A162-461C-4F95-AB88-1AB7EDF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C0910-CD8E-4C7B-86D1-A8E9B831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13298-CD03-4AFD-8C7F-D7482DD7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71E49-9348-48ED-A861-7D65ECDC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7CD43-9AB4-4AB9-88C9-CB39AD7C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24</a:t>
            </a:r>
          </a:p>
        </p:txBody>
      </p:sp>
    </p:spTree>
    <p:extLst>
      <p:ext uri="{BB962C8B-B14F-4D97-AF65-F5344CB8AC3E}">
        <p14:creationId xmlns:p14="http://schemas.microsoft.com/office/powerpoint/2010/main" val="160233513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B3D7D4-3235-40CC-8B1C-F4D6FE58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46897-25E8-45A0-84EE-AA8D30D5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473de7eb4fb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47C60-3F2F-45D3-BD3A-19A0A3BF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Computational checkpoint for lecture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F92B-428A-4DD6-B975-3E10DB52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9B09C-8B66-4754-822F-B92DF0E3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416F4-44E1-46FF-B9DF-C815075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47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8030C-6EBC-4770-9C77-045DF337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Computational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1265D-FDD0-41CA-A81B-08CE267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scripts/execute_all_notebooks.py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F7B68-C9FE-4170-B803-EC1F804E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2EDC1-1807-48A8-B9A5-323B3AC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 notebooks 07, 08, 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EB9C0-70C9-486C-B69E-1997D3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146AD-301A-4B7E-916B-71B6959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which curves are cached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0A320-9779-46B3-B13D-C689064F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1A8E4-4726-465B-8A98-BBE1A0F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Replace one cached column only if a real run is timed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E3F67-D4F4-48E4-A01F-A9184A6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BB2D4-D102-42DF-B103-E29CE17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0EACA-98D3-4C77-989F-D823FA2E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54499-C830-4D77-A56E-955DF586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F0CFC-4CF7-4DD1-97DA-5EE4E49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B1A8F-A4D2-4D6F-87C1-CC3C105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Run cached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B6D95-D529-4C33-99FE-6129728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F3659-BE86-4CA6-88E4-22D03110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C9CE7-8BC3-4C2B-ACB7-1117C05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knob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ECCBC-0E27-453E-A426-AC7D97A6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4E5EA-CA69-40CD-920B-51CD29E2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9A1A3-F46A-4654-A0FB-4E1B6D71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the plot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5009B-A58F-4493-950E-0545EA3C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B5CB4-FD9E-48BF-998A-F11F351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Deliverable: one figure and one defensible sentence.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95792-E007-433A-980A-8A66F8C3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4FDF04-8314-4EE6-B8AF-B0BC730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5F22C-C7A4-4599-B1C8-4FE0B2C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A43EB5-4E2F-4AA1-8FB6-99CD5E0B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25</a:t>
            </a:r>
          </a:p>
        </p:txBody>
      </p:sp>
    </p:spTree>
    <p:extLst>
      <p:ext uri="{BB962C8B-B14F-4D97-AF65-F5344CB8AC3E}">
        <p14:creationId xmlns:p14="http://schemas.microsoft.com/office/powerpoint/2010/main" val="90655507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4A952-6D17-48C4-8C8B-CC61D72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59253-2E3A-41C0-ADAF-74633DD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15f99d28a4a1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29A45-EB8E-4663-B6FF-8A4A711B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Exercise: choose early and late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2F6A0-24B9-4F00-8C23-4BD3AFDC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508A5-CE6B-4B92-80E8-6686A380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F89A1-6D87-41B0-B258-04982C84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19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FE5FB-AB2C-4FBE-901B-261C000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5-10 minute classroom 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F1DDC-1028-4469-B2DE-48380664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55EBD-237F-4208-B6E9-B44E89F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C89A6-5F15-4930-B09D-51F8969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metric screens 1000 designs?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BA0A8-4F8F-4DD1-9502-092667C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5F053-000A-4F5B-8547-F6585FA2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352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metric validates five finalists?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10A96-A50A-4DBB-9FFC-AF55BCE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50FC1-3099-4076-82E5-FCCF4BF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45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is the failure mode of each?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21C39-46CF-4F6D-8EB3-1A13B23A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4853F-A449-427B-8DAB-A5C192F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539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Expected answer is qualitative: identify the tradeoff, not a magic optimum.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AE915-20C0-46EB-9EE8-6E5C8A0C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7AE67-41D0-44F0-91ED-904C208D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1C4AA-CE74-4A8D-A388-819E3485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6529D-82E5-4E0B-848F-E3963EB6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26</a:t>
            </a:r>
          </a:p>
        </p:txBody>
      </p:sp>
    </p:spTree>
    <p:extLst>
      <p:ext uri="{BB962C8B-B14F-4D97-AF65-F5344CB8AC3E}">
        <p14:creationId xmlns:p14="http://schemas.microsoft.com/office/powerpoint/2010/main" val="12628348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6CAA9-D4B0-4C5F-A5AE-66A41A0E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BFC85-6BDC-4809-9E19-D189468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e348e0859443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73B6D-E797-4F84-9FED-C9C8EBF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Exercise: proxy versus nonlinear ranking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A9464-A7EF-4569-99E8-37E57BF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31F5C-26BC-4642-9778-B746F5B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D8053-13E1-49D6-A42F-94E0DE1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19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0F2B2-006E-4430-9EE7-0C52D85F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5-10 minute classroom 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69E53-CF2E-4A01-900F-3364009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8A9E7-6B5C-4DAA-8E61-07033C3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C73FD-26AD-4658-AA0A-E9FDD15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Select the proxy optimum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13269-1346-4C82-80EF-C4AE90FF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CF36D-C22D-4353-8AB9-43224CA0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352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Select the validation optimum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CC59E-4600-4368-897D-7E44DAD7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5D0E6-D865-4675-BA25-C9B87B93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4550"/>
            <a:ext cx="55245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why the optimizer might prefer the wrong 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14531-58CE-4872-BBCC-DE7802B8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FB04D-980E-49F8-9E5B-7B9B1B0F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539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Expected answer is qualitative: identify the tradeoff, not a magic optimum.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66CC8-BD0F-4C02-8CD5-E58BB6FD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66DBF-8803-4C39-A245-68A2FF1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132BE-640E-475E-824A-3141EC8A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97215-9A35-409E-91BB-BA747B5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27</a:t>
            </a:r>
          </a:p>
        </p:txBody>
      </p:sp>
    </p:spTree>
    <p:extLst>
      <p:ext uri="{BB962C8B-B14F-4D97-AF65-F5344CB8AC3E}">
        <p14:creationId xmlns:p14="http://schemas.microsoft.com/office/powerpoint/2010/main" val="108694729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80C77-4B25-4FDB-B3EF-9EA1F5B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DE9E8-87FE-4B22-B069-9397C080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0b31063b543b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18C66-60FA-41BC-BEED-093FF893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Lecture 3 notebook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4C2E5-6B5C-4BA9-8F5F-4A4E02DB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9864C-8108-4552-94F9-5B6B8F4C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B21C1-CAB1-494E-9D02-AAEF2094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E618-6EBA-4B22-8E7A-740B2D6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75FA0-7659-4199-9F92-2AAD463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9EB2A-9907-4CAC-9C65-2E0FBBAB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3E995-1F82-4886-AF25-AF98141C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19FFD-B897-486A-8C17-1E09D9A7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 effective ripple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0FCD4-E9EF-4DC9-BDD2-DFDF69BD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6B8AD-D486-42BC-ACFB-1292158B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15EB0-8C8C-470B-9D1B-950C9E4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E5F38-B10A-421B-9046-843F009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07 neoclassical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3D202-B97E-4739-A6F7-92BE4A35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966BB-273F-4A50-8E04-3387A46B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59DCC-D225-4C70-8B99-B8EE974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DCE21-BC70-4D4E-BF6C-664291D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08 linear GK 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F168B-B50A-4802-87FE-CE502149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38B53-5A0A-4EC8-873B-4D01753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63E4A-48FE-4338-99B9-3BBDC92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AD1A5-BBB0-4523-AA22-26816715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09 turbulence surrogate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34B52-B3EB-4941-924E-10B1E36B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C5996-1340-48E6-A9A2-A356237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E07BE-0412-4DC0-A3FF-CAD7D871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18B1C-A2B0-4186-984C-5926CFAB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A43F3-C131-4298-968C-54064A49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194982640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AB718-BDA9-462A-A74F-207BB0F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47114-CE9C-4FDC-9551-6B025CD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62706718b49e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6EE54-8E50-4627-ABD8-403E8BA9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Five rules from lecture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F7A01-1B24-47A1-84CB-20B6C108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3D565-E530-4E52-9B5B-83254B5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3886E-68A4-4CA5-9309-5BC4C16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cheap screens 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761DC-86CE-411C-8687-F602B8AD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43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E9059-6DF7-4238-958F-AF80A70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Validate with richer physics 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5D9CB-D0E4-4301-AA99-249449FB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3BE90-03FE-49E4-A1A0-814C0C8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profiles and regimes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D8326-FFE5-4036-B1AF-D587862F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9413D-8921-474F-A83F-EFF8F7F1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Never hide proxy failure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9B6F5-C1C0-495A-8060-196A451C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B6AD5-D46E-4583-AAAB-0FF18E6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the trust ladder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F0245-5A84-4A99-8728-82AE860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344E1-5263-4504-88CB-CB5D790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53B87-61BD-4C42-AAB4-6205E1B6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B05CD-7946-4473-9879-5D1D28C2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C332B-3B69-4724-A427-63A825CE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11933-4F4C-47FB-A17A-FA9ED72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29</a:t>
            </a:r>
          </a:p>
        </p:txBody>
      </p:sp>
    </p:spTree>
    <p:extLst>
      <p:ext uri="{BB962C8B-B14F-4D97-AF65-F5344CB8AC3E}">
        <p14:creationId xmlns:p14="http://schemas.microsoft.com/office/powerpoint/2010/main" val="105868239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8DBF7-AB22-449D-8F77-9068FE1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C668-170F-44DA-B54C-BAA6096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559335aac4bb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F91A2-9919-4002-9423-3FC62BE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Neoclassical outputs to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22813-251E-4324-8FA2-255DAC53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664E6-AA4D-4DA2-A65A-B03673F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43864-5AE9-4FDE-9B80-15DF5AD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24D18-0CF0-47B5-9BE1-7E17171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5199D-5876-4EDC-B334-0BDCA30B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D8B0A-948D-45EE-8F63-35AA2E3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162AB-5FEB-4C89-83E7-8B7286BF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BA7A-A47C-4407-B08B-92941DB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Effective ripple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16A72-9CFD-4F06-874F-92E1DF69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low-collisionality transport screen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6747E-EB7C-421D-A793-6937DA95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034CA-D091-4B97-B71E-DDFBD835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56369-9343-475D-B522-2C6F89D8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Ambipolar roots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A504D-11B1-4AB1-A5C9-B024B767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radial electric-field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AB012-0401-4E90-B3C8-A6F69C8E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CF9EB-73B2-4811-8359-ACC5AE80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9ACD7-D746-4F61-8136-976F9D5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Bootstrap current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F6BB6-4434-4935-A51E-1E0A0C98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profile-dependent equilibrium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0DD4D-9BFF-476E-A9AE-B20472F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7ACEE-FE2D-4332-8F71-29B2DF5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75A95-BFE3-4182-B540-A2D6452A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E78CB-1BD3-4665-9496-1D3DF0C6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30</a:t>
            </a:r>
          </a:p>
        </p:txBody>
      </p:sp>
    </p:spTree>
    <p:extLst>
      <p:ext uri="{BB962C8B-B14F-4D97-AF65-F5344CB8AC3E}">
        <p14:creationId xmlns:p14="http://schemas.microsoft.com/office/powerpoint/2010/main" val="134928466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BE0C4-E7C9-49F2-B6E0-6BC3E94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CC178-E769-4556-A63A-89051115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e7d1d1d5f48b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AB4A4-3FD4-46EC-BC54-CAC1962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Turbulence outputs to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F3B93-38F8-4D11-BA6F-259E4FE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C31DE-01F7-4F8C-9973-E138569E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7E858-10D3-4427-A1DA-613F291C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64A98-DCC1-4B59-B951-FABA5A34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52267-0C43-4740-8816-70496400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2449-A193-48FA-AB17-FB53CB9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570AB-6220-4D6C-9FE8-9A4C9CE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B5C41-F12A-4E69-9A7A-E4396270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Linear growth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5AA09-12EB-4C6E-BFA6-73CE7B7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fast instability screen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CAB8A-AA46-4749-A38A-04A47B8D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63286-871D-45EA-8CAE-EA4A1664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6805C-F957-468B-A35E-9E988439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Quasilinear weight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06778-3F1A-4F54-B8F0-4421AF4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ranking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1346D-8D8B-4509-814A-0F5EBAC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887E2-D1F5-4F2D-B232-36B5075D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D1D30-39E6-490F-835A-C99ECDB5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Nonlinear heat flux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B998F-A1F8-4AF9-A6BE-F8F078D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validation for finalists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2D2B7-CFB9-4B7E-9AFB-AC1EDD39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1C1A9-3915-4E16-9448-E79B6DFF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B542F-4E38-4388-ABA6-E45823A8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EC266-C59B-4DE3-AE40-3A63A2C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31</a:t>
            </a:r>
          </a:p>
        </p:txBody>
      </p:sp>
    </p:spTree>
    <p:extLst>
      <p:ext uri="{BB962C8B-B14F-4D97-AF65-F5344CB8AC3E}">
        <p14:creationId xmlns:p14="http://schemas.microsoft.com/office/powerpoint/2010/main" val="110016418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A91D7-7396-42E1-ADE3-14B2EEFD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3BA8F-1DDC-4260-9C02-CAB2F573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67fe1626447b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A835E-0789-4A2F-A0FC-5DEEDAD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Fast-particle outputs to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85763-8F76-45B1-8782-5F196288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7A982-B7E0-4302-9785-B6BE8A0A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AD81B-4D59-4CE8-8B58-4E8D5D0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F95A9-C752-4CDE-B5C2-36687955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9103C-7A3B-44C4-B14D-3908F965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3AA0A-130D-4C62-91AA-A3EC293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DB694-69F1-4C2F-AE22-835FB638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C6DEA-D23E-498E-914B-9FBCF63C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Alpha confinement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E6702-3719-4186-9444-F7B539B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reactor-relevant loss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57C13-8DDB-4B63-906B-6C6704E7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8218E-93E7-4433-B1DA-C132F44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0156B-6BF9-4E96-989C-00F5CE3B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Wall loads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8BA82-089E-4733-AE73-8AA37B22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engineering and material constraint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95413-9A5C-406F-9B30-0308D7E2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CC292-8902-42DC-AFD2-12111BF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1EED8-8318-45A0-9963-A76BFA65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Orbit classes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DF0E9-6581-434F-BF4C-D16C9D46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topology-sensitive diagnostic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453AC-7296-4314-A16D-25D6F946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B844D-4FBB-4566-8FE0-0B49F18C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2B35F-661C-496B-A09B-7C36713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57774-057F-4405-BCCE-99AFEA0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32</a:t>
            </a:r>
          </a:p>
        </p:txBody>
      </p:sp>
    </p:spTree>
    <p:extLst>
      <p:ext uri="{BB962C8B-B14F-4D97-AF65-F5344CB8AC3E}">
        <p14:creationId xmlns:p14="http://schemas.microsoft.com/office/powerpoint/2010/main" val="246173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33F360-86AE-4286-9855-45BC9868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33D35-4FF2-46D0-88C0-48B44EC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DCE3F-D3BC-464B-B3B9-EB0BC8E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F95A7-195C-440D-B76C-A96A7127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EBC95-F01D-42D4-A3D3-9562E67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56150-6EBF-41FF-B1B9-15635CBE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them to compare trends and failure modes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6EA85-A711-448D-B969-B320B7EA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5DD24-324D-4346-A388-BE8F579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real code for numerical thresholds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A4CE3-4105-489F-9605-FBB55EF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22498-F490-4D3C-BA20-40D630E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Document which physics was omitted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FB766-F7EF-4F59-B6D1-80CA6DF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7A734-9765-4FD7-86B4-CF2C74D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7C768-27F2-4020-9602-E6A954C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32530c0548a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6A317-1129-4FE1-AC18-F1E3D980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Cached transport metrics teach the hierarchy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759E4-0CA9-410C-B78E-F60395B7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33245-98C9-4200-B697-6B1A028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65F61-BF14-4FA9-8855-2EF0BF17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035AF-F85F-4161-B8BD-44F934A6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56CC6-3F42-472D-BA9D-A75C6F17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33</a:t>
            </a:r>
          </a:p>
        </p:txBody>
      </p:sp>
    </p:spTree>
    <p:extLst>
      <p:ext uri="{BB962C8B-B14F-4D97-AF65-F5344CB8AC3E}">
        <p14:creationId xmlns:p14="http://schemas.microsoft.com/office/powerpoint/2010/main" val="20719989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471B7-3837-4616-80F3-71AEB28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72085-3911-4FDD-B9CB-5F3AB0E7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25f91a99b4eb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B0E7A-761D-4E65-90D9-12BEC05B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Discussion: what can reverse the ranking?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C0A9-501A-4906-8D53-C815465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3C91-81D7-4DB5-A6D5-AB45D75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826B1-CD25-4BE2-968D-DC51D327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C89C9-946D-4CB5-BC6A-201EB15B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565A4-20D4-49C3-988B-400BD96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neoclassical winner can lose on turbulence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5B5DF-F701-4288-843D-2AFBD051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2D7B5-D29C-44D5-AD1A-1D9172D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47A3C-16FB-4BB2-AA27-758BE9A8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415AC-7322-40C8-9FDD-947F5A93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turbulence winner can fail alpha confinement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35E70-A310-4CF8-926C-3FD054CC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2AE77-77CD-4B19-A093-D798DBA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E059F-CECF-4967-9823-B434EC60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D3768-EAC4-45D2-82D1-FB6D3306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profile change can move both metrics together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551CA-9803-4A20-BED2-B7421291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23B8D-DA55-46A8-874A-17D1272D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7A619-73CC-4950-8B53-F9273E32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F0614-CBE0-4B6B-8C32-15E4E27A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0DDB0-766B-4D7F-90A1-4D3AF738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7600E-BB13-4FF4-ACDA-A952A8D4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1DC6C-D2F2-459B-B553-AE8172C3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34</a:t>
            </a:r>
          </a:p>
        </p:txBody>
      </p:sp>
    </p:spTree>
    <p:extLst>
      <p:ext uri="{BB962C8B-B14F-4D97-AF65-F5344CB8AC3E}">
        <p14:creationId xmlns:p14="http://schemas.microsoft.com/office/powerpoint/2010/main" val="115150017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EA8D7-03A9-48CB-8A0A-BB1C637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156E8-5D94-448A-B8D2-BD0B8337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9dc861812421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567F3-E635-4F1E-964B-1429073B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Research path: NEO_JAX and SFINCS_JAX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2A541-B448-4E44-A9ED-2ADEB75F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BC2BF-6365-48F3-BCC6-92ED4EB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0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EF771-AB9B-4824-8665-A62858C4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BFE74-A92D-4EFA-AE4A-A2AFBB7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66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7727E-AB59-495A-B3BF-DD0D1445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Choose the same equilibrium and flux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1494A-00A6-4BBA-9D2E-0C204312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501E8-D88B-448E-A5DE-8BC7A4D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14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42D05-1373-4ADC-B784-0F4CC45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9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398DD-278A-41BF-B595-135D5DC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14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Scan collisionality and radial electric 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4E7F7-9C45-4C02-9BAE-B108A5F9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3D809-8B6E-4F3D-8E81-A7328572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67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87857-BDD2-4C65-8E33-8552B71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71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F8088-825B-4FBD-8EEC-50512DA1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Compare compact metrics before detailed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8A87F-F36D-4FAE-9F6C-30B44747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57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4C161-08B4-424F-B443-EBC2EF77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CD582-0550-4C06-B8F5-E7365E1A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24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48312-9C49-40DA-9C67-B9CCE351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roots, bootstrap current, and sensitivity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2D5B0-5297-4437-B999-7CC788F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Cost hierarchy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893C0-4956-4B18-B1E8-F8C5176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93726-9B90-45B6-B7A7-4E10EC5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6A95B-F303-4067-9542-1EF24EC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8C621-D307-4504-8916-4279E97E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35</a:t>
            </a:r>
          </a:p>
        </p:txBody>
      </p:sp>
    </p:spTree>
    <p:extLst>
      <p:ext uri="{BB962C8B-B14F-4D97-AF65-F5344CB8AC3E}">
        <p14:creationId xmlns:p14="http://schemas.microsoft.com/office/powerpoint/2010/main" val="1119684116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09688E-5B64-4FA8-9AEE-360EB796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1F33-6A32-4F79-BC93-44A7ED18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d4806589248d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903E-E171-4323-BA14-239BD3E6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Research path: SPECTRAX-GK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E682B-29CE-44AC-BDA0-A499A38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C5053-50D5-4E9A-8B05-D241D406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0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9811-2DD3-4600-A246-F728A1A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758B4-1806-421F-9C65-F80F21CF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66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57C1A-15AA-4F17-B193-5302035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62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Start with a tiny linear calculation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3DEC7-36A2-43BC-BC5E-01807E85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4562E-9BC3-485F-B9CE-070F148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14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F11E2-2BAB-43DB-AF91-1C95F88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9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1B46-302B-4A36-8B84-56E77B77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14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growth rate and frequency versus ky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BEB3F-79EE-4E21-9847-4DFAB46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70695-D482-417D-8B33-CB5F4D3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671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B9E96-5CD4-428B-884F-967E91E5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718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0650E-D24D-4788-93F2-369447C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Compare proxy rankings with nonlinear expectations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043FA-2B01-4CDF-98C4-69250F2C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57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66139-AD3E-4E35-8EC1-3330BE9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109F4-F566-4B04-81EC-4E310A97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24375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1462C-EA39-4D09-A6C6-4BDBDE3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754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nonlinear validation gate explicit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495EC-A4CD-4B7C-943C-F096AF1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Cost hierarchy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E7C78-5312-46E6-8C64-C5CA6099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B56F7-6B8A-42E4-B099-DE5AAE66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D3069-8F9B-471A-AFC5-FC09C7A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4424F-478F-4200-A8CA-8F1D0159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36</a:t>
            </a:r>
          </a:p>
        </p:txBody>
      </p:sp>
    </p:spTree>
    <p:extLst>
      <p:ext uri="{BB962C8B-B14F-4D97-AF65-F5344CB8AC3E}">
        <p14:creationId xmlns:p14="http://schemas.microsoft.com/office/powerpoint/2010/main" val="156621432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9D977-1E62-470D-8427-97BAB8E0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27339-4D4C-4BAA-9821-3636819D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47145c7bb4f2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805E0-8979-4B95-A83C-DD9BE37D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 - W7-X as a validation reminder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E41AC-55D7-421D-91B9-CC0FFE26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01ECB-FDC7-4027-AC60-14E7F3C0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4428E-BA97-4225-A4F7-5CF53FAC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0553A-6433-4536-9265-6301EFDC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F5417-71C0-43E5-917E-1E1627A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 optimization is necessary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19917-C078-4AAC-BA61-49C135BB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226EC-0F10-47F1-A05C-99BFC9C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6CD6B-CF7C-4F02-AAB0-86BF6E2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BC93D-7AF7-4ED8-8361-7F11CF9D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Ion-temperature clamping motivates turbulence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783F7-17C3-4729-9720-FA92DC72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B9116-6FFC-4610-BEAC-E3CED0F0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C5537-8BD8-4D63-A3BF-ACD63815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F3C3B-1DF0-4740-AAC8-0048E3D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 decide whether the metric matters experimentally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9758F-2818-43C0-AB24-7B0C5E91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C66F0-683A-42F6-B8AA-A61E0B9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5B4EE-6CFA-44D2-8E74-DD2CE95B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DA69F-2E36-4136-A48F-A2B5F255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D7316-260A-4BF8-93F6-8AC37CBB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A6FBE-1C10-4C23-BF3D-7E2BEE9D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4CFD2-EFEB-452C-827E-C5E614B0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37</a:t>
            </a:r>
          </a:p>
        </p:txBody>
      </p:sp>
    </p:spTree>
    <p:extLst>
      <p:ext uri="{BB962C8B-B14F-4D97-AF65-F5344CB8AC3E}">
        <p14:creationId xmlns:p14="http://schemas.microsoft.com/office/powerpoint/2010/main" val="125079159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BF0D0-741F-4C84-9D1F-A949D9A1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0C2FE-488C-4155-A252-1483138F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068cc1d004b5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778AF-461C-4570-A4AD-638C042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Metric trust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B0FEE-A4FB-425E-9115-D78E18F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E0C31-CB1D-4DB9-9216-7742164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D64DE-98A8-4E2A-A1CA-C5B6C97F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39D82-ED00-4F84-B02B-0AEB9DD4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497E8-4A3E-435C-B340-A762DC1D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8D403-88C4-4A9C-8FC9-2DE6166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04195-1C45-48FD-887D-E874B96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06B76-0C18-44F7-B5DC-868E933B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C7F5A-8329-4C7E-9BB3-7FF5907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cached or reduced model trend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FAE56-F7DC-43BF-92F3-B70D742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75E32-7C48-455A-BBC8-CFD969BC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51EA2-3F27-4304-81A1-91D0A20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Ranking hypothesis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59C23-BBA9-4D39-8379-AABF1DD1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tiny or quasilinear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25071-B1F3-4AD0-B3A5-03F449A5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2C03B-5969-4513-B6E8-87E5786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E38D2-B8BF-44DC-8716-48C07B1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72E1F-1391-4F34-B8A8-0495D75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expensive run or experimental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FBEAD-5A55-4AD1-921C-CC9D1DE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1C2AD-F3C4-43A0-94F3-D58C89F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6A83B-777A-4056-800B-EF1FFDC5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EB0E5-CB48-4EBF-BF22-93F63BA1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38</a:t>
            </a:r>
          </a:p>
        </p:txBody>
      </p:sp>
    </p:spTree>
    <p:extLst>
      <p:ext uri="{BB962C8B-B14F-4D97-AF65-F5344CB8AC3E}">
        <p14:creationId xmlns:p14="http://schemas.microsoft.com/office/powerpoint/2010/main" val="55553111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8A54C-9A70-4CFE-A85B-6BD0EDBE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00EEA-6108-47E8-8544-49DDB62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83403-8153-4273-B28F-E8FBF48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EB9EC-C0ED-4958-86EE-D7D68ED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1F884-E297-4497-98A8-A30B14B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36107-27F1-4793-9AB8-E2826A15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Growth rate screens instability before heat-flux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45775-1D00-4D3E-9CF7-B5E66BD5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2B47F-0179-4C19-AD5C-87DD44AE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scalar ripple value should point back to where losses occur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1326E-5FF9-42D4-90D2-D398B46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B6C9C-B29E-47A9-8CC7-8521C97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profile proxy should lead to a solved discharge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E0816-9227-40BC-A538-E603DBE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0F4FA-000D-48D3-8A56-0135E03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7A23B-E257-4C44-AE61-6698EFCA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dd95a2fe4c7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AD35C-1D35-415A-8A01-F760EF75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How to read a fast 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12E47-2EB5-4F14-ADCB-3F63DA06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FB3BA-80C3-4D33-AEA8-5C32CB7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26F69-1724-4589-BF03-B716428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D7418-C38D-498A-B297-7DF06F05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42BF2-3D40-4CE5-90C4-F801E17F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39</a:t>
            </a:r>
          </a:p>
        </p:txBody>
      </p:sp>
    </p:spTree>
    <p:extLst>
      <p:ext uri="{BB962C8B-B14F-4D97-AF65-F5344CB8AC3E}">
        <p14:creationId xmlns:p14="http://schemas.microsoft.com/office/powerpoint/2010/main" val="49840586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2D24D-C6FF-47B7-B206-35404CF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67AB7-CC13-432F-8DB8-52EC5EFC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89badfffa432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EB51A-772C-47F3-9FB0-A002BE0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Example - profile dependence enters early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DD24-FA72-4EF6-8CD9-589477B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02901-454A-4BAE-B773-9E882FEF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777E6-F6F6-4D66-88FD-33FFAAB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018AB-BA8B-4692-BC95-22B7F31F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2F358-1230-4C23-8C3C-D592E9C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Collisionality depends on density and temperature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E1560-5957-4B7D-A89F-F8E04C32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B9149-C971-47F3-B28D-48C3DD9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B462C-7924-4F98-AB93-46C3580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D8B2D-EC1E-42AE-A009-58210D9E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Bootstrap current changes equilibrium assumptions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0292F-D841-48A2-9245-01EC3A0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0DE96-5DED-4972-ABE6-9E315E1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27DC6-6F11-458C-9AFF-C08DEA1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A9874-47EC-4C93-BBF8-C620EC9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Turbulent heat flux changes the temperature 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69B7B-48CD-4AB9-A807-AB0C904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EAEB8-11E1-4D23-A485-E6A1E73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91CFF-3DD8-4CD2-80DF-11CDF8D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74D5A-23BD-4131-93D8-4658FB63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01D25-2258-466E-B3DD-215C0FD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E24E3-A060-46D1-9202-8307A3E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52BC0-23EC-49D1-A89E-FBAA3E5E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40</a:t>
            </a:r>
          </a:p>
        </p:txBody>
      </p:sp>
    </p:spTree>
    <p:extLst>
      <p:ext uri="{BB962C8B-B14F-4D97-AF65-F5344CB8AC3E}">
        <p14:creationId xmlns:p14="http://schemas.microsoft.com/office/powerpoint/2010/main" val="93570792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C4DDA-4B41-4FA8-86D5-8075012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A0A71-ED1D-4582-9A85-4231282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a9a676e0544d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13F25-7087-4EAE-A3A8-7EE79D9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Before showing a transport number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17190-7383-48A2-A60E-88D9F102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306CA-0BBF-4287-8330-60713146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32524-965E-44EC-BCE5-0C35FCF9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A385D-376C-44EE-967F-43F2EE2F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A35C2-8B86-4F94-8BFA-A14ECD7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A9C08-56B1-4057-8693-270E285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44566-6CFE-4D02-A03F-2F50F052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4CAD0-71F8-46D7-8F95-88174D6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Equilibrium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09FC4-643D-4B64-913C-FD11062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surface and which profiles?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697D2-ED5C-4215-82EB-D34D7CBD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C2481-27AE-4E87-8B43-16DF23D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FA167-39ED-4831-B156-D29268B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Kinetics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D513F-152F-4CB4-BEF9-07E7C92F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species and collisionality?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078EF-3BC4-497F-9DB8-D1B21DC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053C8-C73F-4597-95A6-43783377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B8B1F-E21E-4563-AA03-2D13A9E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42C98-9DF3-46C7-A946-E938976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expensive calculation confirms 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1E9CF-8797-40BC-B91C-16676CF5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FD9DD-B872-43E7-9969-FFAE489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5D131-DABA-47F1-A01A-3B0ED4F3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78A26-4739-4BDD-87E1-8B8F406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41</a:t>
            </a:r>
          </a:p>
        </p:txBody>
      </p:sp>
    </p:spTree>
    <p:extLst>
      <p:ext uri="{BB962C8B-B14F-4D97-AF65-F5344CB8AC3E}">
        <p14:creationId xmlns:p14="http://schemas.microsoft.com/office/powerpoint/2010/main" val="179577357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2D4213-C9BB-421F-9E52-0CA3879C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C8D6-1509-457C-AE9D-1CF2F55A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e9a912be8444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C0FDE-284E-4375-B507-E66D10E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Exercise extension - choose two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86393-DC99-4B63-BC16-F5B8C22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1E859-7EFA-4E18-B2F5-D7026A2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D3383-192A-40A8-BAC1-157EDF2B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12905-4520-43DD-AD61-B4C80FD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C03C8-9171-4F97-B6E5-91B5B491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Pick an early screen that runs in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9EA31-5ECB-49DE-B01D-D824CB2B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CEF6D-9A6B-4759-96B4-35EE5FEB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6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4DFBB-FF9C-4853-A7D7-04DFC61E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656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1D1E7-98A8-431F-A516-C189C1F4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Pick a validation gate for finalists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30F33-5B52-4851-AA11-787760CB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39EA-A45A-4348-A5D3-369391B6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B3FD5-3EA3-46D1-90E1-6C965CFC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CCFBF-899E-4A49-BC47-5117909F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384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7620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which design could fail each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EE379-F34A-4AB9-A57A-FD22C79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2FE90-6B36-461D-998E-C29B0D0A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Class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B4ED9-D4D3-47DB-8EAB-FCA16A34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 the concept to one objective, one plot, and one exercise.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49B2A-07E3-40CC-8CB1-9347C4C9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C7BD0-485D-4C4C-9524-0085CFB7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B4F75-BCB9-4933-B221-B7D340D6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EE72B-51CA-492F-82BC-9D083A37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42</a:t>
            </a:r>
          </a:p>
        </p:txBody>
      </p:sp>
    </p:spTree>
    <p:extLst>
      <p:ext uri="{BB962C8B-B14F-4D97-AF65-F5344CB8AC3E}">
        <p14:creationId xmlns:p14="http://schemas.microsoft.com/office/powerpoint/2010/main" val="85280661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3631BE-DBEF-43A0-9A17-AB8437A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7CEB6-7C4E-4D8B-BD0A-CE76E26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aa2559fd14b1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BA540-690B-463E-976E-6888EE3B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Transport metrics are gates, not decorations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CA3BE-7473-4B81-BCA8-73B6665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FD0A7-5F4F-4A18-995A-C10E4E69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6037B-7FBD-4712-AC4B-65594413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cheap metrics to steer the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2227A-0851-419F-9C10-DF5D46F5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2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F8FCD-DB16-4B64-872A-FB37B1B0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780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expensive metrics to challenge finalists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BD03A-68E5-409C-9F64-A196D217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0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131FE-91E9-40E9-BFCB-39432E5A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2585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Always record the physics omitted by the shortcut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F2551-15A8-4D1D-9180-16191705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70417-E567-480C-8DC8-133B458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2A1B8-0248-42EF-91E0-5E956E02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C8014-1F07-4C8B-96CF-B9F93A21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EB40-A639-4C9E-BBAE-03E32F39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D8DDF-769E-4ABE-8E07-7D2E752F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43</a:t>
            </a:r>
          </a:p>
        </p:txBody>
      </p:sp>
    </p:spTree>
    <p:extLst>
      <p:ext uri="{BB962C8B-B14F-4D97-AF65-F5344CB8AC3E}">
        <p14:creationId xmlns:p14="http://schemas.microsoft.com/office/powerpoint/2010/main" val="32024283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7C7FA7-D8AE-479B-87F3-FA02041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2A06F-1114-43FF-BEE0-4F75172E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93ef83c94419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2A8B6-5F16-4D2D-BA6D-F497995B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Lecture 3 take-home messages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CAF0-F1EA-4DC9-A371-EA4D6B2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2D2A7-BECA-4B63-9A12-DD4D165D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D5571-73A8-4FA2-8B22-81964EE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Neoclassical, turbulence, and particles enter at different costs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D4113-EAC7-4C86-BAAA-80F7B8B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2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F3274-B3A6-4D63-9D26-97AB1AD6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780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design ranking is only as strong as its validation ladder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FC038-0250-4AD2-AB2F-05682177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0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B767A-7552-4140-A8EF-3B0D2A5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25850"/>
            <a:ext cx="8667750" cy="79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 assumptions should be visible on every transport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5DCE5-B8CE-4C70-B9B0-2A9D426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978C4-7EBB-4221-A4EF-D801939B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22C59-AB32-4EEB-AA93-09EBC41D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78291-510A-4E5E-91F1-B44856A5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06739-4B73-49B4-95A0-CEC2E65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6693F-233F-4567-B119-0BA5F14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44</a:t>
            </a:r>
          </a:p>
        </p:txBody>
      </p:sp>
    </p:spTree>
    <p:extLst>
      <p:ext uri="{BB962C8B-B14F-4D97-AF65-F5344CB8AC3E}">
        <p14:creationId xmlns:p14="http://schemas.microsoft.com/office/powerpoint/2010/main" val="97285099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5969B-90F0-4834-A8B6-573681E8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661DE-7EE6-4F1A-882D-008F8E46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51628-95BA-4EE6-9F87-05F89570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42522cb6b477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BCD30-51A0-441B-9ACB-1015D455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92D30-2691-465D-ABA1-B3ACA4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Take-home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0DE34-AF80-4858-8498-23F09BC3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9E95F-B06D-4DA1-B8FF-1E8E8F9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23843-3CFA-435C-8EAD-93DA5C1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scientific object and the computed artifact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41EBB-9A8F-4027-9EC2-B4806A00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56D4E-A6E2-48B4-8059-CA998417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Rerun, perturb, compare, and explain before trusting the optimum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CDB39-83F0-4D7E-A62B-F6A23016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773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2D550-FE80-488B-9E33-D7202BD5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Repo lab handoff: rerun, perturb, compare, explain.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EC8FB-2F6D-46CC-B7D3-DDD00C7B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45</a:t>
            </a:r>
          </a:p>
        </p:txBody>
      </p:sp>
    </p:spTree>
    <p:extLst>
      <p:ext uri="{BB962C8B-B14F-4D97-AF65-F5344CB8AC3E}">
        <p14:creationId xmlns:p14="http://schemas.microsoft.com/office/powerpoint/2010/main" val="1070874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2026-05-23T14:54:34.4860000Z</dcterms:created>
  <dcterms:modified xsi:type="dcterms:W3CDTF">2026-05-23T14:54:34.4860000Z</dcterms:modified>
</coreProperties>
</file>