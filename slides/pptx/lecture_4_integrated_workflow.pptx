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325618c44af4a40" /><Relationship Type="http://schemas.openxmlformats.org/officeDocument/2006/relationships/extended-properties" Target="/docProps/app.xml" Id="R37d969e6c27647fb" /><Relationship Type="http://schemas.openxmlformats.org/officeDocument/2006/relationships/officeDocument" Target="/ppt/presentation.xml" Id="R9fc76ada90af49a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f09b44f7b394a6c"/>
  </p:sldMasterIdLst>
  <p:notesMasterIdLst>
    <p:notesMasterId xmlns:r="http://schemas.openxmlformats.org/officeDocument/2006/relationships" r:id="Rf3fcf347d6534048"/>
  </p:notesMasterIdLst>
  <p:sldIdLst>
    <p:sldId xmlns:r="http://schemas.openxmlformats.org/officeDocument/2006/relationships" id="256" r:id="R01f6c05244184e60"/>
    <p:sldId xmlns:r="http://schemas.openxmlformats.org/officeDocument/2006/relationships" id="257" r:id="R8f0220a9c4f64ba2"/>
    <p:sldId xmlns:r="http://schemas.openxmlformats.org/officeDocument/2006/relationships" id="258" r:id="Rab3390dcf7364d08"/>
    <p:sldId xmlns:r="http://schemas.openxmlformats.org/officeDocument/2006/relationships" id="259" r:id="R1bf0a953c7c74710"/>
    <p:sldId xmlns:r="http://schemas.openxmlformats.org/officeDocument/2006/relationships" id="260" r:id="R4827471bf3c84ede"/>
    <p:sldId xmlns:r="http://schemas.openxmlformats.org/officeDocument/2006/relationships" id="261" r:id="R8085bf244d3042f2"/>
    <p:sldId xmlns:r="http://schemas.openxmlformats.org/officeDocument/2006/relationships" id="262" r:id="Ra28b12bbffdd47a5"/>
    <p:sldId xmlns:r="http://schemas.openxmlformats.org/officeDocument/2006/relationships" id="263" r:id="R71a3371a5c6944f5"/>
    <p:sldId xmlns:r="http://schemas.openxmlformats.org/officeDocument/2006/relationships" id="264" r:id="R32b385e3ce314acd"/>
    <p:sldId xmlns:r="http://schemas.openxmlformats.org/officeDocument/2006/relationships" id="265" r:id="R0d0e0091b9bd472c"/>
    <p:sldId xmlns:r="http://schemas.openxmlformats.org/officeDocument/2006/relationships" id="266" r:id="R94274307c11c4c7c"/>
    <p:sldId xmlns:r="http://schemas.openxmlformats.org/officeDocument/2006/relationships" id="267" r:id="Rf4ff25acd88a47d9"/>
    <p:sldId xmlns:r="http://schemas.openxmlformats.org/officeDocument/2006/relationships" id="268" r:id="R6093cd791072496e"/>
    <p:sldId xmlns:r="http://schemas.openxmlformats.org/officeDocument/2006/relationships" id="269" r:id="Reb279ebd97c242eb"/>
    <p:sldId xmlns:r="http://schemas.openxmlformats.org/officeDocument/2006/relationships" id="270" r:id="R354c10f2cf74493d"/>
    <p:sldId xmlns:r="http://schemas.openxmlformats.org/officeDocument/2006/relationships" id="271" r:id="Ra059a0adb7a34324"/>
    <p:sldId xmlns:r="http://schemas.openxmlformats.org/officeDocument/2006/relationships" id="272" r:id="Rae7eafefccf249d9"/>
    <p:sldId xmlns:r="http://schemas.openxmlformats.org/officeDocument/2006/relationships" id="273" r:id="Rcd5b5baf6a674b0e"/>
    <p:sldId xmlns:r="http://schemas.openxmlformats.org/officeDocument/2006/relationships" id="274" r:id="R22514c0cec5648ed"/>
    <p:sldId xmlns:r="http://schemas.openxmlformats.org/officeDocument/2006/relationships" id="275" r:id="R2eb3a18fee674be0"/>
    <p:sldId xmlns:r="http://schemas.openxmlformats.org/officeDocument/2006/relationships" id="276" r:id="R1185ad7749384189"/>
    <p:sldId xmlns:r="http://schemas.openxmlformats.org/officeDocument/2006/relationships" id="277" r:id="R45d1713bcac1433c"/>
    <p:sldId xmlns:r="http://schemas.openxmlformats.org/officeDocument/2006/relationships" id="278" r:id="R5fb669a0c9d4432c"/>
    <p:sldId xmlns:r="http://schemas.openxmlformats.org/officeDocument/2006/relationships" id="279" r:id="Rc9b6bc6b731e4448"/>
    <p:sldId xmlns:r="http://schemas.openxmlformats.org/officeDocument/2006/relationships" id="280" r:id="R2e61bb5f8fd34dcb"/>
    <p:sldId xmlns:r="http://schemas.openxmlformats.org/officeDocument/2006/relationships" id="281" r:id="Rdd556955b3834f3f"/>
    <p:sldId xmlns:r="http://schemas.openxmlformats.org/officeDocument/2006/relationships" id="282" r:id="R0c04b9c5ca08477d"/>
    <p:sldId xmlns:r="http://schemas.openxmlformats.org/officeDocument/2006/relationships" id="283" r:id="Rffd90e650a2c496b"/>
    <p:sldId xmlns:r="http://schemas.openxmlformats.org/officeDocument/2006/relationships" id="284" r:id="R0b9965794b614282"/>
    <p:sldId xmlns:r="http://schemas.openxmlformats.org/officeDocument/2006/relationships" id="285" r:id="R946762e6563d4660"/>
    <p:sldId xmlns:r="http://schemas.openxmlformats.org/officeDocument/2006/relationships" id="286" r:id="Re67e882f2d8f48c9"/>
    <p:sldId xmlns:r="http://schemas.openxmlformats.org/officeDocument/2006/relationships" id="287" r:id="Rf156f77cd7d5429d"/>
    <p:sldId xmlns:r="http://schemas.openxmlformats.org/officeDocument/2006/relationships" id="288" r:id="R88102f25bfc9433c"/>
    <p:sldId xmlns:r="http://schemas.openxmlformats.org/officeDocument/2006/relationships" id="289" r:id="Rfc5f9545e4af49b9"/>
    <p:sldId xmlns:r="http://schemas.openxmlformats.org/officeDocument/2006/relationships" id="290" r:id="R8dcb63fcfef647b9"/>
    <p:sldId xmlns:r="http://schemas.openxmlformats.org/officeDocument/2006/relationships" id="291" r:id="Rd4cb1ef3c1d54093"/>
    <p:sldId xmlns:r="http://schemas.openxmlformats.org/officeDocument/2006/relationships" id="292" r:id="Rca124081d3f24c2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09b44f7b394a6c" /><Relationship Type="http://schemas.openxmlformats.org/officeDocument/2006/relationships/theme" Target="/ppt/theme/theme1.xml" Id="Rae6782debfa04bf7" /><Relationship Type="http://schemas.openxmlformats.org/officeDocument/2006/relationships/notesMaster" Target="/ppt/notesMasters/notesMaster1.xml" Id="Rf3fcf347d6534048" /><Relationship Type="http://schemas.openxmlformats.org/officeDocument/2006/relationships/presProps" Target="/ppt/presProps.xml" Id="R70858bee27a64956" /><Relationship Type="http://schemas.openxmlformats.org/officeDocument/2006/relationships/viewProps" Target="/ppt/viewProps.xml" Id="Rd2411b6eb4604ddc" /><Relationship Type="http://schemas.openxmlformats.org/officeDocument/2006/relationships/tableStyles" Target="/ppt/tableStyles.xml" Id="Rc439608ed0c04cd3" /><Relationship Type="http://schemas.openxmlformats.org/officeDocument/2006/relationships/slide" Target="/ppt/slides/slide1.xml" Id="R01f6c05244184e60" /><Relationship Type="http://schemas.openxmlformats.org/officeDocument/2006/relationships/slide" Target="/ppt/slides/slide2.xml" Id="R8f0220a9c4f64ba2" /><Relationship Type="http://schemas.openxmlformats.org/officeDocument/2006/relationships/slide" Target="/ppt/slides/slide3.xml" Id="Rab3390dcf7364d08" /><Relationship Type="http://schemas.openxmlformats.org/officeDocument/2006/relationships/slide" Target="/ppt/slides/slide4.xml" Id="R1bf0a953c7c74710" /><Relationship Type="http://schemas.openxmlformats.org/officeDocument/2006/relationships/slide" Target="/ppt/slides/slide5.xml" Id="R4827471bf3c84ede" /><Relationship Type="http://schemas.openxmlformats.org/officeDocument/2006/relationships/slide" Target="/ppt/slides/slide6.xml" Id="R8085bf244d3042f2" /><Relationship Type="http://schemas.openxmlformats.org/officeDocument/2006/relationships/slide" Target="/ppt/slides/slide7.xml" Id="Ra28b12bbffdd47a5" /><Relationship Type="http://schemas.openxmlformats.org/officeDocument/2006/relationships/slide" Target="/ppt/slides/slide8.xml" Id="R71a3371a5c6944f5" /><Relationship Type="http://schemas.openxmlformats.org/officeDocument/2006/relationships/slide" Target="/ppt/slides/slide9.xml" Id="R32b385e3ce314acd" /><Relationship Type="http://schemas.openxmlformats.org/officeDocument/2006/relationships/slide" Target="/ppt/slides/slide10.xml" Id="R0d0e0091b9bd472c" /><Relationship Type="http://schemas.openxmlformats.org/officeDocument/2006/relationships/slide" Target="/ppt/slides/slide11.xml" Id="R94274307c11c4c7c" /><Relationship Type="http://schemas.openxmlformats.org/officeDocument/2006/relationships/slide" Target="/ppt/slides/slide12.xml" Id="Rf4ff25acd88a47d9" /><Relationship Type="http://schemas.openxmlformats.org/officeDocument/2006/relationships/slide" Target="/ppt/slides/slide13.xml" Id="R6093cd791072496e" /><Relationship Type="http://schemas.openxmlformats.org/officeDocument/2006/relationships/slide" Target="/ppt/slides/slide14.xml" Id="Reb279ebd97c242eb" /><Relationship Type="http://schemas.openxmlformats.org/officeDocument/2006/relationships/slide" Target="/ppt/slides/slide15.xml" Id="R354c10f2cf74493d" /><Relationship Type="http://schemas.openxmlformats.org/officeDocument/2006/relationships/slide" Target="/ppt/slides/slide16.xml" Id="Ra059a0adb7a34324" /><Relationship Type="http://schemas.openxmlformats.org/officeDocument/2006/relationships/slide" Target="/ppt/slides/slide17.xml" Id="Rae7eafefccf249d9" /><Relationship Type="http://schemas.openxmlformats.org/officeDocument/2006/relationships/slide" Target="/ppt/slides/slide18.xml" Id="Rcd5b5baf6a674b0e" /><Relationship Type="http://schemas.openxmlformats.org/officeDocument/2006/relationships/slide" Target="/ppt/slides/slide19.xml" Id="R22514c0cec5648ed" /><Relationship Type="http://schemas.openxmlformats.org/officeDocument/2006/relationships/slide" Target="/ppt/slides/slide20.xml" Id="R2eb3a18fee674be0" /><Relationship Type="http://schemas.openxmlformats.org/officeDocument/2006/relationships/slide" Target="/ppt/slides/slide21.xml" Id="R1185ad7749384189" /><Relationship Type="http://schemas.openxmlformats.org/officeDocument/2006/relationships/slide" Target="/ppt/slides/slide22.xml" Id="R45d1713bcac1433c" /><Relationship Type="http://schemas.openxmlformats.org/officeDocument/2006/relationships/slide" Target="/ppt/slides/slide23.xml" Id="R5fb669a0c9d4432c" /><Relationship Type="http://schemas.openxmlformats.org/officeDocument/2006/relationships/slide" Target="/ppt/slides/slide24.xml" Id="Rc9b6bc6b731e4448" /><Relationship Type="http://schemas.openxmlformats.org/officeDocument/2006/relationships/slide" Target="/ppt/slides/slide25.xml" Id="R2e61bb5f8fd34dcb" /><Relationship Type="http://schemas.openxmlformats.org/officeDocument/2006/relationships/slide" Target="/ppt/slides/slide26.xml" Id="Rdd556955b3834f3f" /><Relationship Type="http://schemas.openxmlformats.org/officeDocument/2006/relationships/slide" Target="/ppt/slides/slide27.xml" Id="R0c04b9c5ca08477d" /><Relationship Type="http://schemas.openxmlformats.org/officeDocument/2006/relationships/slide" Target="/ppt/slides/slide28.xml" Id="Rffd90e650a2c496b" /><Relationship Type="http://schemas.openxmlformats.org/officeDocument/2006/relationships/slide" Target="/ppt/slides/slide29.xml" Id="R0b9965794b614282" /><Relationship Type="http://schemas.openxmlformats.org/officeDocument/2006/relationships/slide" Target="/ppt/slides/slide30.xml" Id="R946762e6563d4660" /><Relationship Type="http://schemas.openxmlformats.org/officeDocument/2006/relationships/slide" Target="/ppt/slides/slide31.xml" Id="Re67e882f2d8f48c9" /><Relationship Type="http://schemas.openxmlformats.org/officeDocument/2006/relationships/slide" Target="/ppt/slides/slide32.xml" Id="Rf156f77cd7d5429d" /><Relationship Type="http://schemas.openxmlformats.org/officeDocument/2006/relationships/slide" Target="/ppt/slides/slide33.xml" Id="R88102f25bfc9433c" /><Relationship Type="http://schemas.openxmlformats.org/officeDocument/2006/relationships/slide" Target="/ppt/slides/slide34.xml" Id="Rfc5f9545e4af49b9" /><Relationship Type="http://schemas.openxmlformats.org/officeDocument/2006/relationships/slide" Target="/ppt/slides/slide35.xml" Id="R8dcb63fcfef647b9" /><Relationship Type="http://schemas.openxmlformats.org/officeDocument/2006/relationships/slide" Target="/ppt/slides/slide36.xml" Id="Rd4cb1ef3c1d54093" /><Relationship Type="http://schemas.openxmlformats.org/officeDocument/2006/relationships/slide" Target="/ppt/slides/slide37.xml" Id="Rca124081d3f24c2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f43fcc48ad41494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279471cd33b4152" /><Relationship Type="http://schemas.openxmlformats.org/officeDocument/2006/relationships/notesMaster" Target="/ppt/notesMasters/notesMaster1.xml" Id="R792c8594697c468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d137d80af4d4120" /><Relationship Type="http://schemas.openxmlformats.org/officeDocument/2006/relationships/notesMaster" Target="/ppt/notesMasters/notesMaster1.xml" Id="Rb99e4a8358cd4ee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af39491c61a49a8" /><Relationship Type="http://schemas.openxmlformats.org/officeDocument/2006/relationships/notesMaster" Target="/ppt/notesMasters/notesMaster1.xml" Id="Rc7965d3e7c97458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0b7648ad1674f59" /><Relationship Type="http://schemas.openxmlformats.org/officeDocument/2006/relationships/notesMaster" Target="/ppt/notesMasters/notesMaster1.xml" Id="Rf2ede8452498431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88aa9e8ef1a43b3" /><Relationship Type="http://schemas.openxmlformats.org/officeDocument/2006/relationships/notesMaster" Target="/ppt/notesMasters/notesMaster1.xml" Id="Rd44288c8fe3c45c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ab618a5c06148c6" /><Relationship Type="http://schemas.openxmlformats.org/officeDocument/2006/relationships/notesMaster" Target="/ppt/notesMasters/notesMaster1.xml" Id="R358287e4dfee44a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75c9f73846a4ba0" /><Relationship Type="http://schemas.openxmlformats.org/officeDocument/2006/relationships/notesMaster" Target="/ppt/notesMasters/notesMaster1.xml" Id="R56d84136a675488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3e8c9bb2f46403e" /><Relationship Type="http://schemas.openxmlformats.org/officeDocument/2006/relationships/notesMaster" Target="/ppt/notesMasters/notesMaster1.xml" Id="R429d369a7aff4f1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68aa09838c146da" /><Relationship Type="http://schemas.openxmlformats.org/officeDocument/2006/relationships/notesMaster" Target="/ppt/notesMasters/notesMaster1.xml" Id="Rf5271c44b7904f5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c51d26c8d3d4857" /><Relationship Type="http://schemas.openxmlformats.org/officeDocument/2006/relationships/notesMaster" Target="/ppt/notesMasters/notesMaster1.xml" Id="R179ea24a0ac3466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c754bb1fc9a4ae6" /><Relationship Type="http://schemas.openxmlformats.org/officeDocument/2006/relationships/notesMaster" Target="/ppt/notesMasters/notesMaster1.xml" Id="Redd477fb51014fa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afa46d1279a4a3b" /><Relationship Type="http://schemas.openxmlformats.org/officeDocument/2006/relationships/notesMaster" Target="/ppt/notesMasters/notesMaster1.xml" Id="R3abbee8b2e5b447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2c81831c7354693" /><Relationship Type="http://schemas.openxmlformats.org/officeDocument/2006/relationships/notesMaster" Target="/ppt/notesMasters/notesMaster1.xml" Id="Rbf1534beff7c45f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d22358b8f024b0c" /><Relationship Type="http://schemas.openxmlformats.org/officeDocument/2006/relationships/notesMaster" Target="/ppt/notesMasters/notesMaster1.xml" Id="R99f58b29c34b42e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b989561cc9947d8" /><Relationship Type="http://schemas.openxmlformats.org/officeDocument/2006/relationships/notesMaster" Target="/ppt/notesMasters/notesMaster1.xml" Id="R46e4815ed59e439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ad8c5a0c4f84e2d" /><Relationship Type="http://schemas.openxmlformats.org/officeDocument/2006/relationships/notesMaster" Target="/ppt/notesMasters/notesMaster1.xml" Id="Rcdf018c0eb27416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a576b556abb4c37" /><Relationship Type="http://schemas.openxmlformats.org/officeDocument/2006/relationships/notesMaster" Target="/ppt/notesMasters/notesMaster1.xml" Id="R795314b2b01f4dc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a9478f4f59145ab" /><Relationship Type="http://schemas.openxmlformats.org/officeDocument/2006/relationships/notesMaster" Target="/ppt/notesMasters/notesMaster1.xml" Id="R2b73d3382af947f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6849c177ecb43f6" /><Relationship Type="http://schemas.openxmlformats.org/officeDocument/2006/relationships/notesMaster" Target="/ppt/notesMasters/notesMaster1.xml" Id="R1c81f11fe6d04c7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328c86a50744aac" /><Relationship Type="http://schemas.openxmlformats.org/officeDocument/2006/relationships/notesMaster" Target="/ppt/notesMasters/notesMaster1.xml" Id="R2f0d28aeec114e7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7c2982989994b4c" /><Relationship Type="http://schemas.openxmlformats.org/officeDocument/2006/relationships/notesMaster" Target="/ppt/notesMasters/notesMaster1.xml" Id="Reabe705a3c8b407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ca9bdf011d5496a" /><Relationship Type="http://schemas.openxmlformats.org/officeDocument/2006/relationships/notesMaster" Target="/ppt/notesMasters/notesMaster1.xml" Id="R8aaef75d31f543a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3f2a1fe4ccb4b9b" /><Relationship Type="http://schemas.openxmlformats.org/officeDocument/2006/relationships/notesMaster" Target="/ppt/notesMasters/notesMaster1.xml" Id="R2d965b1ca24745cc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ae12fb54e464edc" /><Relationship Type="http://schemas.openxmlformats.org/officeDocument/2006/relationships/notesMaster" Target="/ppt/notesMasters/notesMaster1.xml" Id="R6d18d4a9e88244c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d71fce7471e4d5f" /><Relationship Type="http://schemas.openxmlformats.org/officeDocument/2006/relationships/notesMaster" Target="/ppt/notesMasters/notesMaster1.xml" Id="Rb655d8b013d74ac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7e138153445e4ff5" /><Relationship Type="http://schemas.openxmlformats.org/officeDocument/2006/relationships/notesMaster" Target="/ppt/notesMasters/notesMaster1.xml" Id="R75f5e084337f48f5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ebb8ca89059f4a4f" /><Relationship Type="http://schemas.openxmlformats.org/officeDocument/2006/relationships/notesMaster" Target="/ppt/notesMasters/notesMaster1.xml" Id="Rd6f9412fb17c4cf6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bce77b2e65144e0" /><Relationship Type="http://schemas.openxmlformats.org/officeDocument/2006/relationships/notesMaster" Target="/ppt/notesMasters/notesMaster1.xml" Id="Rd1ba4880744c40b8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c7ec30d0979143eb" /><Relationship Type="http://schemas.openxmlformats.org/officeDocument/2006/relationships/notesMaster" Target="/ppt/notesMasters/notesMaster1.xml" Id="R95825b0671e04272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2f6b15dbcba54308" /><Relationship Type="http://schemas.openxmlformats.org/officeDocument/2006/relationships/notesMaster" Target="/ppt/notesMasters/notesMaster1.xml" Id="Rfe0561621a4d4467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73f1e15b36f04836" /><Relationship Type="http://schemas.openxmlformats.org/officeDocument/2006/relationships/notesMaster" Target="/ppt/notesMasters/notesMaster1.xml" Id="R384cf75c46e44f65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9a5b9f6e11314422" /><Relationship Type="http://schemas.openxmlformats.org/officeDocument/2006/relationships/notesMaster" Target="/ppt/notesMasters/notesMaster1.xml" Id="R225cd995f058462b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e9d0709bf9c14535" /><Relationship Type="http://schemas.openxmlformats.org/officeDocument/2006/relationships/notesMaster" Target="/ppt/notesMasters/notesMaster1.xml" Id="Rfa56751e755947e4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75052612719b4535" /><Relationship Type="http://schemas.openxmlformats.org/officeDocument/2006/relationships/notesMaster" Target="/ppt/notesMasters/notesMaster1.xml" Id="Ra1e968edd44d4f98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a1949912cf74496d" /><Relationship Type="http://schemas.openxmlformats.org/officeDocument/2006/relationships/notesMaster" Target="/ppt/notesMasters/notesMaster1.xml" Id="R46de98398a824706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29a2feea95304344" /><Relationship Type="http://schemas.openxmlformats.org/officeDocument/2006/relationships/notesMaster" Target="/ppt/notesMasters/notesMaster1.xml" Id="R1bc91b7474cd4efa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3051692567044cea" /><Relationship Type="http://schemas.openxmlformats.org/officeDocument/2006/relationships/notesMaster" Target="/ppt/notesMasters/notesMaster1.xml" Id="Rd0527b702f68436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e5fe488a1b4399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27d3821d5905470d" /><Relationship Type="http://schemas.openxmlformats.org/officeDocument/2006/relationships/slideLayout" Target="/ppt/slideLayouts/slideLayout2.xml" Id="R083e7058d8ca473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83e7058d8ca473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c37348f837545ba" /><Relationship Type="http://schemas.openxmlformats.org/officeDocument/2006/relationships/image" Target="/ppt/media/image.png" Id="R505ba14be39a4866" /><Relationship Type="http://schemas.openxmlformats.org/officeDocument/2006/relationships/image" Target="/ppt/media/image2.png" Id="R13dc56c159ed41cb" /><Relationship Type="http://schemas.openxmlformats.org/officeDocument/2006/relationships/notesSlide" Target="/ppt/notesSlides/notesSlide1.xml" Id="R299314955b91425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bb69bd31f547cd" /><Relationship Type="http://schemas.openxmlformats.org/officeDocument/2006/relationships/image" Target="/ppt/media/image3.png" Id="R65f053a5118348b9" /><Relationship Type="http://schemas.openxmlformats.org/officeDocument/2006/relationships/notesSlide" Target="/ppt/notesSlides/notesSlide2.xml" Id="R06696f82cbd049a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00a7453d9d745bf" /><Relationship Type="http://schemas.openxmlformats.org/officeDocument/2006/relationships/image" Target="/ppt/media/image4.png" Id="R3b0e9befe40e469b" /><Relationship Type="http://schemas.openxmlformats.org/officeDocument/2006/relationships/notesSlide" Target="/ppt/notesSlides/notesSlide3.xml" Id="R383c0ba81dae471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779d3b77b684a6e" /><Relationship Type="http://schemas.openxmlformats.org/officeDocument/2006/relationships/image" Target="/ppt/media/image5.png" Id="R77834042138e4b75" /><Relationship Type="http://schemas.openxmlformats.org/officeDocument/2006/relationships/notesSlide" Target="/ppt/notesSlides/notesSlide4.xml" Id="Ra364104a0b29465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10e454642334bfc" /><Relationship Type="http://schemas.openxmlformats.org/officeDocument/2006/relationships/image" Target="/ppt/media/image6.png" Id="R476ffa9ef52b4163" /><Relationship Type="http://schemas.openxmlformats.org/officeDocument/2006/relationships/image" Target="/ppt/media/image7.png" Id="Rf7de2e85d2514837" /><Relationship Type="http://schemas.openxmlformats.org/officeDocument/2006/relationships/notesSlide" Target="/ppt/notesSlides/notesSlide5.xml" Id="R64b25ace4f4e485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cff28f7cd314397" /><Relationship Type="http://schemas.openxmlformats.org/officeDocument/2006/relationships/image" Target="/ppt/media/image8.png" Id="R4aed43dd159448d7" /><Relationship Type="http://schemas.openxmlformats.org/officeDocument/2006/relationships/image" Target="/ppt/media/image9.png" Id="R27fb53b697d54cff" /><Relationship Type="http://schemas.openxmlformats.org/officeDocument/2006/relationships/notesSlide" Target="/ppt/notesSlides/notesSlide6.xml" Id="Rfb074897ec45455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bd9ae8fc0c4060" /><Relationship Type="http://schemas.openxmlformats.org/officeDocument/2006/relationships/image" Target="/ppt/media/image10.png" Id="R5f9976ad53fc4690" /><Relationship Type="http://schemas.openxmlformats.org/officeDocument/2006/relationships/notesSlide" Target="/ppt/notesSlides/notesSlide7.xml" Id="R2857a22e04af47d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9a3069f3ee84600" /><Relationship Type="http://schemas.openxmlformats.org/officeDocument/2006/relationships/image" Target="/ppt/media/image11.png" Id="Rf4e02e1bf4314fd0" /><Relationship Type="http://schemas.openxmlformats.org/officeDocument/2006/relationships/image" Target="/ppt/media/image12.png" Id="Rbca41ef24d724926" /><Relationship Type="http://schemas.openxmlformats.org/officeDocument/2006/relationships/notesSlide" Target="/ppt/notesSlides/notesSlide8.xml" Id="R9a4ba59a33ab42d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5fe011b9244c0b" /><Relationship Type="http://schemas.openxmlformats.org/officeDocument/2006/relationships/image" Target="/ppt/media/image13.png" Id="R540386a027ff4618" /><Relationship Type="http://schemas.openxmlformats.org/officeDocument/2006/relationships/notesSlide" Target="/ppt/notesSlides/notesSlide9.xml" Id="R9789272e6a3245e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35043142cf4064" /><Relationship Type="http://schemas.openxmlformats.org/officeDocument/2006/relationships/image" Target="/ppt/media/image14.png" Id="Rcd47384b28c44c3c" /><Relationship Type="http://schemas.openxmlformats.org/officeDocument/2006/relationships/notesSlide" Target="/ppt/notesSlides/notesSlide10.xml" Id="Rb3a3dbb2c43e4a7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fee8033dada48f2" /><Relationship Type="http://schemas.openxmlformats.org/officeDocument/2006/relationships/image" Target="/ppt/media/image15.png" Id="R3dcaa70d7a3e4530" /><Relationship Type="http://schemas.openxmlformats.org/officeDocument/2006/relationships/image" Target="/ppt/media/image16.png" Id="Ree544452e8994e6f" /><Relationship Type="http://schemas.openxmlformats.org/officeDocument/2006/relationships/notesSlide" Target="/ppt/notesSlides/notesSlide11.xml" Id="R3f61e881607542a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1b6960f6f3247fd" /><Relationship Type="http://schemas.openxmlformats.org/officeDocument/2006/relationships/image" Target="/ppt/media/image17.png" Id="R1191979af7d14869" /><Relationship Type="http://schemas.openxmlformats.org/officeDocument/2006/relationships/image" Target="/ppt/media/image18.png" Id="R8df88a1b71774ce0" /><Relationship Type="http://schemas.openxmlformats.org/officeDocument/2006/relationships/notesSlide" Target="/ppt/notesSlides/notesSlide12.xml" Id="R3d96a76601774fb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52d3ee1aa3343d0" /><Relationship Type="http://schemas.openxmlformats.org/officeDocument/2006/relationships/image" Target="/ppt/media/image19.png" Id="R391f15456d884fb7" /><Relationship Type="http://schemas.openxmlformats.org/officeDocument/2006/relationships/image" Target="/ppt/media/image20.png" Id="Ra8992d8f6a3c4db6" /><Relationship Type="http://schemas.openxmlformats.org/officeDocument/2006/relationships/notesSlide" Target="/ppt/notesSlides/notesSlide13.xml" Id="R1ed3e3bc5600490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f70a382dac14898" /><Relationship Type="http://schemas.openxmlformats.org/officeDocument/2006/relationships/image" Target="/ppt/media/image21.png" Id="R5dec2930b6f44dae" /><Relationship Type="http://schemas.openxmlformats.org/officeDocument/2006/relationships/notesSlide" Target="/ppt/notesSlides/notesSlide14.xml" Id="Rd26ec2dbffde488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3ff524af3d24529" /><Relationship Type="http://schemas.openxmlformats.org/officeDocument/2006/relationships/image" Target="/ppt/media/image22.png" Id="Rffabc0e803a34679" /><Relationship Type="http://schemas.openxmlformats.org/officeDocument/2006/relationships/notesSlide" Target="/ppt/notesSlides/notesSlide15.xml" Id="Raa017f9dee5a48a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b7e64ecd7d345ea" /><Relationship Type="http://schemas.openxmlformats.org/officeDocument/2006/relationships/image" Target="/ppt/media/image23.png" Id="Rf2b962cb7928403a" /><Relationship Type="http://schemas.openxmlformats.org/officeDocument/2006/relationships/notesSlide" Target="/ppt/notesSlides/notesSlide16.xml" Id="R8b7538d094af42e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ab8b2e1f6e94aac" /><Relationship Type="http://schemas.openxmlformats.org/officeDocument/2006/relationships/image" Target="/ppt/media/image24.png" Id="Rabfdf82f69444913" /><Relationship Type="http://schemas.openxmlformats.org/officeDocument/2006/relationships/notesSlide" Target="/ppt/notesSlides/notesSlide17.xml" Id="R3e9fedd8dcc6484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cdb44632cb2419d" /><Relationship Type="http://schemas.openxmlformats.org/officeDocument/2006/relationships/image" Target="/ppt/media/image25.png" Id="Rfed3352dee3740c3" /><Relationship Type="http://schemas.openxmlformats.org/officeDocument/2006/relationships/notesSlide" Target="/ppt/notesSlides/notesSlide18.xml" Id="R9518b5f2d37941b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287f942fc0b48ba" /><Relationship Type="http://schemas.openxmlformats.org/officeDocument/2006/relationships/image" Target="/ppt/media/image26.png" Id="R05e5075394804edd" /><Relationship Type="http://schemas.openxmlformats.org/officeDocument/2006/relationships/notesSlide" Target="/ppt/notesSlides/notesSlide19.xml" Id="R1874fcf9313c438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cec2f7b29e146ce" /><Relationship Type="http://schemas.openxmlformats.org/officeDocument/2006/relationships/image" Target="/ppt/media/image27.png" Id="Rf60926e161e044ae" /><Relationship Type="http://schemas.openxmlformats.org/officeDocument/2006/relationships/image" Target="/ppt/media/image28.png" Id="R20c5f699a961469b" /><Relationship Type="http://schemas.openxmlformats.org/officeDocument/2006/relationships/notesSlide" Target="/ppt/notesSlides/notesSlide20.xml" Id="Rf51be213764447e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ff680608b1d4fd4" /><Relationship Type="http://schemas.openxmlformats.org/officeDocument/2006/relationships/image" Target="/ppt/media/image29.png" Id="R7d70047fd1404b52" /><Relationship Type="http://schemas.openxmlformats.org/officeDocument/2006/relationships/notesSlide" Target="/ppt/notesSlides/notesSlide21.xml" Id="Ra6f13ee8f2aa49c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294c5ca7fbd476d" /><Relationship Type="http://schemas.openxmlformats.org/officeDocument/2006/relationships/image" Target="/ppt/media/image30.png" Id="R7539816e452b4e16" /><Relationship Type="http://schemas.openxmlformats.org/officeDocument/2006/relationships/notesSlide" Target="/ppt/notesSlides/notesSlide22.xml" Id="R8dc8ff5b6473440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7c59d2e42b4daf" /><Relationship Type="http://schemas.openxmlformats.org/officeDocument/2006/relationships/image" Target="/ppt/media/image31.png" Id="Rea33107145b444dc" /><Relationship Type="http://schemas.openxmlformats.org/officeDocument/2006/relationships/image" Target="/ppt/media/image32.png" Id="R51bbb7b0dbd64e5f" /><Relationship Type="http://schemas.openxmlformats.org/officeDocument/2006/relationships/notesSlide" Target="/ppt/notesSlides/notesSlide23.xml" Id="Rddeb52083fb14f0d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bc838aff19e4a72" /><Relationship Type="http://schemas.openxmlformats.org/officeDocument/2006/relationships/image" Target="/ppt/media/image33.png" Id="R774f0c09fc634bf3" /><Relationship Type="http://schemas.openxmlformats.org/officeDocument/2006/relationships/notesSlide" Target="/ppt/notesSlides/notesSlide24.xml" Id="Re63e0d921c8c419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1220fd8f8b1445f" /><Relationship Type="http://schemas.openxmlformats.org/officeDocument/2006/relationships/image" Target="/ppt/media/image34.png" Id="R2d22b2f2cc2c4719" /><Relationship Type="http://schemas.openxmlformats.org/officeDocument/2006/relationships/notesSlide" Target="/ppt/notesSlides/notesSlide25.xml" Id="R33227c6d87c94b2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59a67d0e6ba4319" /><Relationship Type="http://schemas.openxmlformats.org/officeDocument/2006/relationships/image" Target="/ppt/media/image35.png" Id="R3f236dbf41664d38" /><Relationship Type="http://schemas.openxmlformats.org/officeDocument/2006/relationships/notesSlide" Target="/ppt/notesSlides/notesSlide26.xml" Id="R1d7251b730114493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5ad88c3cd04d53" /><Relationship Type="http://schemas.openxmlformats.org/officeDocument/2006/relationships/image" Target="/ppt/media/image36.png" Id="R87941afd6aae4a8e" /><Relationship Type="http://schemas.openxmlformats.org/officeDocument/2006/relationships/notesSlide" Target="/ppt/notesSlides/notesSlide27.xml" Id="R0ea188be9d6c433d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d6dd789c0884b34" /><Relationship Type="http://schemas.openxmlformats.org/officeDocument/2006/relationships/image" Target="/ppt/media/image37.png" Id="R3555e94a5256434d" /><Relationship Type="http://schemas.openxmlformats.org/officeDocument/2006/relationships/notesSlide" Target="/ppt/notesSlides/notesSlide28.xml" Id="R0569ddce9dcf4b8a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0e54e010c904510" /><Relationship Type="http://schemas.openxmlformats.org/officeDocument/2006/relationships/image" Target="/ppt/media/image38.png" Id="Rc313fe4d841c41cb" /><Relationship Type="http://schemas.openxmlformats.org/officeDocument/2006/relationships/notesSlide" Target="/ppt/notesSlides/notesSlide29.xml" Id="R1974c624c8634b94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9ae14b2dae84267" /><Relationship Type="http://schemas.openxmlformats.org/officeDocument/2006/relationships/image" Target="/ppt/media/image39.png" Id="Ra88a4cfe873849af" /><Relationship Type="http://schemas.openxmlformats.org/officeDocument/2006/relationships/image" Target="/ppt/media/image40.png" Id="Re12fa2e7935144e5" /><Relationship Type="http://schemas.openxmlformats.org/officeDocument/2006/relationships/notesSlide" Target="/ppt/notesSlides/notesSlide30.xml" Id="Rd054bf5fc8504f56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438f705147c418a" /><Relationship Type="http://schemas.openxmlformats.org/officeDocument/2006/relationships/image" Target="/ppt/media/image41.png" Id="R9bdc65fbcba648d2" /><Relationship Type="http://schemas.openxmlformats.org/officeDocument/2006/relationships/notesSlide" Target="/ppt/notesSlides/notesSlide31.xml" Id="Rbe8bacba9d1d442e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5e09abc5ce04136" /><Relationship Type="http://schemas.openxmlformats.org/officeDocument/2006/relationships/image" Target="/ppt/media/image42.png" Id="R6c48e4a6853c4ab7" /><Relationship Type="http://schemas.openxmlformats.org/officeDocument/2006/relationships/notesSlide" Target="/ppt/notesSlides/notesSlide32.xml" Id="R2db963ce81164f2b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d9b3de59e8d4bc0" /><Relationship Type="http://schemas.openxmlformats.org/officeDocument/2006/relationships/image" Target="/ppt/media/image43.png" Id="Ra119c3447f65488c" /><Relationship Type="http://schemas.openxmlformats.org/officeDocument/2006/relationships/image" Target="/ppt/media/image44.png" Id="R1c840682943c4455" /><Relationship Type="http://schemas.openxmlformats.org/officeDocument/2006/relationships/notesSlide" Target="/ppt/notesSlides/notesSlide33.xml" Id="R98584c7b29fc4f4b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8b033f07fd842e3" /><Relationship Type="http://schemas.openxmlformats.org/officeDocument/2006/relationships/image" Target="/ppt/media/image45.png" Id="Rdf8e8aa389ec43ff" /><Relationship Type="http://schemas.openxmlformats.org/officeDocument/2006/relationships/image" Target="/ppt/media/image46.png" Id="R0b4a6fb9ae804f32" /><Relationship Type="http://schemas.openxmlformats.org/officeDocument/2006/relationships/notesSlide" Target="/ppt/notesSlides/notesSlide34.xml" Id="R738acb4d304f4ec5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6e7a80d546410a" /><Relationship Type="http://schemas.openxmlformats.org/officeDocument/2006/relationships/image" Target="/ppt/media/image47.png" Id="R1211e90b557d42b4" /><Relationship Type="http://schemas.openxmlformats.org/officeDocument/2006/relationships/notesSlide" Target="/ppt/notesSlides/notesSlide35.xml" Id="R4b201619a5bf4541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f65f01e1424a86" /><Relationship Type="http://schemas.openxmlformats.org/officeDocument/2006/relationships/image" Target="/ppt/media/image48.png" Id="R75d2319ba73749bd" /><Relationship Type="http://schemas.openxmlformats.org/officeDocument/2006/relationships/notesSlide" Target="/ppt/notesSlides/notesSlide36.xml" Id="R63d638a8869f4926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1b04d863f2c46fb" /><Relationship Type="http://schemas.openxmlformats.org/officeDocument/2006/relationships/image" Target="/ppt/media/image49.png" Id="R191b00c960234e71" /><Relationship Type="http://schemas.openxmlformats.org/officeDocument/2006/relationships/notesSlide" Target="/ppt/notesSlides/notesSlide37.xml" Id="R56d0a75cab19437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B2446C-90AA-4ACA-A95C-18ABFFA5B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91F175-40B8-404E-8FD1-C5002AA7F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5ba14be39a486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512442-60EC-432E-87E7-1E9B5FD43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28650"/>
            <a:ext cx="68580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When does an optimized field become a reactor design?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EB7E67-53C9-4276-852B-8471F4548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55270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79E258-C942-4F29-95F9-FA0886089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819400"/>
            <a:ext cx="666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Lecture 4: profiles, Pareto decisions, and the repo lab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82DC00-C6E6-41DE-8C3A-1EAE9C4AE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33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4BD838-9FD1-443B-BF9C-B3C4B8FFD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29050"/>
            <a:ext cx="542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design becomes credible when the workflow is validated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A89B91-95BC-4696-87E1-9187DA312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9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F50D16-93C6-4EE6-A78E-1BAF77E73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542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Docs: https://sos2026-rjorge-stellarator-optimization.readthedocs.io/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0B11AE-3663-4FA7-8108-04BAAB7DC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66800"/>
            <a:ext cx="41719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dc56c159ed41cb"/>
          <a:stretch xmlns:a="http://schemas.openxmlformats.org/drawingml/2006/main"/>
        </p:blipFill>
        <p:spPr>
          <a:xfrm xmlns:a="http://schemas.openxmlformats.org/drawingml/2006/main">
            <a:off x="7277100" y="1433859"/>
            <a:ext cx="3752850" cy="2371031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FFE339-8914-49C3-806B-56BD8332F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676900"/>
            <a:ext cx="121920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7BBC06-98B1-4E81-8DFB-BDF36BE7C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24550"/>
            <a:ext cx="542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CEA-IRFM / Renaissance Fusion School on Stellarators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9D2868-48AF-4685-A6BB-2615F72C2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Aix-en-Provence, 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107ED2-0807-4739-A5B1-62CB0DC0B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03885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Rogerio Jorge, University of Wisconsin-Madison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0E0752-4B2B-475A-A222-5DC5FEC7E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Repo: github.com/rogeriojorge/sos2026-rjorge-stellarator-optimization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7C26DA-B90D-4B4E-BF29-C7FFCA604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286500"/>
            <a:ext cx="3714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Docs: 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D1DF54-9A90-49E3-9BD3-B198DE0DB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Slide 01</a:t>
            </a:r>
          </a:p>
        </p:txBody>
      </p:sp>
    </p:spTree>
    <p:extLst>
      <p:ext uri="{BB962C8B-B14F-4D97-AF65-F5344CB8AC3E}">
        <p14:creationId xmlns:p14="http://schemas.microsoft.com/office/powerpoint/2010/main" val="67188491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647AE9-01BC-4638-808F-56C446794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6F8146-05EC-4FD2-BFBD-481E8A35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f053a5118348b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66A44A-47C6-4C2A-9306-E1773D90A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The full loop has memory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53C737-0184-4598-B9B3-C6D7B363C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1EF1B1-C728-4D60-8D4A-84D881352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9525">
            <a:solidFill>
              <a:srgbClr val="C5050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6D3386-74D9-410B-80BC-7A5A40B98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AA14CD-3B4E-424B-8A06-03DC99B24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4111B2-5ABF-4899-A473-F06846466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1949CE-3106-402D-9ED8-EFAF13F15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Boozer spectrum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DE0E92-D5F1-4E9A-9130-D487E450B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AA7044-66C0-4317-9F6E-093EE807E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2B474C-8697-4A49-853C-F8C53EB0C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Neoclassical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3F1906-4A05-4A69-BD9B-DD0DEE556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5FCA81-02DA-4F49-B95C-B54990BBE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13878F-DF5E-4AF6-B12E-DF50FC27A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90C6A5-31D2-4345-B991-2D40292A3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E396BD-1D71-4409-AC27-A786D225C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074EDC-B6D6-4C65-ACE4-767F7C5B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BDF2C8-115A-4097-B066-CD305C70A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A720E4-1265-41E0-A845-F3E4B86DF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D8B650-A30E-4268-A5B6-D0DC835F2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ECFBDD-34F6-4DB6-903E-D7A251E95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340C5A-148C-4148-8478-9A8FA07D4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B2DCBE-C940-4967-8FFB-D26A411FD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8D7308-07E3-4F53-8F68-DC6CD6A30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95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B68FC0-6AF0-4368-BF99-8FC3EC25E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910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Geometry changes transport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C1AE427-1BAD-4F64-9B03-F24166EE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910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EA965B-2D74-4E2B-B7EE-D27F305CF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6863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Transport changes profiles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A7369D-60D3-4F61-B91D-716CD4811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863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084156D-97D0-4F4F-8624-B3A86D8EA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816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Profiles change objectives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BA35EF8-1CAF-4153-BFD3-B168DCCB0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24BA5B0-0810-4FEC-A73B-08558421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E8C3131-F71B-4DB5-B8CB-A338BBA6B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FE0BD5B-0375-4432-A960-F0A8AB6DE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F46FF35-428A-4838-B19E-ECE7A8EA6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02</a:t>
            </a:r>
          </a:p>
        </p:txBody>
      </p:sp>
    </p:spTree>
    <p:extLst>
      <p:ext uri="{BB962C8B-B14F-4D97-AF65-F5344CB8AC3E}">
        <p14:creationId xmlns:p14="http://schemas.microsoft.com/office/powerpoint/2010/main" val="133020199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AB10CCD-B86A-41F6-B2CF-067D55EDB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B3685E-87B4-4E82-80F9-40078FF00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0e9befe40e469b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29E864-BCF7-4986-BE1A-A1F1E8013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Modern workflows are multi-fidelity by design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89221B-35D6-4023-B52C-05D08A6FB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CA08F3-A323-4C1D-8569-3CD545CBB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124AE8-1E41-4ADD-ADD9-F03425F4D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6E454F-4A9A-4631-8FF1-F3A54A86A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107AA0-F57B-4354-9457-8D9085307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972498-8270-4181-8954-34128FCB3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A4B920-223C-4F7D-BBF3-23BDE8D21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51453C-786D-4A02-BDE7-67762B78B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SIMSOPT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9DBB0B-D9A0-4D94-966A-D42394439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objective terms, geometry objects, and coils live in one optimization framework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01D336-140C-4909-B15C-3A1D26979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301705-378F-4CA9-9CCC-97376E51C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19DE4E-FBBE-4274-A068-6FE915DE7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JAX transport tools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4B642D-ABE2-4C4D-A02C-0F0940809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differentiable metrics are useful only inside a documented claim scope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C1B354-C439-4B0F-AA2A-37A049944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214C94-5D32-4575-B487-AD7A9629F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0F3236-5273-436B-9A04-21377B8CC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Profile closure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CA9387-6F98-4E14-96B8-13D9F14F8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sources and turbulence can reverse a geometry-only ranking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21824E-3E29-4015-942D-C99C751B0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7A0838-0340-40DE-B20F-129AFDBEE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5783F5-5C4F-4C74-B291-A83307857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74EFD4-E6B5-42A3-BF0A-9BFB6362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733150-804F-422A-B5D7-2056D0438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3168CE3-51FA-46C6-BA5C-0B50857A6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Refs: Landreman et al., JOSS 6, 3525 (2021); sfincs-jax and SPECTRAX-GK public docs; Kim et al., JPP 90, 905900203 (2024).</a:t>
            </a:r>
          </a:p>
        </p:txBody>
      </p:sp>
    </p:spTree>
    <p:extLst>
      <p:ext uri="{BB962C8B-B14F-4D97-AF65-F5344CB8AC3E}">
        <p14:creationId xmlns:p14="http://schemas.microsoft.com/office/powerpoint/2010/main" val="146775766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FC07E4-E720-4437-9036-149C1C09B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F6F838-EFD3-4661-8377-9BA06A10E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834042138e4b7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6E0BD1-0DF6-451A-9DD7-374DEBEEF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75A34C-8B1D-4CE5-B39A-48D92FA9A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5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C565E5-FEB1-4528-AF89-9C66D1B78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PART 1. Close the loop with profiles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F34E42-AB91-47D4-B232-F9A6A0414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38550"/>
            <a:ext cx="140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8BF450-C933-4D80-9FA5-6828D9DEE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263CC9-6586-4DCC-A3D8-C155F1F43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Field optimization changes transport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106DDE-EA01-4782-89D5-4DF2EA597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29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4812DC-2E7B-4419-B9D1-57437CC53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2440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Transport changes pressure and current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4AAC8C-90C8-490B-A3CF-6F886BF22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CF7D96-5B3F-49A2-88A3-7746E3A79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FE59C0-7FFF-4FF9-8CF6-11D6DF606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841D33-5FB8-498E-84D7-84D02C5F1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B1CDED-F89F-4954-AFEE-978CC9972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04</a:t>
            </a:r>
          </a:p>
        </p:txBody>
      </p:sp>
    </p:spTree>
    <p:extLst>
      <p:ext uri="{BB962C8B-B14F-4D97-AF65-F5344CB8AC3E}">
        <p14:creationId xmlns:p14="http://schemas.microsoft.com/office/powerpoint/2010/main" val="210896993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39DFE21-5E82-4174-BBA4-F45395C03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2C0275-6388-44B1-8AA1-F8C25C72C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6ffa9ef52b4163"/>
          <a:stretch xmlns:a="http://schemas.openxmlformats.org/drawingml/2006/main"/>
        </p:blipFill>
        <p:spPr>
          <a:xfrm xmlns:a="http://schemas.openxmlformats.org/drawingml/2006/main">
            <a:off x="1171297" y="1695450"/>
            <a:ext cx="6039405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CD4E19-9225-413A-A713-C14D35F3D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A07C02-74E4-439E-8F03-1A3141F53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BFE46C-7844-4618-A56E-498011D63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Temperature and density gradients drive transport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48C65F-785E-4CF2-8C02-E59AD44EA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743A3E-2962-4D5F-BC2A-76C8D7647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good field metric can underperform after closure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D0E61E-53AB-4398-BAF6-4F54D3929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E650C4-D6C9-405B-930D-8104E0E83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This fallback model teaches profile feedback, not a live NEOPAX result.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E1BCFE-3FAF-4225-8F54-7CEC862B4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de2e85d251483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85EB09-8DEC-46AE-8EEA-A51389440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Profiles turn a field optimum into a scenario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A34E18-70E6-417E-B655-B9CE4FA1B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86AA70-2AC8-43EA-BC07-70D40801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DA46C6-A136-4493-9C1F-CDE7BE5C6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5862F2-853E-4B25-8506-66584A8C6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A47DD6-7592-49AD-942C-E26F72002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F4601C-B7EA-4C7F-AB65-423FFFE2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F0F3AE-2969-4693-B4B5-D0239BEDA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Ref: transport/profile closure logic in nonlinear turbulence optimization and T3D validation literature.</a:t>
            </a:r>
          </a:p>
        </p:txBody>
      </p:sp>
    </p:spTree>
    <p:extLst>
      <p:ext uri="{BB962C8B-B14F-4D97-AF65-F5344CB8AC3E}">
        <p14:creationId xmlns:p14="http://schemas.microsoft.com/office/powerpoint/2010/main" val="203880208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C24305D-8E97-4C50-B18D-68EA68F81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23BED2-AE68-4718-ADAA-AA5F1EB36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ed43dd159448d7"/>
          <a:stretch xmlns:a="http://schemas.openxmlformats.org/drawingml/2006/main"/>
        </p:blipFill>
        <p:spPr>
          <a:xfrm xmlns:a="http://schemas.openxmlformats.org/drawingml/2006/main">
            <a:off x="1052815" y="1695450"/>
            <a:ext cx="6276370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CCF966-DC91-4F05-B224-02476B358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1E9204-7A4F-4FEB-B9EF-2CD457AD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A92825-06C8-42CC-BD03-FB309BB94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Sources, fluxes, and residuals must match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466EF5-50B8-4389-AA29-3B1503AD1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F18D01-ED13-4076-86B6-46BD326F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post-hoc residual is weak evidence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D071A0-D470-42C4-B9F4-5E681F4D4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7736C1-BB06-42F9-AAA0-0EC18F9BF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A design claim needs a solved balance, not only a field metric.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26A9B0-2F03-4007-80F0-7577FA9A2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fb53b697d54cff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CF025C-0A8A-4BC9-869A-6683E9A3F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Power balance is a credibility check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29A42E-274A-44CA-87D8-77FC6A684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D0A1C7-200E-426A-A9F6-5961522A1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CEA56A-D517-435A-9AB8-348F904E5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7114F9-0C4D-41A5-9DC0-7286F9278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F8E812-D0C1-480F-BE8B-E3D141086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9772A3-2F70-4638-B851-9A458623E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06</a:t>
            </a:r>
          </a:p>
        </p:txBody>
      </p:sp>
    </p:spTree>
    <p:extLst>
      <p:ext uri="{BB962C8B-B14F-4D97-AF65-F5344CB8AC3E}">
        <p14:creationId xmlns:p14="http://schemas.microsoft.com/office/powerpoint/2010/main" val="36986960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BEDEDD6-62A9-4777-BDC0-C232ABCAD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7F1E4C-1F07-4FDB-8716-07E4B4769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9976ad53fc4690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8AE17E-3A08-405B-80DB-A3C71F17C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Integrated objectives should be staged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29021C-BB3F-4477-9A9A-9E79374B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080DCF-AF45-4B62-85DB-2B250668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E6C7FB-17E3-4230-905A-A0F05E3C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185A03-AEDA-46E5-B35F-19034B921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C7BB89-9C1D-41A9-9197-C320F5290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936A98-B86E-40B9-B34A-9F4568B46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24B242-C9DE-47E2-948B-8F2CB3572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368485-A8B2-4D54-8326-21A21A0DD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Early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AD11C5-C98E-4E45-8417-692C80397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cheap geometry and Boozer screens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39BCE2-4AA9-4912-92E3-58B0852C1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E149BF-36AE-4849-AAEC-4BF1BC642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402E0C-353A-479F-80FB-93A0E0853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Middle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5D1E3F-4CA3-4EE2-B797-C735D2233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coils and neoclassical metrics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B33BAA-D515-4325-B9BA-EF7C237AB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104156-C5E7-4412-A8A7-F506C1259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F7B418-F468-44D1-B195-42525E6FE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B70CC5-8BDE-4DC3-9906-F80E05F60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turbulence, particles, profiles, engineering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ABA061-225E-48AC-ADB4-297E99AB2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28348C-8258-4201-BF85-14EEE58EB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7D8FC3D-EE0D-4F17-8FB0-351A15651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07DD5A-B508-446C-888B-613DCC7A6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9F85BA-E5E2-4AE0-8D74-5562D050A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07</a:t>
            </a:r>
          </a:p>
        </p:txBody>
      </p:sp>
    </p:spTree>
    <p:extLst>
      <p:ext uri="{BB962C8B-B14F-4D97-AF65-F5344CB8AC3E}">
        <p14:creationId xmlns:p14="http://schemas.microsoft.com/office/powerpoint/2010/main" val="177085492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19697FD-1A35-4EBB-8BCA-C1A613792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4B28D8-9F16-4D6E-BC98-F1D867554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e02e1bf4314fd0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5266F4-DD80-4725-8C6B-1055F9CE5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Demo break: profile closure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438DCE-E478-4F23-B0F6-739FF6FEE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F75547-0B77-4C6A-80C2-2ED7CB98B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8633C0-E4DA-4242-88E9-0AF2AC296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9ADBEF-091C-4365-BF76-2A12AF893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383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Notebook break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722CCC-E6CC-49A8-B987-0EEA684F1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527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notebooks/10_neopax_profile_closure.ipynb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2DA87A-628B-4159-BBAC-30151797D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E5CAF4-87F6-4D7F-86D3-7A18EB0FF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718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Plot temperature response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7948B7-53EA-4612-8B5E-AF9B6E43E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86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ED331C-B0FD-44D1-AE34-8E7592D54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9814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Inspect power balance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85C608-4141-4639-9270-576E7C003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95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EB7BFB-05C3-4F05-9941-4661FD5A8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910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Say what remains cached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a41ef24d724926"/>
          <a:stretch xmlns:a="http://schemas.openxmlformats.org/drawingml/2006/main"/>
        </p:blipFill>
        <p:spPr>
          <a:xfrm xmlns:a="http://schemas.openxmlformats.org/drawingml/2006/main">
            <a:off x="5744653" y="1657350"/>
            <a:ext cx="5084193" cy="31432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EDC8A9-3C84-4602-A8FB-64E26A58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143500"/>
            <a:ext cx="533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FD595B-C044-4C65-87FD-6A469317B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267325"/>
            <a:ext cx="4914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Cached mode first. Repo: https://github.com/rogeriojorge/sos2026-rjorge-stellarator-optimization | Docs: https://sos2026-rjorge-stellarator-optimization.readthedocs.io/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1B11A1-E3D6-48D2-8074-AFE488C23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00FC1A-6697-46ED-80A2-931B53D6E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FC6071-0594-4CD8-91FF-103E132DC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C2FFF0-88D2-4D87-B0CD-6975FB095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2AB4FC-C7FC-4905-B392-E004DA851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08</a:t>
            </a:r>
          </a:p>
        </p:txBody>
      </p:sp>
    </p:spTree>
    <p:extLst>
      <p:ext uri="{BB962C8B-B14F-4D97-AF65-F5344CB8AC3E}">
        <p14:creationId xmlns:p14="http://schemas.microsoft.com/office/powerpoint/2010/main" val="17129623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0515572-0143-46CC-BEEB-EFAC71D8A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E93E33-67C7-4ADC-BDA5-E456095FB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0386a027ff461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8A9988-DAB6-4E65-BEBA-22D0D9BB7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64C805-0062-44EC-AA2C-0F2348F39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5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1E458C-8A7A-4E47-B3BA-20EBAA33D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PART 2. Pareto decisions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2A7674-D945-4BE4-8CDE-8274724F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38550"/>
            <a:ext cx="140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1FE802-5F3A-49DB-807C-E352FBC87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2B9437-BE3B-45A9-BA9F-D0C12BF19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Many designs can be defensible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AEF118-7832-45F7-B02B-34E660EFF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29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53D285-1E16-4731-80C9-C7833197F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2440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decision weights must be explicit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26D02E-1493-48A0-BD6F-5EC6B7FEB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BD0D58-5F69-43DB-A9BE-B20279D3A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05F463-B68C-476E-AA96-5A5DDB58B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CF5B23-D85C-412B-BA56-21C5F5891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EE2980-2C99-4954-9189-DD40E5DEB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09</a:t>
            </a:r>
          </a:p>
        </p:txBody>
      </p:sp>
    </p:spTree>
    <p:extLst>
      <p:ext uri="{BB962C8B-B14F-4D97-AF65-F5344CB8AC3E}">
        <p14:creationId xmlns:p14="http://schemas.microsoft.com/office/powerpoint/2010/main" val="968340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36C7FF8-2730-423F-8811-4A6F53219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A56F36-F5D0-4E46-AC04-648FC9FDC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47384b28c44c3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E730EC-BBC3-4504-BFE9-09087A0C0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Reactor constraints enter as gates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D6185B-A37D-4723-8D0E-F4FF143EE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21DCE0-BCA2-4DC9-B528-A7064F07F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40EFB6-B51C-419A-8ECC-BA44923E1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A8813C-9E80-4E66-B99E-ECCAF89BE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2BE619-47EE-4539-922E-E2A8B5FD5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5BEB6A-CC73-4D98-AF2C-10F9931C7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116A7E-6E52-4441-BE4E-0F788190E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0F493D-985F-4D9F-AD0D-C484815CA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Alpha heating and losses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A0E0C5-04AD-4228-9D60-E3BF67D02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reactor-relevant loss gate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34D156-0F74-4EB5-B543-20ACBB046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C9FA67-3E9D-4AA3-A053-DF500B5B6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51799B-26CF-4211-9233-D69CDDFFE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Wall loads and blankets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846131-1B64-46D3-BD00-386740C6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engineering and material constraint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7D8DA1-736C-4386-B063-60CBF477B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4CAE7F-C1A4-4311-93B8-E433B49AA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B9F140-599A-4019-85D3-A1B31B134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Maintenance and access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12B1DE-335B-4151-880D-F9764166B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device availability constraint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3B3F70-95CB-4E19-BFAD-964064463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FC8237-BC16-4F43-AD48-3919834F1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772ED9-7470-4591-923E-38E4F7D36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A188DB-95E3-4298-A68C-F354CF551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FA67E42-35E7-493D-8C0A-0BD767A76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10</a:t>
            </a:r>
          </a:p>
        </p:txBody>
      </p:sp>
    </p:spTree>
    <p:extLst>
      <p:ext uri="{BB962C8B-B14F-4D97-AF65-F5344CB8AC3E}">
        <p14:creationId xmlns:p14="http://schemas.microsoft.com/office/powerpoint/2010/main" val="25647602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95A707-0C56-46E7-AFF2-FC0723AB9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797C58-58FC-4D6B-9DD5-FF92E452D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caa70d7a3e4530"/>
          <a:stretch xmlns:a="http://schemas.openxmlformats.org/drawingml/2006/main"/>
        </p:blipFill>
        <p:spPr>
          <a:xfrm xmlns:a="http://schemas.openxmlformats.org/drawingml/2006/main">
            <a:off x="1236085" y="1695450"/>
            <a:ext cx="5909830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8C7903-1781-43BA-9518-F59C06EC1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4A2FA9-416A-4140-9999-27966FBEF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EB61D0-1657-476F-9D5D-FDC593602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Nondominated points still require priorities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BC07B7-52B7-472B-B4EB-62648988E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87A8A7-7ED0-473C-8A73-64D798A8D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Final choice needs context and validation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5876E5-CEA6-4695-A08E-C8FDBF84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01D9BA-0AE5-40AE-89FD-33CE6135A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A Pareto front is an argument surface, not an automatic answer.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B37754-70D3-4E95-9269-9B310BE7C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544452e8994e6f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5D7E1D-270E-4DA7-B51A-462DA4C30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Pareto fronts need interpretation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5AAD3E-F6BC-4395-AC84-A2B0AC97A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623F45-902A-4C77-85E0-A5D27C2DE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C65046-A9BC-42B6-A611-C2B77AC6F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698E54-590C-497A-BA98-B96A4CCF7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C7F1E1-744B-43B3-9003-D49031F08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6CA62A-75C3-4C35-86A9-593113647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32D8E8-DDC6-4FE4-A712-4DBDC5E06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Ref: SIMSOPT objective composition and multiobjective stellarator optimization workflows.</a:t>
            </a:r>
          </a:p>
        </p:txBody>
      </p:sp>
    </p:spTree>
    <p:extLst>
      <p:ext uri="{BB962C8B-B14F-4D97-AF65-F5344CB8AC3E}">
        <p14:creationId xmlns:p14="http://schemas.microsoft.com/office/powerpoint/2010/main" val="110755197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9D59D7F-924C-4907-B81B-D255057A5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F83A9E-00A2-4768-BC1F-6A3F50D2C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91979af7d14869"/>
          <a:stretch xmlns:a="http://schemas.openxmlformats.org/drawingml/2006/main"/>
        </p:blipFill>
        <p:spPr>
          <a:xfrm xmlns:a="http://schemas.openxmlformats.org/drawingml/2006/main">
            <a:off x="1096462" y="1695450"/>
            <a:ext cx="6189076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AC4FAA-B9CF-45A4-8834-DD795AE72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8E5B86-CF93-4FA9-BD62-C1D5B010D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CCE0E2-1A14-4662-84BE-926610196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Changing weights changes the winner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76DCE9-EB3B-42E3-93EF-37F8A4F43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D08B06-5D6B-4535-A60F-B5F7CA1D6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Record weights beside every selected design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5F3F0B-6A06-4E79-B5A5-AF0118EF9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C016AE-BE9C-4BC9-B229-A3B29FA45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A weighted score is a value judgment with units and provenance.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2F95FD-00EE-4BAA-B1D2-9B3DB9019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f88a1b71774ce0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4D42F1-0157-4182-B0EE-0CB2368AA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Weights expose the design 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EE1B2C-42C5-4EF3-8FD6-E61518EE6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3FBBB7-4A10-4E25-B810-D0CFBFCCA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9EAF4D-54F3-44F2-A0F1-D7A8F90F6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0EFDBD-5F45-4031-8775-3FE059BB1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F18745-3850-4E58-A5DA-2792FFEEB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718781-3BBA-4F3B-AEA8-74F2F429E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12</a:t>
            </a:r>
          </a:p>
        </p:txBody>
      </p:sp>
    </p:spTree>
    <p:extLst>
      <p:ext uri="{BB962C8B-B14F-4D97-AF65-F5344CB8AC3E}">
        <p14:creationId xmlns:p14="http://schemas.microsoft.com/office/powerpoint/2010/main" val="134364140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CB919F-34C9-4FCC-B660-B3E304681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9883F1-7AAE-4EE2-8F54-39FCBF2D7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1f15456d884fb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043BA0-2B6D-4300-B390-990511D5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Demo break: Pareto dashboard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A1F7D5-9280-4EF9-8CAA-C95C784C4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2B5859-C95B-4B54-BF3B-79F27EF96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317FEC-966E-47AC-A077-86FEF0A4C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480A11-5D0B-4F9E-BFC0-AA524DB8C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383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Notebook break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91E993-65F6-4A31-94DC-4D57CDAE4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527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notebooks/11_pareto_design_dashboard.ipynb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D488F7-22B4-4500-8FD3-637BB500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7795EC-5F18-44F1-B5EF-0AFBB181E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718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one metric weight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D5194A-20DB-4478-878E-2012D8AFB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86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CE484A-9364-40E3-8517-6C0FDCAFE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9814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Regenerate the chart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53F077-F81C-488F-9AFF-32824AD72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95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40CD2C-C493-49DC-A147-0CD62D871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910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Defend the selected design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992d8f6a3c4db6"/>
          <a:stretch xmlns:a="http://schemas.openxmlformats.org/drawingml/2006/main"/>
        </p:blipFill>
        <p:spPr>
          <a:xfrm xmlns:a="http://schemas.openxmlformats.org/drawingml/2006/main">
            <a:off x="5681654" y="1657350"/>
            <a:ext cx="5210191" cy="31432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A5C545-9D7C-4887-80D0-C97F51FA3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143500"/>
            <a:ext cx="533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1EB305-BB82-4F46-99A4-680E45F36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267325"/>
            <a:ext cx="4914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Cached mode first. Repo: https://github.com/rogeriojorge/sos2026-rjorge-stellarator-optimization | Docs: https://sos2026-rjorge-stellarator-optimization.readthedocs.io/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D4872E-90BF-476E-9D7F-9EB80D6E3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ED8FF7-85C1-4E14-AC32-5215AC950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B94F02-3162-4AEF-924D-37A6841B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64E444-F15B-4361-AAEE-3D89D1244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2D5CA8-1DF4-429F-ABA0-00BAC80B3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13</a:t>
            </a:r>
          </a:p>
        </p:txBody>
      </p:sp>
    </p:spTree>
    <p:extLst>
      <p:ext uri="{BB962C8B-B14F-4D97-AF65-F5344CB8AC3E}">
        <p14:creationId xmlns:p14="http://schemas.microsoft.com/office/powerpoint/2010/main" val="400234507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7B873A-4546-467E-8868-44775928D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C45C04-5759-4931-8CDA-67F818985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240CFA-1BA2-49B8-ADCF-BBC0B702F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0AFC78-A827-4693-9EDC-B7B0C1AA2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51FE4B-0002-43E3-9C8A-D475EB748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DF4615-384A-4AFC-A3E9-669C1B5B8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Equilibrium, Boozer, neoclassical, turbulence, particles, profiles, coils, engineering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C4065A-D107-45ED-B445-13C52DA34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432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31BBDB-46CB-4B60-9E3E-544D610CE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385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design can pass one gate and fail the next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C48CB8-B83E-46AE-8C95-250C46F5A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2056D6-D239-4344-A7C5-C28314D6A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F7B0B4-C39F-4B74-8E58-6BFBA4877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ec2930b6f44da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3D46A4-8A3B-49AA-BB96-DE7A7EEC4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Validation gates prevent metric gaming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DF4399-A87A-4F4E-82EB-9F35DAC77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82E8C1-B4F2-4950-9DC4-40AEBA5C2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47C468-E0F6-4C8F-938B-A58AC3A9E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0C117C-0860-4DDE-ACCA-9B93347C7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5A3FF5-18ED-430B-A6A3-B183DD0DC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74E154-E2AD-428F-9D61-7DD787A80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14</a:t>
            </a:r>
          </a:p>
        </p:txBody>
      </p:sp>
    </p:spTree>
    <p:extLst>
      <p:ext uri="{BB962C8B-B14F-4D97-AF65-F5344CB8AC3E}">
        <p14:creationId xmlns:p14="http://schemas.microsoft.com/office/powerpoint/2010/main" val="23957083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A163DDF-F313-4FE5-AF6C-05D0AB6CB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C9CF0A-9B55-4548-A597-16AE7E39B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abc0e803a3467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197692-AB06-46B5-B9E1-80D934A4D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A81708-126A-4D32-A358-63F38C9F4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5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F3D6C3-7138-4601-9F6F-DB878D37C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PART 3. The GitHub repo is the lab manual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07D6F4-AD67-4BC3-8E49-DF1A5EDAC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38550"/>
            <a:ext cx="140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F00ACE-144C-4A26-8B56-BE53242D3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30573F-70AA-4A77-8349-0CACC3365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Slides explain concepts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32759F-4976-4C79-A752-363437852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29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B93529-7A87-4918-A06D-EA050E7FF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2440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Notebooks execute projects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083474-8682-4FCF-8799-29FF4C103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457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0AD4A5-9489-4850-8DED-9D7EEB831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3530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Scripts regenerate figures, movies, and status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B3767D-EB24-411C-BB10-0699A44FC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A0BEA7-09AD-4579-BA3B-0F59D08DD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35B232-8C65-4A72-9178-8F79D32C7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C46341-98F4-47B5-9B9A-17AAFA7FF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458E19-6E3D-41D1-8EE9-59EA15A3E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15</a:t>
            </a:r>
          </a:p>
        </p:txBody>
      </p:sp>
    </p:spTree>
    <p:extLst>
      <p:ext uri="{BB962C8B-B14F-4D97-AF65-F5344CB8AC3E}">
        <p14:creationId xmlns:p14="http://schemas.microsoft.com/office/powerpoint/2010/main" val="589692021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49F508-72AA-4D29-96E9-28E6C8B5A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2EAD5F-8AAD-45AA-A809-21C4E3ED6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b962cb7928403a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9B500A-23D0-440F-89AD-63133FFE0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89535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A design is a validated workflow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A80277-3944-4DD9-A44B-0E1C5E113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62350"/>
            <a:ext cx="3238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F59B63-9B01-476E-99E3-847DBAAAC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B1306B-B078-4CD4-940C-E8C394D2C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095750"/>
            <a:ext cx="6953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repo is the audit trail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C68C70-6540-4F49-BFA3-C7AE0EBA0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BCBD76-5D35-4406-85E5-69ADE7323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3C3C1E-D5CC-4ED9-B8C7-265844E96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88BC8D-728F-4770-A80D-191D25F95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237F96-D410-46E9-8DA1-8E20FB876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16</a:t>
            </a:r>
          </a:p>
        </p:txBody>
      </p:sp>
    </p:spTree>
    <p:extLst>
      <p:ext uri="{BB962C8B-B14F-4D97-AF65-F5344CB8AC3E}">
        <p14:creationId xmlns:p14="http://schemas.microsoft.com/office/powerpoint/2010/main" val="11397768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67A67C-5743-425D-B624-271BA512B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6EEBC3-82EC-482F-8F6D-3FE02B945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fdf82f69444913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2397E1-0D0D-4042-8722-2B45971F4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Repo lab 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5ADDCE-ACBF-4A10-BCDA-C0AD0BE7E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165274-134B-4450-9C52-A92F29F16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CF77CF-3D05-42E4-AEA8-357295E7E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3E1C32-863F-40D8-BDF6-7BCD7890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cached-mode command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02CDDF-A1EE-43C7-82BB-6C468A84E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4F3528-CC56-48E5-8FC3-4C45B8913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7C35AD-AB0C-4C66-9B85-1EDFFC5DB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python scripts/check_release_ready.py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22D526-0449-4140-BA63-10ED84D2F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84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AD92C0-2998-4409-AF19-7A3B9252A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7970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python scripts/make_lecture_bundle.py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8296FC-02DE-4E74-80B7-8CAB1CC05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78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D78DBD-5136-4531-A3C8-9CC2FB8DC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7345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python scripts/audit_notebook_outputs.py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111125-C4C1-412C-A420-334774DF2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0E933B-4211-43B9-8A18-B0F55636F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5A3035-5B58-413B-A3F9-CE38F9783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5CA62A-E77F-494F-986B-E0BBAF7B4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09B6A3-489A-4589-9582-2239C334C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17</a:t>
            </a:r>
          </a:p>
        </p:txBody>
      </p:sp>
    </p:spTree>
    <p:extLst>
      <p:ext uri="{BB962C8B-B14F-4D97-AF65-F5344CB8AC3E}">
        <p14:creationId xmlns:p14="http://schemas.microsoft.com/office/powerpoint/2010/main" val="1354349802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0C3D6A-76E1-4CB2-8211-1B1F5E987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B7C1EA-C7FA-408F-BFEC-D59344BBD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d3352dee3740c3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004917-C147-4456-BA0B-1C1149EC7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Cached, tiny, and research modes serve different audiences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AAB037-1E49-446D-A402-A6097236D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F799BD-F8A3-447C-BEAE-96CC9B0C4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8A4218-B4AC-438E-88BB-AEB74E1AF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D8AED6-7524-4C2B-8945-0EB7C298B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34500F-E409-436F-94EE-EE0572D05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BB2FAF-C597-4A80-84D0-C08AEB5F9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EAC9A6-2DAB-4577-BBA5-8FEE6738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42753A-8185-46D3-B321-BE66628ED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cached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0A5F4B-654C-4769-8A72-7B294F154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student reliability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5301AA-606D-4DEF-A134-8F3650BD8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2809EA-E4A7-4FBA-9353-B249611C4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CF0E81-C9B0-4040-8A26-6C7EEC52B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tiny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22BD94-2122-4BE8-A456-EA26877C4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instructor live demo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E0B4AC-B81B-42D1-9BB8-FC202C5BF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5FB617-9371-452C-AB9E-A7904F8BC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9AA083-39C7-4BD8-97B4-7C6E6F6EF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research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73C549-E9E0-4792-A7E3-4372A262E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real-code replacement after timing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1FBDC6-1E62-4684-A1A3-3CC532D2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0098DA-48BE-4B68-A8C0-1EFBA6983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8106F9-AA0F-4B87-A661-012D16CCF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A2FE79-72AD-44AB-B0C0-45451BA73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6848E8-9D8C-4CF8-B8CA-027D1AFDB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18</a:t>
            </a:r>
          </a:p>
        </p:txBody>
      </p:sp>
    </p:spTree>
    <p:extLst>
      <p:ext uri="{BB962C8B-B14F-4D97-AF65-F5344CB8AC3E}">
        <p14:creationId xmlns:p14="http://schemas.microsoft.com/office/powerpoint/2010/main" val="151828738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0354BF3-A060-434B-ABE8-A402414EC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61F8FA-05BE-40EB-A519-DE03173CE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e5075394804ed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B29628-8FA9-43CA-8BF4-28C3B483D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ReadTheDocs is the canonical guide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6A6929-71C2-4B29-9BBE-B636B8355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5E5115-7A8C-47BA-8427-77603ACB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79DECC-7139-4521-A978-20659C698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BC3885-6870-4FFE-BCF0-A21BE6F04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B09B99-956B-4525-8196-08A8449A4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5C1471-DD86-4E74-AF5E-1DF269956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21EA80-BD8E-498F-871D-317873B36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2A8A5A-1475-4BD5-8444-D6EF586D6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Docs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6A3250-7A7B-4E8F-8400-7CB86F3B4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https://sos2026-rjorge-stellarator-optimization.readthedocs.io/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C0767C-9683-4507-807F-7D3C54894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98723C-8ABF-424E-A03E-F9EB670C4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FDBDDB-ACDD-46C8-ACF3-C19BA307E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Repo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0E92FB-1765-4459-A2CC-C8E5F6F7A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github.com/rogeriojorge/sos2026-rjorge-stellarator-optimization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3490C0-0B51-4DBC-BC3A-A9791E87D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C243C3-8FC5-416B-93B0-53BDAF6EB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59FB8A-A5B9-489C-BE7E-AC16C2A4B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Use the live demo matrix during class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4F6237-D757-48C5-9995-6BE36151E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1D853F-CAD0-4151-A04D-899FE6964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B027D3-FF10-4E06-B4D2-70EBA3192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0C8EF0-F862-4932-84A1-E8CA4C2B3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676A00-BD96-42CA-9051-6513C64D6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90795A-84F7-419C-82BB-708F28826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19</a:t>
            </a:r>
          </a:p>
        </p:txBody>
      </p:sp>
    </p:spTree>
    <p:extLst>
      <p:ext uri="{BB962C8B-B14F-4D97-AF65-F5344CB8AC3E}">
        <p14:creationId xmlns:p14="http://schemas.microsoft.com/office/powerpoint/2010/main" val="1592294055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5A00CD4-0ACE-4F97-890F-C691CBB6D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A4318B-855A-434A-B1BC-ADA20FA0B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0926e161e044a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C6DFFB-4A6C-422D-AE2B-30A998396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Repo lab: full cached run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D841E8-07B6-47CA-A53E-F65799FD9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7EAD34-CCC2-465F-A2F6-0BA235110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162387-A2FF-46AC-9EA4-5A4BE9A5B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B8ECA8-4780-49A6-B950-49BD85426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383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Notebook break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58FC18-5907-4074-B3FB-6B9D052E4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527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scripts/check_release_ready.py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267735-691C-42A6-94F1-8CE908EC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AF9C02-2D1A-4E49-93D8-966AD5538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718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Run acceptance checks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6C1465-25C4-48DC-9E03-5B5A710CE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86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755622-C1BA-40CD-A049-109F80F97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9814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Review STATUS.md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580A70-BFD8-4032-BAFA-213B4567B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95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50A7AC-E503-4F77-84F4-186995723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910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Open rendered docs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c5f699a961469b"/>
          <a:stretch xmlns:a="http://schemas.openxmlformats.org/drawingml/2006/main"/>
        </p:blipFill>
        <p:spPr>
          <a:xfrm xmlns:a="http://schemas.openxmlformats.org/drawingml/2006/main">
            <a:off x="5719965" y="1657350"/>
            <a:ext cx="5133570" cy="31432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A81A09-50F0-4255-A5D9-1A0A6AC7E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143500"/>
            <a:ext cx="533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C23B1D-FB8E-4D8E-BD40-F55DCE304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267325"/>
            <a:ext cx="4914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Cached mode first. Repo: https://github.com/rogeriojorge/sos2026-rjorge-stellarator-optimization | Docs: https://sos2026-rjorge-stellarator-optimization.readthedocs.io/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C00170-1CCD-4B14-8FAB-A313589F3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841631-2F34-428D-B1D9-00F4F6527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36178C-2330-40B7-989B-AA0C04D4F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1A818B-7122-468A-9377-87B9E5F47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815601-FB9F-4ECC-8927-8797D427D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20</a:t>
            </a:r>
          </a:p>
        </p:txBody>
      </p:sp>
    </p:spTree>
    <p:extLst>
      <p:ext uri="{BB962C8B-B14F-4D97-AF65-F5344CB8AC3E}">
        <p14:creationId xmlns:p14="http://schemas.microsoft.com/office/powerpoint/2010/main" val="6163209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A60E03-1BBE-4F4C-9C63-EEFFADBE3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C9354C-7AA2-44F5-A621-F291890D1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70047fd1404b5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E3AD8E-5626-4BE6-9BE0-76D1D8D57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Coil robustness returns in the final workflow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9A61C3-7EFD-4716-AC88-B91267529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81EF0B-C0C9-4CBD-BB75-19C80AB2F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ACE072-5792-44F5-8074-E3EF2947C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E931A4-64AA-477E-B350-6EC72F101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108AB4-F616-4822-AF20-B83396A39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56B379-6E4A-4858-9EAD-98AB9743E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5559A2-99F6-482E-95D8-3642C06C2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5168E9-D939-4AD2-BDF1-A77EF00D4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Manufacturing tolerance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FB6087-99FA-4881-9F64-8ADB1FF76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can the design survive perturbations?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E3DE92-B960-4AC9-A618-D3189BF96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EAAFED-2345-46D2-9BF2-973780CFE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A6948C-A017-463E-88FB-F9B76BEE9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Current errors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497065-0C04-479D-8774-68B54E6E1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can operations maintain the target field?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C6701D-0572-4C83-922F-5C0B9583B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FF7580-6091-4AF5-809A-6AAF2F2BE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FE35C5-2036-4B62-8692-6B9AE1134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Thermal and mechanical deformation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8CB582-3294-4E3C-A2FF-2671007E5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does the coil story remain true?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B46FE5-D374-45DB-B98F-1F40C3871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AF3169-969E-464D-AE04-759F8552D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7FC416-A456-4D71-A1B9-42EE2E28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D11319-74F0-4615-BB8E-5BB377F23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65F023-6A68-47FA-81BA-FCE3FB93C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21</a:t>
            </a:r>
          </a:p>
        </p:txBody>
      </p:sp>
    </p:spTree>
    <p:extLst>
      <p:ext uri="{BB962C8B-B14F-4D97-AF65-F5344CB8AC3E}">
        <p14:creationId xmlns:p14="http://schemas.microsoft.com/office/powerpoint/2010/main" val="68550295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E7B3BCD-B1CF-4BA2-8FEF-3AE9B2E04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EAEB67-3351-4804-A783-154C87731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39816e452b4e1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EB797D-5AC7-4D1C-B89A-AD25128E2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89535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There is no single best stellarator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1583A7-DE3F-436D-8455-FB216D2FF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62350"/>
            <a:ext cx="3238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FE09CE-705C-4E43-ACCD-40FA8ED1A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183132-7928-45ED-B30E-731895D26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095750"/>
            <a:ext cx="6953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There are only defensible choices with stated priorities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A227C5-CC18-4ED1-8B35-FADD035CF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A7811E-8E6B-4350-8948-69141C756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0E8E0D-00A9-40C3-A5A7-2A5489976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86BA83-4F4D-4FF5-B0F4-501B92DDF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0E08F3-53D8-4A59-A77D-B5FA28CAD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22</a:t>
            </a:r>
          </a:p>
        </p:txBody>
      </p:sp>
    </p:spTree>
    <p:extLst>
      <p:ext uri="{BB962C8B-B14F-4D97-AF65-F5344CB8AC3E}">
        <p14:creationId xmlns:p14="http://schemas.microsoft.com/office/powerpoint/2010/main" val="678526209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D72676C-934D-45EE-99BB-66E130429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42645F-933D-4C50-B92E-42F99C507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33107145b444d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17A56C-5EBA-4191-BBEE-0B45A4B9C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Exercise: change the weights and defend a design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80DC0C-C2BE-4BC9-9993-656A3434D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98B4D4-32A9-455F-84A9-00D8CA51C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3E74D6-6D0E-4D69-A567-AD1D351EA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673741-0F56-477F-8650-B97D42157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383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Notebook break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03C406-6691-45FF-8C53-27CC714F5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527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notebooks/11_pareto_design_dashboard.ipynb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F7BAC7-6062-49DD-A57A-D4F30688A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E9F9E1-2E81-4EBF-BA1B-74F6BA2A1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718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Move one weight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7B8C5F-19A9-4588-8067-2DA50E4E5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86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AC5D76-A5C7-4B6E-B46B-A53C1B401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9814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Identify the new winner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610153-2147-4172-9B65-2F543DCEF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95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E2FE47-D9E2-4D18-A587-A1A956E16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910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Say which validation gate you now trust less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bbb7b0dbd64e5f"/>
          <a:stretch xmlns:a="http://schemas.openxmlformats.org/drawingml/2006/main"/>
        </p:blipFill>
        <p:spPr>
          <a:xfrm xmlns:a="http://schemas.openxmlformats.org/drawingml/2006/main">
            <a:off x="5799194" y="1657350"/>
            <a:ext cx="4975112" cy="31432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FB1743-A819-4EDA-AAB4-396A1369C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143500"/>
            <a:ext cx="533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841DA2-C445-4DED-BF38-C0FA4D999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267325"/>
            <a:ext cx="4914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Cached dashboard first. Docs: https://sos2026-rjorge-stellarator-optimization.readthedocs.io/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60B39F-83A8-4C05-9DE6-38AFA443B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716321-C0F0-4DC2-BE9C-91E07EC39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031E85-FC4D-44FF-B543-6A21FAA30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5A8F73-99FE-4843-A186-15044AE07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C2F463-4FF5-41B5-842A-FC561AB09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23</a:t>
            </a:r>
          </a:p>
        </p:txBody>
      </p:sp>
    </p:spTree>
    <p:extLst>
      <p:ext uri="{BB962C8B-B14F-4D97-AF65-F5344CB8AC3E}">
        <p14:creationId xmlns:p14="http://schemas.microsoft.com/office/powerpoint/2010/main" val="430510897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F1ABB40-D4DF-423A-A1ED-0D95DAB26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550C8C-2714-4771-A49A-C81E6C6AC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4f0c09fc634bf3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8A7D1C-EC22-42E7-81B7-BA53BFFCD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Documentation is part of reproducibility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51C894-5697-4BBC-ACCF-7601B73CD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456026-9EAB-41DD-8EE2-CAC24A919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548D7E-30CA-4E7B-8379-943936C58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32CF39-3C9E-4495-B51C-D2D8022F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092927-9582-42B0-A60D-4FBB99D7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75ACD6-0D60-44A0-8C42-72439C6E3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0B71A9-33B4-46CC-88DA-4AE21842B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6F5515-E434-4309-857E-DCBD3B64F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README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AC8157-E9EC-4F80-B62A-D0F6F3113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how a student starts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6A235E-D51D-4C6F-BC8A-EDF7732B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836182-F339-4F26-A9D1-D26ADC691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B4CA42-D5E5-4C24-9846-DE14B98DB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ReadTheDocs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3B7B20-2786-42DE-95A3-D01BAEA28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rendered guide during class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B140F1-CFC0-44C4-BCB1-E479C0221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92317B-4E99-4FC3-B99F-73F856F4B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ADAFBF-F5D7-41BB-BBC5-31F50AF21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STATUS.md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A197ED-9DAB-4D96-BAAB-50BCDB60D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was real, cached, or synthetic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07EB8A-458B-4E08-B866-A143EE98B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B4E1A1-0DF8-4791-B472-503529150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30A567-B059-45AD-A85F-29F599C2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141F6F-AEFB-4929-BDF1-B6FFC6836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69C3FB-5992-43B7-988A-59B669EA0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24</a:t>
            </a:r>
          </a:p>
        </p:txBody>
      </p:sp>
    </p:spTree>
    <p:extLst>
      <p:ext uri="{BB962C8B-B14F-4D97-AF65-F5344CB8AC3E}">
        <p14:creationId xmlns:p14="http://schemas.microsoft.com/office/powerpoint/2010/main" val="1338412795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28AE9E3-0AAD-4CD6-BD3B-652DD6BE5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01D4C2-7CBC-4D7B-855E-5BB03A314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22b2f2cc2c471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E4CAB4-4D12-4267-B7B0-9BB924688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69A205-83DB-4D78-8C2E-9C59B8B4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5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60233A-E362-43AE-A213-B3D4F4B0F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APPENDIX. Lecture 4 checks and replacements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F2F3A3-7153-4D4E-BEF6-D84E1A590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38550"/>
            <a:ext cx="140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572BCC-CC22-4C62-94BB-64B801719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BAEF2D-8F03-4E1D-949A-EEF9A2E97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this section before distributing the school bundle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A5E98E-C264-41D7-B814-C20D8085E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29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B42D07-0699-4E95-A038-D5E9BE1A6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2440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cached mode honest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1A3E73-597D-414D-8AEC-97B9D5A2B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F344A2-F746-4585-ABE9-3C577225E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05EBF7-28E9-409D-B47B-85A130415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18794D-E903-4B74-9407-D70F0E4FF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A14C40-0D32-4848-8A12-4B06542E4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25</a:t>
            </a:r>
          </a:p>
        </p:txBody>
      </p:sp>
    </p:spTree>
    <p:extLst>
      <p:ext uri="{BB962C8B-B14F-4D97-AF65-F5344CB8AC3E}">
        <p14:creationId xmlns:p14="http://schemas.microsoft.com/office/powerpoint/2010/main" val="1548851731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E9F9E0C-29B5-4655-8A70-D733E888D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B60C9C-7114-4A93-BC3A-ACE4DBD26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236dbf41664d3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BE6B74-C4A5-44FD-935E-6EE8C5C5E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What belongs in git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3F7A42-A463-45F2-A567-BFE5277F8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0AC139-E01F-4680-BC7B-6A45727FB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EAE266-4826-4D50-A1F3-14B6D8FC9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6DFDF3-72DC-464B-A87A-B5DB40CFF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E9FFE3-4049-47F4-97DC-0523B1D57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76918D-8C15-407D-9E2F-A1E9A2589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FC1EF4-CD9E-4079-A5AA-196B3DDDD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93FC7E-46A2-4B14-97D9-2F64FC140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Small inputs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00D0B4-7DD7-4840-9BFC-C5336B051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versioned and documented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0B06D1-E9D8-4300-950C-D641242E7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E84D9F-F08D-4E7F-93D6-C80DC73A5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9E74AB-B75C-4C2A-892E-E36AF5DF4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Cached data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C2EFAA-A540-4E31-B625-F90E10F09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labeled educational fallback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4FCB7B-C87C-4040-B65A-159E00F68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6DE64B-F669-4987-A93B-D80545C8C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7B6EEF-1529-42C7-80C8-EADC1BDFD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Large outputs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F3545C-9AAD-44EF-9D67-F9156F52C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regenerated by scripts and ignored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339EB8-84B0-49FB-9900-78C802B31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C935C3-0560-43EA-9EC7-64E6DF39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F6548E-D28A-4094-9F9A-DA47B9A0B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D1713C-7FB1-4C1D-A498-CE9063406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8DB0BB-A236-46FC-B0DD-27A121E2E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26</a:t>
            </a:r>
          </a:p>
        </p:txBody>
      </p:sp>
    </p:spTree>
    <p:extLst>
      <p:ext uri="{BB962C8B-B14F-4D97-AF65-F5344CB8AC3E}">
        <p14:creationId xmlns:p14="http://schemas.microsoft.com/office/powerpoint/2010/main" val="1579194266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6242532-260E-4AEB-A3EC-E3AF63875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0B91A6-911F-4EC4-B27F-738742E29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008F4E-3CC7-47E1-A7DC-BFF161DE6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AFC94C-A08D-4387-96F1-292A7EB4A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F2AE4C-3532-425B-8B21-34F96AC4D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828804-AE48-4BBD-9DB8-EE4C98DB4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Original package PDFs and PPTX files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7E228C-9762-43A9-9028-9356CD0EB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24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001123-FF62-4F93-9E77-47EB09BCE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Private screenshots and huge generated media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09929D-34E0-4C40-A4F6-10C4D1521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50B692-CD13-4CC8-B39B-3AF2734E8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Local environments and secrets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C0D1B8-D1DD-496C-8855-00D010537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86035D-C69F-403B-95A1-606B7EE20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7D80F3-1A7B-406B-8DCD-478C0B728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941afd6aae4a8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B05EE9-E004-4D87-A6D1-BEBD8C246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What stays out of git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63191A-3E49-48C8-B9B6-2798702EC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F0190F-1123-49E2-9500-3D98A5601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EE6DA3-396F-403A-8E70-91BF780CA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157C1E-4305-4077-B9C2-D3275F0CB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3EDC08-14FF-4228-B6B0-61974B064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FB3098-13FC-49EA-865E-08227CE11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27</a:t>
            </a:r>
          </a:p>
        </p:txBody>
      </p:sp>
    </p:spTree>
    <p:extLst>
      <p:ext uri="{BB962C8B-B14F-4D97-AF65-F5344CB8AC3E}">
        <p14:creationId xmlns:p14="http://schemas.microsoft.com/office/powerpoint/2010/main" val="8540165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27940E3-AC71-4FBE-9803-BD2E1578D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35A4B6-9206-4441-937E-AB7053F8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55e94a5256434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5B8351-BC2B-4A41-A922-71FF7EAE8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STATUS.md anatomy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6FB2AE-46A5-4B7D-98E1-233877C9A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C1AB50-3681-4D11-A93B-9A2ACF911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600BF8-0400-4336-A01E-51283C578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AC8463-0FF9-4EB5-B7EC-70E7A933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08923B-784F-4699-A4E7-AC6EE65F4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57EF5C-677D-435C-AC05-A33BCFA02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F9A087-819B-4008-8C1B-A1E30ED5F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ED14F7-CAFC-48D5-8D9C-39C4EAFF9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Package status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54EF27-14F8-47B3-8A79-47C18D494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imported and what was skipped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2EC518-9410-4121-884A-260D32435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3B3BE3-A34A-4FB1-89E6-BCBCBD2A2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A1B27A-D164-4A22-B25D-76B9F7BC0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Data status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718A97-8398-4426-90E9-E3E7DADF5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was real and what was synthetic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98F378-2347-479F-92DB-81B3B81B9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454E2A-FAF0-49ED-864A-C2650746C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EE09E0-8C14-436E-84AF-8E2664A78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Notebook status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5C2092-2B34-4F54-A60D-D8FCE1C15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ran and saved outputs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A38864-AB09-4ADF-811A-93CA9FE2C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490305-810D-48CE-BAED-A714E0E62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BB1F6B-24C6-4DBE-8DDF-B7D9F2AC9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326FB9-21E2-4A0D-8303-CFA38C3A2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49718AE-C291-4A72-AED0-5EF683FD0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28</a:t>
            </a:r>
          </a:p>
        </p:txBody>
      </p:sp>
    </p:spTree>
    <p:extLst>
      <p:ext uri="{BB962C8B-B14F-4D97-AF65-F5344CB8AC3E}">
        <p14:creationId xmlns:p14="http://schemas.microsoft.com/office/powerpoint/2010/main" val="1201547057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635293-EDB3-4363-A1F5-3DB21D29E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AB5A9E-5F9A-4D11-BF74-3F8A84285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6CF213-A390-4B93-9FD9-806334050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0B427E-8CC9-4631-859E-36CC234DA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1F50AF-149E-4A4D-98CD-BF6228555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E3EF22-D335-4FC2-9716-026FA1F82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package starts compiling during class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D6EABA-E10B-4ADB-B20D-30BB85ED9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24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49F9D4-8FA1-4E23-85D3-706A9CE98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notebook loses its cached fallback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13A3D8-6F36-407C-9159-67A00C7DA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B71612-8805-46E8-A41A-B38E3F7F6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result is numerical but the validation path is missing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124236-0BAD-445B-AE04-370149C52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26586D-DAE3-41FD-955A-5694CBBB6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5D5C74-804A-4408-9847-19A736344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13fe4d841c41cb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67B6D7-3668-4116-9D42-41563973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Live-demo abort criteria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06B13C-667A-4CC4-89FC-7A8F29FB5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7D22A4-D91B-4292-A9BC-409D25630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D37C84-094A-491A-B3BC-862360230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C7FF4F-8EBE-4033-96B4-8C8EADB97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C8C34D-88A2-492A-A34B-5B9A367B4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C135E5-6D1E-4937-81EE-496C8A378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29</a:t>
            </a:r>
          </a:p>
        </p:txBody>
      </p:sp>
    </p:spTree>
    <p:extLst>
      <p:ext uri="{BB962C8B-B14F-4D97-AF65-F5344CB8AC3E}">
        <p14:creationId xmlns:p14="http://schemas.microsoft.com/office/powerpoint/2010/main" val="118085453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95C205-08C3-4BD7-BAD4-19DA92B2F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1B766B-975F-400D-873B-257C7CD7C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8a4cfe873849af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2A42E5-C010-4CFA-9DB4-29618B424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Movie: toy optimization history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08DEE1-CC39-4CE4-85FC-9032D7BC5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2fa2e7935144e5"/>
          <a:stretch xmlns:a="http://schemas.openxmlformats.org/drawingml/2006/main"/>
        </p:blipFill>
        <p:spPr>
          <a:xfrm xmlns:a="http://schemas.openxmlformats.org/drawingml/2006/main">
            <a:off x="1636295" y="1524000"/>
            <a:ext cx="5604711" cy="4095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6BDDCB-BEA9-41AB-AE37-7F561D8DE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105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2140E3-7BC0-4E34-9AD1-62A242D5B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0025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Play optimization_history.gif for the loop intuition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34210B-6FE8-4BDF-8A79-89668C8B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809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D04042-0C47-4696-A50E-C0C6667C7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70510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first frame for PDF/static review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C28E9C-CC02-4EC1-9710-E9D7E84F4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686300"/>
            <a:ext cx="2762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A368E0-409B-4C18-B7D5-794A2101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819650"/>
            <a:ext cx="2457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Use the GIF live; use this first-frame PNG when PowerPoint is static.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FC624E-2E71-4EFC-BA88-7DC5409F3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7EDD27-6FE4-49C3-A5FA-3F9E56175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8074F4-B978-48B8-A3A1-B9BC47C15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F55B70-93E3-424E-8F6C-156582D2F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CD1BE8-F7C6-4A6A-90B9-2BDF99891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30</a:t>
            </a:r>
          </a:p>
        </p:txBody>
      </p:sp>
    </p:spTree>
    <p:extLst>
      <p:ext uri="{BB962C8B-B14F-4D97-AF65-F5344CB8AC3E}">
        <p14:creationId xmlns:p14="http://schemas.microsoft.com/office/powerpoint/2010/main" val="847873638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F8CD91D-0868-43D7-ABC7-8909E4658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038CB2-0DAC-4B9B-9E6B-F84925E1E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dc65fbcba648d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6A3D58-997A-432E-B577-B523D2274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Manual steps before the school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7AF3D4-A064-4B22-B7B0-A96D91663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2D5056-88CF-40F0-8B84-7B6B4552A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E0B02C-CAA6-4645-B560-8985444A2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3127F0-3543-49E5-AEBB-2937A4C65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C6A5BE-097F-4C7B-AC0E-3650CCA50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361EE7-AE44-42F6-94B4-75E574D1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DABCF8-DA5D-4A65-ABCC-2C4EF4016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DE68EC-9434-4E5E-B7D4-D91C6574F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Choose the lecture machine and environment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33AE3E-FEF0-4247-9DD1-966743934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B61072-4A5B-43B6-A78B-46E41FE5E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22126B-1D4F-4735-8920-2FD460620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00FAFE-2C05-4CA8-B61D-EA0F0A0E1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Pre-fetch equilibria and verify notebooks render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128902-EC87-480C-A5A8-ADFD814FC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C5B437-3648-4FFC-B004-03FEE9B79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4499DA-D7E1-4C11-B004-6F58F67BC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1BE758-FD16-48B2-9B62-9B5CB1573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Freeze the branch or tag used for the school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D3861D-A8A3-4F15-9712-530CFAACA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437BDC-0903-40D3-A9C9-7DCF065CD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E53E85-4F18-4CB4-9E03-A42C89DE9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0B956E-C61B-47BE-8BD1-CBD4EF6A6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F1B858-B6A8-4B6D-86EB-B3932966E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0A2D3F9-D77C-4C99-9E0F-6FB723235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31</a:t>
            </a:r>
          </a:p>
        </p:txBody>
      </p:sp>
    </p:spTree>
    <p:extLst>
      <p:ext uri="{BB962C8B-B14F-4D97-AF65-F5344CB8AC3E}">
        <p14:creationId xmlns:p14="http://schemas.microsoft.com/office/powerpoint/2010/main" val="1047910292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05B31C1-8FB7-4148-9F92-242CE479D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5175A7-4092-4F9A-B53D-3BABC773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48e4a6853c4ab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BFE21F-17D0-4983-A885-F9DB5299B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How students should use the repo after school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BEF07D-DF3B-408D-AC91-7E8B0B368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D7F89C-53DF-4B09-AB8D-349A3D414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DF5A90-6E81-4E7A-8210-C6B822576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072911-5E17-4DF6-BCF2-33E2A0B7C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41859C-60B0-45DF-A549-4E4C343E7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0514D8-91BF-40A6-97F5-85BAA2D26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F14218-A8A2-41EB-AAEB-77C37E8D7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0E9C50-471E-4B8A-9DA7-00960CCA5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Start cached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6F5B49-DC02-4B5A-AE22-5F13735BC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reproduce every figure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8A24A1-340C-4046-BD21-32CEB13BD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49E339-570E-4C55-9037-65ECB22C8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DB2FC8-61E5-4F3A-B82B-4044A52E5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Change one notebook at a time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5619D0-95B2-4048-89CE-9B1FC1CF7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7F2B00-47E4-4E35-90FF-CC56FACE5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4A224E-716D-4688-9CDC-1A861AB7D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53A787-F049-4CFB-843B-C2B707A1A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Keep generated outputs small and documented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BA9E2E-CB03-4C1F-AA56-43285CDFC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722392-236D-41A7-B276-B12C019D6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1712CB-65E2-4101-A37C-A10A26220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3B4D87-0075-4F7A-A30B-2C5F6B890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C5357D4-39E1-4CB1-B549-A476696BF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7B3984-AFA1-4FDA-92FE-343F1B679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32</a:t>
            </a:r>
          </a:p>
        </p:txBody>
      </p:sp>
    </p:spTree>
    <p:extLst>
      <p:ext uri="{BB962C8B-B14F-4D97-AF65-F5344CB8AC3E}">
        <p14:creationId xmlns:p14="http://schemas.microsoft.com/office/powerpoint/2010/main" val="1617053656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459DAA-1EB3-4F1C-85D6-31A8A6AC5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A73D60-6D55-4479-8051-CC24C5D79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19c3447f65488c"/>
          <a:stretch xmlns:a="http://schemas.openxmlformats.org/drawingml/2006/main"/>
        </p:blipFill>
        <p:spPr>
          <a:xfrm xmlns:a="http://schemas.openxmlformats.org/drawingml/2006/main">
            <a:off x="1171297" y="1695450"/>
            <a:ext cx="6039405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9C0D48-7F77-4DA9-90F7-EF7CE6469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DBA0CD-DB14-4948-A569-1DFFC52D2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D1D8FF-ACD6-405F-84F1-B64136600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if live profile closure fails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43BDA2-E4FB-410F-906B-2E1EED560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62B3E2-6B6D-4A30-A5A1-B432BFF29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the cached limitation explicit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88E376-6C18-4532-BDF8-9696473C9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D6D30E-AB2B-4F5B-B6D1-554E6DF48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Fallback plot for profile closure discussion.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BA2C27-CAAD-4CD5-B50D-74F289262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840682943c445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2F1A6D-1BCB-4827-80BF-26E22A65B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Backup figure: profile closure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70117E-BD0E-4ACC-9302-1A0DB6BE6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A94E06-517C-4474-86EF-AC00F0CDA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ADB59D-9245-4DF7-B659-5B81F1D5A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419E5A-896B-4684-AD3F-B3E47BA68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F6AC3B-577D-4CBE-9E62-1D4F0AB83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EE83C0-3A0B-4459-ACBA-EC16D6821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33</a:t>
            </a:r>
          </a:p>
        </p:txBody>
      </p:sp>
    </p:spTree>
    <p:extLst>
      <p:ext uri="{BB962C8B-B14F-4D97-AF65-F5344CB8AC3E}">
        <p14:creationId xmlns:p14="http://schemas.microsoft.com/office/powerpoint/2010/main" val="488346245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AC843EB-4219-403D-B1F8-839676AE2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A3BDF1-4613-4449-8193-30F3A9B25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8e8aa389ec43ff"/>
          <a:stretch xmlns:a="http://schemas.openxmlformats.org/drawingml/2006/main"/>
        </p:blipFill>
        <p:spPr>
          <a:xfrm xmlns:a="http://schemas.openxmlformats.org/drawingml/2006/main">
            <a:off x="1236085" y="1695450"/>
            <a:ext cx="5909830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18B45D-B441-4F66-A6A9-C695DEC50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DA99D8-2A79-41D7-95D4-C25DC62A4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CCC4D0-BF7E-4D30-85B2-4517506D3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if dashboard edits run long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D5A3B4-DD15-423C-B5FA-9869C776D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C4BB12-CF88-4FA7-B64C-AFB3AEB6B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Ask which design the room would defend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99E5C6-E7CE-4DB4-B4C9-71FF092EA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227624-BB9D-4699-848E-56B72A65B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Fallback plot for design-decision discussion.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0C285B-6799-4FE9-867A-953EA453E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4a6fb9ae804f3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4538CA-88AA-40E6-8C5D-645D634B2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Backup figure: Pareto front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8B5F2C-2142-4274-A3D1-877B85D50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43F881-3ACE-46CA-95A2-E7FC59CEB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C1E0C1-7D8F-44CF-B543-E5A18CD78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47A6BB-8147-4EF9-A1C5-53BDD52CC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513D4B-9433-4455-8731-E76BFA24C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EE41AA-9D67-4799-87DF-99B5BC574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34</a:t>
            </a:r>
          </a:p>
        </p:txBody>
      </p:sp>
    </p:spTree>
    <p:extLst>
      <p:ext uri="{BB962C8B-B14F-4D97-AF65-F5344CB8AC3E}">
        <p14:creationId xmlns:p14="http://schemas.microsoft.com/office/powerpoint/2010/main" val="1962892562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A8C1D69-2D8A-42E9-B526-D3E710D54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6B6A55-416A-49D8-B4CC-1921017E3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11e90b557d42b4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50A627-E85F-4989-A74B-73C6E780F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Final design commandments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DED878-48CB-4EA2-893B-2D5A7BD85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296A10-BE25-4564-B4B7-9D354B658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14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14ECBA-A50C-408D-835F-904FF6B83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09750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Show every boundary with its coil story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F52BD2-A68A-40F4-A0C2-6BC2465A4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95563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B13448-F151-4215-9E5E-0649E9757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90788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State the validation domain for every metric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CD0F7E-C2CD-437A-94D7-A66B9612E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766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79B274-3FFE-4A8E-AE4B-6B3C5A9D4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71825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Pair each proxy with its failure mode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4F3D5A-06BC-4CD9-8E1C-922C6B717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57638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EC807E-A8C6-416C-9CF6-B0A7A92AE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52863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Show the weights behind each Pareto choice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B9DA40-ABB6-44D3-9F54-F32B0E094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838700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EE9A11-DE8A-41AD-89BF-B81DFC6E6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962525"/>
            <a:ext cx="7524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 good optimization result is a design argument that survives new metrics.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748F38-CCA4-4283-BA81-3A7D53885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DD2279-DFFB-4F72-B8CA-D2C679586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BD7908-15CE-4CAC-A671-02B4BD719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FE2E4A-A037-49E3-B303-D9EEE1843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A35518-11E5-45ED-A68C-FB37178F9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35</a:t>
            </a:r>
          </a:p>
        </p:txBody>
      </p:sp>
    </p:spTree>
    <p:extLst>
      <p:ext uri="{BB962C8B-B14F-4D97-AF65-F5344CB8AC3E}">
        <p14:creationId xmlns:p14="http://schemas.microsoft.com/office/powerpoint/2010/main" val="1479980386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9119412-449E-4945-8167-3FBE1D0E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53A48E-A2C5-4E84-B72D-5E4364561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d2319ba73749b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D90B4C-4A42-4640-98E1-2C9BF072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89535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Coupled, differentiable, reproducible stellarator design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7AB8F5-4FC3-46BB-94C4-F4E2F456F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62350"/>
            <a:ext cx="3238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02DE3A-0EED-450C-BEBA-3CD20916E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9C16E7-2BD8-489C-A123-10B1D5CE3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095750"/>
            <a:ext cx="6953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Field, coils, transport, profiles, and decisions in one auditable loop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5E9A5-E1F7-4272-8325-45FC4BC3E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89B38E-6165-4CE9-BF1B-AD70D56FB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386C65-D588-4777-A4B6-3962A03EB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2A3866-DABD-4D6D-ACB0-A23902529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305128-04A4-4B29-A0AD-E8EF4B1B0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36</a:t>
            </a:r>
          </a:p>
        </p:txBody>
      </p:sp>
    </p:spTree>
    <p:extLst>
      <p:ext uri="{BB962C8B-B14F-4D97-AF65-F5344CB8AC3E}">
        <p14:creationId xmlns:p14="http://schemas.microsoft.com/office/powerpoint/2010/main" val="1199657174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3FA4DF-6A29-4794-A79B-24823A066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CA05C8-12C3-4945-9F6E-5E0951809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43EB9F-D285-4291-A3FC-D0A787CB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1b00c960234e7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CC4C16-854C-46A0-A651-52B3AAD31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49371E-4AE2-4853-AF53-08B1BC1EB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810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What to remember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372D78-C380-446A-810C-44BF50F1A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2890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5B5901-0CA3-48D4-AD24-4E92E9CF4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62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FFBEB7-95CB-4985-9149-ED9743FAE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5755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the scientific object and the computed artifact together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A6802B-5DB2-4C96-8F21-BA1DA3AF1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52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642100-7F26-4940-839E-ADF2A2496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4810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Rerun, perturb, compare, and explain before trusting the optimum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646B77-0195-4BD6-B68A-5DD5AA8F2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434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0EA276-C8F2-4C28-A326-C8363F74B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3865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Docs: https://sos2026-rjorge-stellarator-optimization.readthedocs.io/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C0536C-C455-4614-A231-43A6BEFAE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29300"/>
            <a:ext cx="7734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0FDD62-379E-4377-ACD5-6EDC14CB6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5790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Repo lab handoff: rerun, perturb, compare, explain.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B5534B-B530-4F05-A9A6-F03A6CF2A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810250"/>
            <a:ext cx="2857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github.com/rogeriojorge/sos2026-rjorge-stellarator-optimization</a:t>
            </a:r>
          </a:p>
          <a:p xmlns:a="http://schemas.openxmlformats.org/drawingml/2006/main">
            <a:pPr algn="r">
              <a:defRPr sz="97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CF3F62-ACF8-4BA1-9EFF-37BE2DB9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37</a:t>
            </a:r>
          </a:p>
        </p:txBody>
      </p:sp>
    </p:spTree>
    <p:extLst>
      <p:ext uri="{BB962C8B-B14F-4D97-AF65-F5344CB8AC3E}">
        <p14:creationId xmlns:p14="http://schemas.microsoft.com/office/powerpoint/2010/main" val="8015788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2026-05-24T02:05:55.1470000Z</dcterms:created>
  <dcterms:modified xsi:type="dcterms:W3CDTF">2026-05-24T02:05:55.1470000Z</dcterms:modified>
</coreProperties>
</file>