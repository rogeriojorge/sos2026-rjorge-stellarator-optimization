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00d14a2e974557" /><Relationship Type="http://schemas.openxmlformats.org/officeDocument/2006/relationships/extended-properties" Target="/docProps/app.xml" Id="R7c33b81b424847ab" /><Relationship Type="http://schemas.openxmlformats.org/officeDocument/2006/relationships/officeDocument" Target="/ppt/presentation.xml" Id="Ra61581cb836d45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2ea3eeb5754af2"/>
  </p:sldMasterIdLst>
  <p:notesMasterIdLst>
    <p:notesMasterId xmlns:r="http://schemas.openxmlformats.org/officeDocument/2006/relationships" r:id="R76af420b6f5041ba"/>
  </p:notesMasterIdLst>
  <p:sldIdLst>
    <p:sldId xmlns:r="http://schemas.openxmlformats.org/officeDocument/2006/relationships" id="256" r:id="Rd6ef206a118a4f10"/>
    <p:sldId xmlns:r="http://schemas.openxmlformats.org/officeDocument/2006/relationships" id="257" r:id="Radff06e4be354fdf"/>
    <p:sldId xmlns:r="http://schemas.openxmlformats.org/officeDocument/2006/relationships" id="258" r:id="Rfa7fdd3694734133"/>
    <p:sldId xmlns:r="http://schemas.openxmlformats.org/officeDocument/2006/relationships" id="259" r:id="R7d00c58f4630481c"/>
    <p:sldId xmlns:r="http://schemas.openxmlformats.org/officeDocument/2006/relationships" id="260" r:id="R7569404550324d66"/>
    <p:sldId xmlns:r="http://schemas.openxmlformats.org/officeDocument/2006/relationships" id="261" r:id="Rb16c5f04ca674235"/>
    <p:sldId xmlns:r="http://schemas.openxmlformats.org/officeDocument/2006/relationships" id="262" r:id="R9aa6fa53ac1c47f2"/>
    <p:sldId xmlns:r="http://schemas.openxmlformats.org/officeDocument/2006/relationships" id="263" r:id="Rabe1766114aa4c48"/>
    <p:sldId xmlns:r="http://schemas.openxmlformats.org/officeDocument/2006/relationships" id="264" r:id="Rea9e6c4a9f22438d"/>
    <p:sldId xmlns:r="http://schemas.openxmlformats.org/officeDocument/2006/relationships" id="265" r:id="R32208631b7e74516"/>
    <p:sldId xmlns:r="http://schemas.openxmlformats.org/officeDocument/2006/relationships" id="266" r:id="R11312347bc6e4837"/>
    <p:sldId xmlns:r="http://schemas.openxmlformats.org/officeDocument/2006/relationships" id="267" r:id="R2a9c40f41ac74fc6"/>
    <p:sldId xmlns:r="http://schemas.openxmlformats.org/officeDocument/2006/relationships" id="268" r:id="R4272c0cc9a33477a"/>
    <p:sldId xmlns:r="http://schemas.openxmlformats.org/officeDocument/2006/relationships" id="269" r:id="R6d40ba8e60fb44e0"/>
    <p:sldId xmlns:r="http://schemas.openxmlformats.org/officeDocument/2006/relationships" id="270" r:id="R4606e693eb4349cf"/>
    <p:sldId xmlns:r="http://schemas.openxmlformats.org/officeDocument/2006/relationships" id="271" r:id="R907b893579ed4b2f"/>
    <p:sldId xmlns:r="http://schemas.openxmlformats.org/officeDocument/2006/relationships" id="272" r:id="R793b3ac279234fc2"/>
    <p:sldId xmlns:r="http://schemas.openxmlformats.org/officeDocument/2006/relationships" id="273" r:id="R2332413f48ab43ea"/>
    <p:sldId xmlns:r="http://schemas.openxmlformats.org/officeDocument/2006/relationships" id="274" r:id="R1e822d5e73ed450a"/>
    <p:sldId xmlns:r="http://schemas.openxmlformats.org/officeDocument/2006/relationships" id="275" r:id="R77571a6db9ee44b7"/>
    <p:sldId xmlns:r="http://schemas.openxmlformats.org/officeDocument/2006/relationships" id="276" r:id="Rb0bcd942c1a0407a"/>
    <p:sldId xmlns:r="http://schemas.openxmlformats.org/officeDocument/2006/relationships" id="277" r:id="R10fe043852a64ac1"/>
    <p:sldId xmlns:r="http://schemas.openxmlformats.org/officeDocument/2006/relationships" id="278" r:id="Ra30088b03dc8405c"/>
    <p:sldId xmlns:r="http://schemas.openxmlformats.org/officeDocument/2006/relationships" id="279" r:id="R82c180bf92644f9d"/>
    <p:sldId xmlns:r="http://schemas.openxmlformats.org/officeDocument/2006/relationships" id="280" r:id="R345c898606bc4dad"/>
    <p:sldId xmlns:r="http://schemas.openxmlformats.org/officeDocument/2006/relationships" id="281" r:id="R7d9bcb1703434622"/>
    <p:sldId xmlns:r="http://schemas.openxmlformats.org/officeDocument/2006/relationships" id="282" r:id="R248734b8407c4973"/>
    <p:sldId xmlns:r="http://schemas.openxmlformats.org/officeDocument/2006/relationships" id="283" r:id="R8e873432e9b64833"/>
    <p:sldId xmlns:r="http://schemas.openxmlformats.org/officeDocument/2006/relationships" id="284" r:id="R3caa8f648e1a4f85"/>
    <p:sldId xmlns:r="http://schemas.openxmlformats.org/officeDocument/2006/relationships" id="285" r:id="R56d5bf3ce3c14412"/>
    <p:sldId xmlns:r="http://schemas.openxmlformats.org/officeDocument/2006/relationships" id="286" r:id="Rc0fd255789e5448e"/>
    <p:sldId xmlns:r="http://schemas.openxmlformats.org/officeDocument/2006/relationships" id="287" r:id="Rb40f656a8642467b"/>
    <p:sldId xmlns:r="http://schemas.openxmlformats.org/officeDocument/2006/relationships" id="288" r:id="R7848da5aa1654b00"/>
    <p:sldId xmlns:r="http://schemas.openxmlformats.org/officeDocument/2006/relationships" id="289" r:id="R5b34dec5067d4495"/>
    <p:sldId xmlns:r="http://schemas.openxmlformats.org/officeDocument/2006/relationships" id="290" r:id="Re36a7d43ab724b98"/>
    <p:sldId xmlns:r="http://schemas.openxmlformats.org/officeDocument/2006/relationships" id="291" r:id="Rde565cd44f084d9a"/>
    <p:sldId xmlns:r="http://schemas.openxmlformats.org/officeDocument/2006/relationships" id="292" r:id="R07c2642e5a7a4189"/>
    <p:sldId xmlns:r="http://schemas.openxmlformats.org/officeDocument/2006/relationships" id="293" r:id="R51e73d0627284ca5"/>
    <p:sldId xmlns:r="http://schemas.openxmlformats.org/officeDocument/2006/relationships" id="294" r:id="Re1dd3c57b4874f3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2ea3eeb5754af2" /><Relationship Type="http://schemas.openxmlformats.org/officeDocument/2006/relationships/theme" Target="/ppt/theme/theme1.xml" Id="Rd7e415c6627f47d3" /><Relationship Type="http://schemas.openxmlformats.org/officeDocument/2006/relationships/notesMaster" Target="/ppt/notesMasters/notesMaster1.xml" Id="R76af420b6f5041ba" /><Relationship Type="http://schemas.openxmlformats.org/officeDocument/2006/relationships/presProps" Target="/ppt/presProps.xml" Id="R6fcee4521dc34beb" /><Relationship Type="http://schemas.openxmlformats.org/officeDocument/2006/relationships/viewProps" Target="/ppt/viewProps.xml" Id="Raf00d88cd0a74ed8" /><Relationship Type="http://schemas.openxmlformats.org/officeDocument/2006/relationships/tableStyles" Target="/ppt/tableStyles.xml" Id="R3416e09d453449a9" /><Relationship Type="http://schemas.openxmlformats.org/officeDocument/2006/relationships/slide" Target="/ppt/slides/slide1.xml" Id="Rd6ef206a118a4f10" /><Relationship Type="http://schemas.openxmlformats.org/officeDocument/2006/relationships/slide" Target="/ppt/slides/slide2.xml" Id="Radff06e4be354fdf" /><Relationship Type="http://schemas.openxmlformats.org/officeDocument/2006/relationships/slide" Target="/ppt/slides/slide3.xml" Id="Rfa7fdd3694734133" /><Relationship Type="http://schemas.openxmlformats.org/officeDocument/2006/relationships/slide" Target="/ppt/slides/slide4.xml" Id="R7d00c58f4630481c" /><Relationship Type="http://schemas.openxmlformats.org/officeDocument/2006/relationships/slide" Target="/ppt/slides/slide5.xml" Id="R7569404550324d66" /><Relationship Type="http://schemas.openxmlformats.org/officeDocument/2006/relationships/slide" Target="/ppt/slides/slide6.xml" Id="Rb16c5f04ca674235" /><Relationship Type="http://schemas.openxmlformats.org/officeDocument/2006/relationships/slide" Target="/ppt/slides/slide7.xml" Id="R9aa6fa53ac1c47f2" /><Relationship Type="http://schemas.openxmlformats.org/officeDocument/2006/relationships/slide" Target="/ppt/slides/slide8.xml" Id="Rabe1766114aa4c48" /><Relationship Type="http://schemas.openxmlformats.org/officeDocument/2006/relationships/slide" Target="/ppt/slides/slide9.xml" Id="Rea9e6c4a9f22438d" /><Relationship Type="http://schemas.openxmlformats.org/officeDocument/2006/relationships/slide" Target="/ppt/slides/slide10.xml" Id="R32208631b7e74516" /><Relationship Type="http://schemas.openxmlformats.org/officeDocument/2006/relationships/slide" Target="/ppt/slides/slide11.xml" Id="R11312347bc6e4837" /><Relationship Type="http://schemas.openxmlformats.org/officeDocument/2006/relationships/slide" Target="/ppt/slides/slide12.xml" Id="R2a9c40f41ac74fc6" /><Relationship Type="http://schemas.openxmlformats.org/officeDocument/2006/relationships/slide" Target="/ppt/slides/slide13.xml" Id="R4272c0cc9a33477a" /><Relationship Type="http://schemas.openxmlformats.org/officeDocument/2006/relationships/slide" Target="/ppt/slides/slide14.xml" Id="R6d40ba8e60fb44e0" /><Relationship Type="http://schemas.openxmlformats.org/officeDocument/2006/relationships/slide" Target="/ppt/slides/slide15.xml" Id="R4606e693eb4349cf" /><Relationship Type="http://schemas.openxmlformats.org/officeDocument/2006/relationships/slide" Target="/ppt/slides/slide16.xml" Id="R907b893579ed4b2f" /><Relationship Type="http://schemas.openxmlformats.org/officeDocument/2006/relationships/slide" Target="/ppt/slides/slide17.xml" Id="R793b3ac279234fc2" /><Relationship Type="http://schemas.openxmlformats.org/officeDocument/2006/relationships/slide" Target="/ppt/slides/slide18.xml" Id="R2332413f48ab43ea" /><Relationship Type="http://schemas.openxmlformats.org/officeDocument/2006/relationships/slide" Target="/ppt/slides/slide19.xml" Id="R1e822d5e73ed450a" /><Relationship Type="http://schemas.openxmlformats.org/officeDocument/2006/relationships/slide" Target="/ppt/slides/slide20.xml" Id="R77571a6db9ee44b7" /><Relationship Type="http://schemas.openxmlformats.org/officeDocument/2006/relationships/slide" Target="/ppt/slides/slide21.xml" Id="Rb0bcd942c1a0407a" /><Relationship Type="http://schemas.openxmlformats.org/officeDocument/2006/relationships/slide" Target="/ppt/slides/slide22.xml" Id="R10fe043852a64ac1" /><Relationship Type="http://schemas.openxmlformats.org/officeDocument/2006/relationships/slide" Target="/ppt/slides/slide23.xml" Id="Ra30088b03dc8405c" /><Relationship Type="http://schemas.openxmlformats.org/officeDocument/2006/relationships/slide" Target="/ppt/slides/slide24.xml" Id="R82c180bf92644f9d" /><Relationship Type="http://schemas.openxmlformats.org/officeDocument/2006/relationships/slide" Target="/ppt/slides/slide25.xml" Id="R345c898606bc4dad" /><Relationship Type="http://schemas.openxmlformats.org/officeDocument/2006/relationships/slide" Target="/ppt/slides/slide26.xml" Id="R7d9bcb1703434622" /><Relationship Type="http://schemas.openxmlformats.org/officeDocument/2006/relationships/slide" Target="/ppt/slides/slide27.xml" Id="R248734b8407c4973" /><Relationship Type="http://schemas.openxmlformats.org/officeDocument/2006/relationships/slide" Target="/ppt/slides/slide28.xml" Id="R8e873432e9b64833" /><Relationship Type="http://schemas.openxmlformats.org/officeDocument/2006/relationships/slide" Target="/ppt/slides/slide29.xml" Id="R3caa8f648e1a4f85" /><Relationship Type="http://schemas.openxmlformats.org/officeDocument/2006/relationships/slide" Target="/ppt/slides/slide30.xml" Id="R56d5bf3ce3c14412" /><Relationship Type="http://schemas.openxmlformats.org/officeDocument/2006/relationships/slide" Target="/ppt/slides/slide31.xml" Id="Rc0fd255789e5448e" /><Relationship Type="http://schemas.openxmlformats.org/officeDocument/2006/relationships/slide" Target="/ppt/slides/slide32.xml" Id="Rb40f656a8642467b" /><Relationship Type="http://schemas.openxmlformats.org/officeDocument/2006/relationships/slide" Target="/ppt/slides/slide33.xml" Id="R7848da5aa1654b00" /><Relationship Type="http://schemas.openxmlformats.org/officeDocument/2006/relationships/slide" Target="/ppt/slides/slide34.xml" Id="R5b34dec5067d4495" /><Relationship Type="http://schemas.openxmlformats.org/officeDocument/2006/relationships/slide" Target="/ppt/slides/slide35.xml" Id="Re36a7d43ab724b98" /><Relationship Type="http://schemas.openxmlformats.org/officeDocument/2006/relationships/slide" Target="/ppt/slides/slide36.xml" Id="Rde565cd44f084d9a" /><Relationship Type="http://schemas.openxmlformats.org/officeDocument/2006/relationships/slide" Target="/ppt/slides/slide37.xml" Id="R07c2642e5a7a4189" /><Relationship Type="http://schemas.openxmlformats.org/officeDocument/2006/relationships/slide" Target="/ppt/slides/slide38.xml" Id="R51e73d0627284ca5" /><Relationship Type="http://schemas.openxmlformats.org/officeDocument/2006/relationships/slide" Target="/ppt/slides/slide39.xml" Id="Re1dd3c57b4874f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ed564b3ec7d44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06e60459b146af" /><Relationship Type="http://schemas.openxmlformats.org/officeDocument/2006/relationships/notesMaster" Target="/ppt/notesMasters/notesMaster1.xml" Id="Ra049aed8f84d4e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6fd876df374752" /><Relationship Type="http://schemas.openxmlformats.org/officeDocument/2006/relationships/notesMaster" Target="/ppt/notesMasters/notesMaster1.xml" Id="R31e2126ec39e47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a3933c14504486" /><Relationship Type="http://schemas.openxmlformats.org/officeDocument/2006/relationships/notesMaster" Target="/ppt/notesMasters/notesMaster1.xml" Id="Rea80de6a7d874c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28a16b0e474d99" /><Relationship Type="http://schemas.openxmlformats.org/officeDocument/2006/relationships/notesMaster" Target="/ppt/notesMasters/notesMaster1.xml" Id="R59a69a62e7e344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4efe2011454b0c" /><Relationship Type="http://schemas.openxmlformats.org/officeDocument/2006/relationships/notesMaster" Target="/ppt/notesMasters/notesMaster1.xml" Id="Rd0b0402383fd4d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f70ebc10484b5e" /><Relationship Type="http://schemas.openxmlformats.org/officeDocument/2006/relationships/notesMaster" Target="/ppt/notesMasters/notesMaster1.xml" Id="R393366934aea48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17a805928a4db3" /><Relationship Type="http://schemas.openxmlformats.org/officeDocument/2006/relationships/notesMaster" Target="/ppt/notesMasters/notesMaster1.xml" Id="Red5476f5e3fc4f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5fda7d5762483d" /><Relationship Type="http://schemas.openxmlformats.org/officeDocument/2006/relationships/notesMaster" Target="/ppt/notesMasters/notesMaster1.xml" Id="R1e89c99f840a40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0d57ac39f348cb" /><Relationship Type="http://schemas.openxmlformats.org/officeDocument/2006/relationships/notesMaster" Target="/ppt/notesMasters/notesMaster1.xml" Id="R00a44bbc559244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3317544bab4e6e" /><Relationship Type="http://schemas.openxmlformats.org/officeDocument/2006/relationships/notesMaster" Target="/ppt/notesMasters/notesMaster1.xml" Id="Rfc99ec1eba964f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a398b89ae84ee0" /><Relationship Type="http://schemas.openxmlformats.org/officeDocument/2006/relationships/notesMaster" Target="/ppt/notesMasters/notesMaster1.xml" Id="R2a3f654f39bd47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069037bc204764" /><Relationship Type="http://schemas.openxmlformats.org/officeDocument/2006/relationships/notesMaster" Target="/ppt/notesMasters/notesMaster1.xml" Id="R6d6b41c9601247b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03fdf0e25a4940" /><Relationship Type="http://schemas.openxmlformats.org/officeDocument/2006/relationships/notesMaster" Target="/ppt/notesMasters/notesMaster1.xml" Id="Rfa650e1de6a040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caf6094e0334746" /><Relationship Type="http://schemas.openxmlformats.org/officeDocument/2006/relationships/notesMaster" Target="/ppt/notesMasters/notesMaster1.xml" Id="Rbff5aebf68a3457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6a74f41200a4e22" /><Relationship Type="http://schemas.openxmlformats.org/officeDocument/2006/relationships/notesMaster" Target="/ppt/notesMasters/notesMaster1.xml" Id="R3814c28b07e04e6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4f12c5e61e74fdf" /><Relationship Type="http://schemas.openxmlformats.org/officeDocument/2006/relationships/notesMaster" Target="/ppt/notesMasters/notesMaster1.xml" Id="Rc23e352378a0499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378c230bd5a4d19" /><Relationship Type="http://schemas.openxmlformats.org/officeDocument/2006/relationships/notesMaster" Target="/ppt/notesMasters/notesMaster1.xml" Id="Rc1ac61a504964d4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2866d51c7e4437b" /><Relationship Type="http://schemas.openxmlformats.org/officeDocument/2006/relationships/notesMaster" Target="/ppt/notesMasters/notesMaster1.xml" Id="R24f3828e11af426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15ba3fd166a4895" /><Relationship Type="http://schemas.openxmlformats.org/officeDocument/2006/relationships/notesMaster" Target="/ppt/notesMasters/notesMaster1.xml" Id="R242f76a6c96042b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f62ceeb908c4ca9" /><Relationship Type="http://schemas.openxmlformats.org/officeDocument/2006/relationships/notesMaster" Target="/ppt/notesMasters/notesMaster1.xml" Id="Rc378decfc3274cf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2bc9595b7c644c4" /><Relationship Type="http://schemas.openxmlformats.org/officeDocument/2006/relationships/notesMaster" Target="/ppt/notesMasters/notesMaster1.xml" Id="R0e1ca49cf37c433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640e110f1504b57" /><Relationship Type="http://schemas.openxmlformats.org/officeDocument/2006/relationships/notesMaster" Target="/ppt/notesMasters/notesMaster1.xml" Id="R5856dc0884fc49c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24769c47189443a" /><Relationship Type="http://schemas.openxmlformats.org/officeDocument/2006/relationships/notesMaster" Target="/ppt/notesMasters/notesMaster1.xml" Id="Rc6f0f34339e64ec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2cbc01f3c5c4f67" /><Relationship Type="http://schemas.openxmlformats.org/officeDocument/2006/relationships/notesMaster" Target="/ppt/notesMasters/notesMaster1.xml" Id="R42b1867f27e44b1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7b5309423ac45bc" /><Relationship Type="http://schemas.openxmlformats.org/officeDocument/2006/relationships/notesMaster" Target="/ppt/notesMasters/notesMaster1.xml" Id="Rb3196a15a0c3472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6841ef8181b41e0" /><Relationship Type="http://schemas.openxmlformats.org/officeDocument/2006/relationships/notesMaster" Target="/ppt/notesMasters/notesMaster1.xml" Id="R63dd029aa24b462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d4a1be93b104100" /><Relationship Type="http://schemas.openxmlformats.org/officeDocument/2006/relationships/notesMaster" Target="/ppt/notesMasters/notesMaster1.xml" Id="R97252c944d89401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4459ee950994d92" /><Relationship Type="http://schemas.openxmlformats.org/officeDocument/2006/relationships/notesMaster" Target="/ppt/notesMasters/notesMaster1.xml" Id="R42bda3cd66f24ca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639c8a9a9bc479e" /><Relationship Type="http://schemas.openxmlformats.org/officeDocument/2006/relationships/notesMaster" Target="/ppt/notesMasters/notesMaster1.xml" Id="Rd55abca7b1f74fe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d305ead664d4f88" /><Relationship Type="http://schemas.openxmlformats.org/officeDocument/2006/relationships/notesMaster" Target="/ppt/notesMasters/notesMaster1.xml" Id="R9be7d524ece04be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7e63996bc7c442f" /><Relationship Type="http://schemas.openxmlformats.org/officeDocument/2006/relationships/notesMaster" Target="/ppt/notesMasters/notesMaster1.xml" Id="Re96c4e27ae8242c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6ac144b427c430e" /><Relationship Type="http://schemas.openxmlformats.org/officeDocument/2006/relationships/notesMaster" Target="/ppt/notesMasters/notesMaster1.xml" Id="R9c775499fee744f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bc74768f2634f2d" /><Relationship Type="http://schemas.openxmlformats.org/officeDocument/2006/relationships/notesMaster" Target="/ppt/notesMasters/notesMaster1.xml" Id="R720b1c2a53b14db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bf92ef67f5c404d" /><Relationship Type="http://schemas.openxmlformats.org/officeDocument/2006/relationships/notesMaster" Target="/ppt/notesMasters/notesMaster1.xml" Id="Rbf70a785603a494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1870e5502b24e1d" /><Relationship Type="http://schemas.openxmlformats.org/officeDocument/2006/relationships/notesMaster" Target="/ppt/notesMasters/notesMaster1.xml" Id="R1fe6b4091eb7418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3c68e8994c54a8b" /><Relationship Type="http://schemas.openxmlformats.org/officeDocument/2006/relationships/notesMaster" Target="/ppt/notesMasters/notesMaster1.xml" Id="Rea544c378ce44e7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c8d43f9050747b3" /><Relationship Type="http://schemas.openxmlformats.org/officeDocument/2006/relationships/notesMaster" Target="/ppt/notesMasters/notesMaster1.xml" Id="Rb5066361d9114b9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07aca5446434c21" /><Relationship Type="http://schemas.openxmlformats.org/officeDocument/2006/relationships/notesMaster" Target="/ppt/notesMasters/notesMaster1.xml" Id="Rc869dbe5b08d4cc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6e47c9a685349f5" /><Relationship Type="http://schemas.openxmlformats.org/officeDocument/2006/relationships/notesMaster" Target="/ppt/notesMasters/notesMaster1.xml" Id="R39285f3b3ad445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78f79005c144a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60b331b86704287" /><Relationship Type="http://schemas.openxmlformats.org/officeDocument/2006/relationships/slideLayout" Target="/ppt/slideLayouts/slideLayout2.xml" Id="Rd25215b7ff9b42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5215b7ff9b42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0d483840994cfa" /><Relationship Type="http://schemas.openxmlformats.org/officeDocument/2006/relationships/image" Target="/ppt/media/image.png" Id="R2a1643496d16484f" /><Relationship Type="http://schemas.openxmlformats.org/officeDocument/2006/relationships/image" Target="/ppt/media/image2.png" Id="Rf1de53a1c0594d08" /><Relationship Type="http://schemas.openxmlformats.org/officeDocument/2006/relationships/notesSlide" Target="/ppt/notesSlides/notesSlide1.xml" Id="R7ed40b31386742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ca82e5066249ae" /><Relationship Type="http://schemas.openxmlformats.org/officeDocument/2006/relationships/image" Target="/ppt/media/image3.png" Id="R78f443a8eb614e7f" /><Relationship Type="http://schemas.openxmlformats.org/officeDocument/2006/relationships/notesSlide" Target="/ppt/notesSlides/notesSlide2.xml" Id="R4d00dff81fe742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0f32a1d57f42a6" /><Relationship Type="http://schemas.openxmlformats.org/officeDocument/2006/relationships/image" Target="/ppt/media/image4.png" Id="R0dfe640b426a4c08" /><Relationship Type="http://schemas.openxmlformats.org/officeDocument/2006/relationships/notesSlide" Target="/ppt/notesSlides/notesSlide3.xml" Id="Rddab932af8004b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e0d88d5c204dc6" /><Relationship Type="http://schemas.openxmlformats.org/officeDocument/2006/relationships/image" Target="/ppt/media/image5.png" Id="R89ac035a34804fd1" /><Relationship Type="http://schemas.openxmlformats.org/officeDocument/2006/relationships/notesSlide" Target="/ppt/notesSlides/notesSlide4.xml" Id="R228cf943c58643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040db6340647d4" /><Relationship Type="http://schemas.openxmlformats.org/officeDocument/2006/relationships/image" Target="/ppt/media/image6.png" Id="R2a0422e39bfb4c58" /><Relationship Type="http://schemas.openxmlformats.org/officeDocument/2006/relationships/notesSlide" Target="/ppt/notesSlides/notesSlide5.xml" Id="R92cc4b2eead640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43bfc320284fb7" /><Relationship Type="http://schemas.openxmlformats.org/officeDocument/2006/relationships/image" Target="/ppt/media/image7.png" Id="R20413a51b2b6442e" /><Relationship Type="http://schemas.openxmlformats.org/officeDocument/2006/relationships/image" Target="/ppt/media/image8.png" Id="R2c1593240b894ef9" /><Relationship Type="http://schemas.openxmlformats.org/officeDocument/2006/relationships/notesSlide" Target="/ppt/notesSlides/notesSlide6.xml" Id="R5b27fe326fc04b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708983b21a464c" /><Relationship Type="http://schemas.openxmlformats.org/officeDocument/2006/relationships/image" Target="/ppt/media/image9.png" Id="R375cb985db9a4c46" /><Relationship Type="http://schemas.openxmlformats.org/officeDocument/2006/relationships/image" Target="/ppt/media/image10.png" Id="Rf4fc5f1dcd9f43ea" /><Relationship Type="http://schemas.openxmlformats.org/officeDocument/2006/relationships/notesSlide" Target="/ppt/notesSlides/notesSlide7.xml" Id="R5a2cbce3818a47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ed589591434748" /><Relationship Type="http://schemas.openxmlformats.org/officeDocument/2006/relationships/image" Target="/ppt/media/image11.png" Id="R0da941f5c9564137" /><Relationship Type="http://schemas.openxmlformats.org/officeDocument/2006/relationships/notesSlide" Target="/ppt/notesSlides/notesSlide8.xml" Id="R4148da2fc1f14b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df702936b0497a" /><Relationship Type="http://schemas.openxmlformats.org/officeDocument/2006/relationships/image" Target="/ppt/media/image12.png" Id="Re95452c5cc9046e4" /><Relationship Type="http://schemas.openxmlformats.org/officeDocument/2006/relationships/image" Target="/ppt/media/image13.png" Id="R855611ab84e642e2" /><Relationship Type="http://schemas.openxmlformats.org/officeDocument/2006/relationships/notesSlide" Target="/ppt/notesSlides/notesSlide9.xml" Id="R64812823a4c047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f33dbef6994f5d" /><Relationship Type="http://schemas.openxmlformats.org/officeDocument/2006/relationships/image" Target="/ppt/media/image14.png" Id="R2ac2f36404844755" /><Relationship Type="http://schemas.openxmlformats.org/officeDocument/2006/relationships/notesSlide" Target="/ppt/notesSlides/notesSlide10.xml" Id="Re43880f584de45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c88b458bf14327" /><Relationship Type="http://schemas.openxmlformats.org/officeDocument/2006/relationships/image" Target="/ppt/media/image15.png" Id="Raef57cb997534c23" /><Relationship Type="http://schemas.openxmlformats.org/officeDocument/2006/relationships/notesSlide" Target="/ppt/notesSlides/notesSlide11.xml" Id="R283f8ae6b2ba47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7c9239856242df" /><Relationship Type="http://schemas.openxmlformats.org/officeDocument/2006/relationships/image" Target="/ppt/media/image16.png" Id="R23d74ba1f2e0474a" /><Relationship Type="http://schemas.openxmlformats.org/officeDocument/2006/relationships/notesSlide" Target="/ppt/notesSlides/notesSlide12.xml" Id="R43fbfb5157f24b5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0023a6ef3d4e09" /><Relationship Type="http://schemas.openxmlformats.org/officeDocument/2006/relationships/image" Target="/ppt/media/image17.png" Id="Re4c8d3293c814b12" /><Relationship Type="http://schemas.openxmlformats.org/officeDocument/2006/relationships/image" Target="/ppt/media/image18.png" Id="R0148ba9e6d1e4e9c" /><Relationship Type="http://schemas.openxmlformats.org/officeDocument/2006/relationships/notesSlide" Target="/ppt/notesSlides/notesSlide13.xml" Id="R919dbdfa57fb42f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0ed11c5d2d4359" /><Relationship Type="http://schemas.openxmlformats.org/officeDocument/2006/relationships/image" Target="/ppt/media/image19.png" Id="R8e1155efd09d4300" /><Relationship Type="http://schemas.openxmlformats.org/officeDocument/2006/relationships/image" Target="/ppt/media/image20.png" Id="R72c44121b9d34f1e" /><Relationship Type="http://schemas.openxmlformats.org/officeDocument/2006/relationships/notesSlide" Target="/ppt/notesSlides/notesSlide14.xml" Id="R3266a55c823e42e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7b4b64a74c4b69" /><Relationship Type="http://schemas.openxmlformats.org/officeDocument/2006/relationships/image" Target="/ppt/media/image21.png" Id="R67eb1a6d42b74e75" /><Relationship Type="http://schemas.openxmlformats.org/officeDocument/2006/relationships/image" Target="/ppt/media/image22.png" Id="R847a9a19ec2848d6" /><Relationship Type="http://schemas.openxmlformats.org/officeDocument/2006/relationships/notesSlide" Target="/ppt/notesSlides/notesSlide15.xml" Id="R436b45864bf2442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55a64a19ed42c0" /><Relationship Type="http://schemas.openxmlformats.org/officeDocument/2006/relationships/image" Target="/ppt/media/image23.png" Id="Rab02aa15459d4370" /><Relationship Type="http://schemas.openxmlformats.org/officeDocument/2006/relationships/notesSlide" Target="/ppt/notesSlides/notesSlide16.xml" Id="Rb20b53395585467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16a901c29946c2" /><Relationship Type="http://schemas.openxmlformats.org/officeDocument/2006/relationships/image" Target="/ppt/media/image24.png" Id="R0587e624f6ff4287" /><Relationship Type="http://schemas.openxmlformats.org/officeDocument/2006/relationships/notesSlide" Target="/ppt/notesSlides/notesSlide17.xml" Id="Rabb535edffe043a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7a2f4e4795479d" /><Relationship Type="http://schemas.openxmlformats.org/officeDocument/2006/relationships/image" Target="/ppt/media/image25.png" Id="R0f67df2c853848b6" /><Relationship Type="http://schemas.openxmlformats.org/officeDocument/2006/relationships/notesSlide" Target="/ppt/notesSlides/notesSlide18.xml" Id="R8f384d638d814b1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97b58207b64e47" /><Relationship Type="http://schemas.openxmlformats.org/officeDocument/2006/relationships/image" Target="/ppt/media/image26.png" Id="R3dd5fdda7fc94d38" /><Relationship Type="http://schemas.openxmlformats.org/officeDocument/2006/relationships/notesSlide" Target="/ppt/notesSlides/notesSlide19.xml" Id="R98c4b8700fec4fd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b208ff1d774389" /><Relationship Type="http://schemas.openxmlformats.org/officeDocument/2006/relationships/image" Target="/ppt/media/image27.png" Id="Rfe116b0406884a04" /><Relationship Type="http://schemas.openxmlformats.org/officeDocument/2006/relationships/notesSlide" Target="/ppt/notesSlides/notesSlide20.xml" Id="Rcefad8a0694b46e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ad1dc8ba654ad2" /><Relationship Type="http://schemas.openxmlformats.org/officeDocument/2006/relationships/image" Target="/ppt/media/image28.png" Id="R144dd42e79474235" /><Relationship Type="http://schemas.openxmlformats.org/officeDocument/2006/relationships/notesSlide" Target="/ppt/notesSlides/notesSlide21.xml" Id="R4b106d29e617410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4a4ef131704a1b" /><Relationship Type="http://schemas.openxmlformats.org/officeDocument/2006/relationships/image" Target="/ppt/media/image29.png" Id="Re45e94a6b6ab43d1" /><Relationship Type="http://schemas.openxmlformats.org/officeDocument/2006/relationships/image" Target="/ppt/media/image30.png" Id="R5657b61979d3497b" /><Relationship Type="http://schemas.openxmlformats.org/officeDocument/2006/relationships/notesSlide" Target="/ppt/notesSlides/notesSlide22.xml" Id="Rf4aba99b7840486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4006746622474a" /><Relationship Type="http://schemas.openxmlformats.org/officeDocument/2006/relationships/image" Target="/ppt/media/image31.png" Id="R93685e817b3741d3" /><Relationship Type="http://schemas.openxmlformats.org/officeDocument/2006/relationships/notesSlide" Target="/ppt/notesSlides/notesSlide23.xml" Id="R072b2d79886d4cd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d213df616048a1" /><Relationship Type="http://schemas.openxmlformats.org/officeDocument/2006/relationships/image" Target="/ppt/media/image32.png" Id="R43e9d876617348ef" /><Relationship Type="http://schemas.openxmlformats.org/officeDocument/2006/relationships/notesSlide" Target="/ppt/notesSlides/notesSlide24.xml" Id="R1bf24c4a38b9475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da608b9a114118" /><Relationship Type="http://schemas.openxmlformats.org/officeDocument/2006/relationships/image" Target="/ppt/media/image33.png" Id="Ra02b4117570a4147" /><Relationship Type="http://schemas.openxmlformats.org/officeDocument/2006/relationships/image" Target="/ppt/media/image34.png" Id="R01114b0e30dd4fd3" /><Relationship Type="http://schemas.openxmlformats.org/officeDocument/2006/relationships/notesSlide" Target="/ppt/notesSlides/notesSlide25.xml" Id="R1dc70bac384c4ca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98104506604703" /><Relationship Type="http://schemas.openxmlformats.org/officeDocument/2006/relationships/image" Target="/ppt/media/image35.png" Id="Rf4f74369a7a24d7d" /><Relationship Type="http://schemas.openxmlformats.org/officeDocument/2006/relationships/notesSlide" Target="/ppt/notesSlides/notesSlide26.xml" Id="R247625a6266d416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6202fb56624441" /><Relationship Type="http://schemas.openxmlformats.org/officeDocument/2006/relationships/image" Target="/ppt/media/image36.png" Id="R2ab269a748ca4a01" /><Relationship Type="http://schemas.openxmlformats.org/officeDocument/2006/relationships/notesSlide" Target="/ppt/notesSlides/notesSlide27.xml" Id="Rfc5a5975106a4e5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b0bcfe9cc64888" /><Relationship Type="http://schemas.openxmlformats.org/officeDocument/2006/relationships/image" Target="/ppt/media/image37.png" Id="R411a10f111f747e5" /><Relationship Type="http://schemas.openxmlformats.org/officeDocument/2006/relationships/notesSlide" Target="/ppt/notesSlides/notesSlide28.xml" Id="R0911feb08ac745c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30133ffac64df9" /><Relationship Type="http://schemas.openxmlformats.org/officeDocument/2006/relationships/image" Target="/ppt/media/image38.png" Id="R812680bb685f4928" /><Relationship Type="http://schemas.openxmlformats.org/officeDocument/2006/relationships/notesSlide" Target="/ppt/notesSlides/notesSlide29.xml" Id="Rbd10c4bd7a7f4a7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834248e5fd4671" /><Relationship Type="http://schemas.openxmlformats.org/officeDocument/2006/relationships/image" Target="/ppt/media/image39.png" Id="R1cd3a81762114390" /><Relationship Type="http://schemas.openxmlformats.org/officeDocument/2006/relationships/notesSlide" Target="/ppt/notesSlides/notesSlide30.xml" Id="R32f7ac99d96c4b0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eaa280680d4763" /><Relationship Type="http://schemas.openxmlformats.org/officeDocument/2006/relationships/image" Target="/ppt/media/image40.png" Id="Rdaa0a052fbb94986" /><Relationship Type="http://schemas.openxmlformats.org/officeDocument/2006/relationships/notesSlide" Target="/ppt/notesSlides/notesSlide31.xml" Id="R2919b639810b4fb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a838f895734b8b" /><Relationship Type="http://schemas.openxmlformats.org/officeDocument/2006/relationships/image" Target="/ppt/media/image41.png" Id="R167ee235c07844c1" /><Relationship Type="http://schemas.openxmlformats.org/officeDocument/2006/relationships/image" Target="/ppt/media/image42.png" Id="R804163d6d53c4642" /><Relationship Type="http://schemas.openxmlformats.org/officeDocument/2006/relationships/notesSlide" Target="/ppt/notesSlides/notesSlide32.xml" Id="Rf60f0402a78f449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6405d71f7040e2" /><Relationship Type="http://schemas.openxmlformats.org/officeDocument/2006/relationships/image" Target="/ppt/media/image43.png" Id="R02f7a1978da6498c" /><Relationship Type="http://schemas.openxmlformats.org/officeDocument/2006/relationships/notesSlide" Target="/ppt/notesSlides/notesSlide33.xml" Id="Rf17288e82718497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1a90b17c644ac5" /><Relationship Type="http://schemas.openxmlformats.org/officeDocument/2006/relationships/image" Target="/ppt/media/image44.png" Id="R6dbea8e5b3a14063" /><Relationship Type="http://schemas.openxmlformats.org/officeDocument/2006/relationships/notesSlide" Target="/ppt/notesSlides/notesSlide34.xml" Id="Rf03ab15de471443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37071d1be24dea" /><Relationship Type="http://schemas.openxmlformats.org/officeDocument/2006/relationships/image" Target="/ppt/media/image45.png" Id="Rf340f315c7804ff3" /><Relationship Type="http://schemas.openxmlformats.org/officeDocument/2006/relationships/image" Target="/ppt/media/image46.png" Id="R92f632e094524285" /><Relationship Type="http://schemas.openxmlformats.org/officeDocument/2006/relationships/notesSlide" Target="/ppt/notesSlides/notesSlide35.xml" Id="Rdb88423ccd7d454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ff244851324e33" /><Relationship Type="http://schemas.openxmlformats.org/officeDocument/2006/relationships/image" Target="/ppt/media/image47.png" Id="Rdf6b4a9b57df448f" /><Relationship Type="http://schemas.openxmlformats.org/officeDocument/2006/relationships/image" Target="/ppt/media/image48.png" Id="Rb00557022df444aa" /><Relationship Type="http://schemas.openxmlformats.org/officeDocument/2006/relationships/notesSlide" Target="/ppt/notesSlides/notesSlide36.xml" Id="R10b7e5bfd11f4d9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e462eda4c645b6" /><Relationship Type="http://schemas.openxmlformats.org/officeDocument/2006/relationships/image" Target="/ppt/media/image49.png" Id="Re51d3ee60fce441d" /><Relationship Type="http://schemas.openxmlformats.org/officeDocument/2006/relationships/notesSlide" Target="/ppt/notesSlides/notesSlide37.xml" Id="Rf2b5b51a24f6485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af650ffdfc40a0" /><Relationship Type="http://schemas.openxmlformats.org/officeDocument/2006/relationships/image" Target="/ppt/media/image50.png" Id="R55a5ec9416784a3c" /><Relationship Type="http://schemas.openxmlformats.org/officeDocument/2006/relationships/notesSlide" Target="/ppt/notesSlides/notesSlide38.xml" Id="R890a1802f103401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6b225a961b477d" /><Relationship Type="http://schemas.openxmlformats.org/officeDocument/2006/relationships/image" Target="/ppt/media/image51.png" Id="Re2b7a9a7f0eb496f" /><Relationship Type="http://schemas.openxmlformats.org/officeDocument/2006/relationships/notesSlide" Target="/ppt/notesSlides/notesSlide39.xml" Id="Rc7fa014362de4f0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5E2A11-A06A-4481-A2D3-BFD18132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010A5-402E-40B4-8338-EFDF282D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1643496d16484f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7FC1F-59E5-4766-A375-38B384D0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68580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When does an optimized field become a reactor design?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9E7B9-BBF0-48FF-A87A-D16BFCA5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527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DD743-2A8E-4D5A-A15D-A7759F62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1940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Lecture 4: profiles, Pareto decisions, and the repo lab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3CA6B-B240-4C6C-B0AC-102EE6EA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33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DF8A6-01FD-47B8-A5C3-4FE4F438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542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 design becomes credible when the workflow is validated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E5ADC-4818-4DA6-A82A-EF5635EC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40243-1F4B-4A57-B3A5-FA9ACC50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542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Docs: https://sos2026-rjorge-stellarator-optimization.readthedocs.io/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77FD1-EC21-4AA4-BEBD-026760E5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066800"/>
            <a:ext cx="41719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e53a1c0594d08"/>
          <a:stretch xmlns:a="http://schemas.openxmlformats.org/drawingml/2006/main"/>
        </p:blipFill>
        <p:spPr>
          <a:xfrm xmlns:a="http://schemas.openxmlformats.org/drawingml/2006/main">
            <a:off x="7277100" y="1433859"/>
            <a:ext cx="3752850" cy="2371031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B95E8F-EB63-4572-98D8-F06BD8BD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7690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E895AD-B786-4931-A194-A4A695AC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542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CEA-IRFM / Renaissance Fusion School on Stellarators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71AC3-9F02-44D9-AAF4-3E5AFB16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Aix-en-Provence,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0D9E4E-2ACF-465D-A606-A54795D4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0388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Rogerio Jorge, University of Wisconsin-Madison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874785-4B14-4BB8-B3ED-B43D2B9C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Repo: github.com/rogeriojorge/sos2026-rjorge-stellarator-optimization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8AC2A6-5AD4-4296-AED9-9E38CD25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28650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Docs: sos2026-rjorge-stellarator-optimization.readthedocs.io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6FE917-D385-4219-91A9-6BBD8F25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Slide 01</a:t>
            </a:r>
          </a:p>
        </p:txBody>
      </p:sp>
    </p:spTree>
    <p:extLst>
      <p:ext uri="{BB962C8B-B14F-4D97-AF65-F5344CB8AC3E}">
        <p14:creationId xmlns:p14="http://schemas.microsoft.com/office/powerpoint/2010/main" val="18712812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76B215-5292-4FEC-AF63-548A0BFD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AC80A-F128-49C9-8E20-155BBAC8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443a8eb614e7f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53342-9EFB-4B8E-9BB7-3F6DE905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The full loop has memory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A8A83-CB5E-4B1A-9523-1B0B1C8C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0696B-07A8-4759-B579-EAFA5DF7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1276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9525">
            <a:solidFill>
              <a:srgbClr val="C5050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ADA60-E479-423C-99A2-FE1E728F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85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Equilibrium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EF9576-7679-49FF-B6F9-B11F6C6B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28600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67A4F-7196-4AAD-AA6C-076CD9A4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048000"/>
            <a:ext cx="1276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75059-2E55-4D63-83C1-362060A9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171825"/>
            <a:ext cx="1085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Boozer spectrum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923E94-F703-41B6-8621-F55F343E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286125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08DCEC-6209-44BB-96DF-8DFFE4AE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47875"/>
            <a:ext cx="1276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611ED7-B6B9-4509-94C0-7E2EDA6E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71700"/>
            <a:ext cx="1085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Neoclassical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409F4-2B40-40E5-BDA9-B584933F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8600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45670D-309E-4D17-8D68-6AFE6152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048000"/>
            <a:ext cx="1276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C968E4-7AAD-49EF-8F00-DED31080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171825"/>
            <a:ext cx="1085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Coils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F520C0-FADB-4EE7-9B3C-35B4A9AE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286125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2866A7-F5DB-4310-A5C1-944D177A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47875"/>
            <a:ext cx="1276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21C7F6-C0C0-440F-B7FB-AB04F577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71700"/>
            <a:ext cx="1085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Turbulence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E0EF24-535F-43C5-850E-327AEFCD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8600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689938-2CEA-4277-9FE8-07F1AB24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48000"/>
            <a:ext cx="1276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3F3BF4-4DDE-41B2-8515-55EBAD63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171825"/>
            <a:ext cx="1085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Profiles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0ABEE6-AC31-4B91-839F-F2DB1FA2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286125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A9AAB0-2124-4E41-B1F9-74813524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047875"/>
            <a:ext cx="1276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5F1AE9-651F-4067-B9B7-5128DBE6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171700"/>
            <a:ext cx="1085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Pareto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53C5BB-284A-454C-ADE6-999F5E37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957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DB1522-2D88-44A7-BB62-706464A5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904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Geometry changes transport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F01BCD-E1DF-4666-B1B1-653B287E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88D7F8-0A42-4175-B332-FCF42B3F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04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Transport changes profiles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79F15B-48D7-486B-BBA1-BFAC1A40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69F89C-1B50-4F60-89B7-75FC46AD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81600"/>
            <a:ext cx="904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Profiles change objectives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6A69A0-CA43-4815-A3FF-8545C2E2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B343D8-E465-40A7-A239-73561752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FAD498-6069-41B0-86E3-0A463551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BAC18B-ED8A-4FDF-807E-3E9139BA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401D3E-8D36-40EB-8918-FE23050E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02</a:t>
            </a:r>
          </a:p>
        </p:txBody>
      </p:sp>
    </p:spTree>
    <p:extLst>
      <p:ext uri="{BB962C8B-B14F-4D97-AF65-F5344CB8AC3E}">
        <p14:creationId xmlns:p14="http://schemas.microsoft.com/office/powerpoint/2010/main" val="10042861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629825-8EB4-41B5-AABC-533CA932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85AF4-6340-49F9-B4E8-BE39CB66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fe640b426a4c08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4C826-BC57-4CFB-9E5D-79D94891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What is profile closure?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31363-1346-4AB7-980D-778FF641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A8C21-09AF-48AC-B6E5-0E1BD8EF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45529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A35578-1935-449B-820F-C7B663A1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455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9D3D9-ECB9-4F30-B378-3BA72760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0500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Profile closure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5CF327-3CA8-428C-AE86-B7C11F86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38400"/>
            <a:ext cx="384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Solving whether sources, sinks, transport coefficients, and radial gradients produce consistent temperature and density profiles.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219A5-BED0-43B1-B8A7-29A444A5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377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AD8DEE-95A7-4797-8830-34B6F707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24275"/>
            <a:ext cx="3467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source - div(Q_neo + Q_turb) =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086A0-8C49-4F3E-9DF8-83A371A3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81150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83FAFB-5DFE-4BDF-9C6A-54AA67A2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811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1F714B-948D-493A-89E5-493F34C9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145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Physical meaning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67ADCB-D1F3-4A6D-8ABE-E36D3229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81200"/>
            <a:ext cx="4591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same magnetic geometry can look different once profiles and heating are allowed to respond.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212AC7-F556-4C65-BF34-44274B61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86050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D94998-87F8-4769-BD8D-219D14D1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860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B9F829-0ED3-4E09-B430-626AA570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194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What the optimizer sees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A81E0B-156A-403F-8411-3BF2BA2C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86100"/>
            <a:ext cx="4591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profile closure near the end of the loop to test the design scenario, not only the vacuum field.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4EC0D8-3898-4C76-8077-CB330808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90950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BA1F63-D1E4-4BCA-BE6C-B1BF4A77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909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C4B560-591E-4A3F-BBE9-63DAF665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243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6A0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46A00"/>
                </a:solidFill>
                <a:latin typeface="Aptos Display"/>
                <a:ea typeface="Aptos Display"/>
                <a:cs typeface="Aptos Display"/>
              </a:rPr>
              <a:t>Failure mode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773069-2741-47D9-8FF4-9EC12361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91000"/>
            <a:ext cx="4591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 geometry-only winner can lose when profile stiffness or power balance is included.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7AF327-F515-4CD6-A1DF-F1528537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00650"/>
            <a:ext cx="866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26C972-9BC8-41AF-B489-AE04BC7B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324475"/>
            <a:ext cx="817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reactor design is a field plus a self-consistent plasma scenario.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425788-6F5F-4390-96FD-CF056CEC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F4DA1F-F8D1-45DE-8AE9-E75E1CFE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76396D-6191-40B6-B9CD-D4B00016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C086DA-97D6-4AFF-BDAD-65669F05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B68653-8DB2-4BCE-9AB8-D1EECE48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6FABE3-EF97-4612-8835-C79F31AE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076950"/>
            <a:ext cx="866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Refs: nonlinear turbulence optimization and integrated transport validation workflows.</a:t>
            </a:r>
          </a:p>
        </p:txBody>
      </p:sp>
    </p:spTree>
    <p:extLst>
      <p:ext uri="{BB962C8B-B14F-4D97-AF65-F5344CB8AC3E}">
        <p14:creationId xmlns:p14="http://schemas.microsoft.com/office/powerpoint/2010/main" val="130069381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50C2AB-658D-4D66-9197-3A20203B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90E3B-26FC-4F69-9006-70B6E635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ac035a34804fd1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C5512-433A-4DBF-A0DF-D2DDC5FA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Modern workflows are multi-fidelity by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EADB8-4E24-41F7-8968-F42347C8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C88A7-2145-4E5F-8B4A-2B1E9A0C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188BC-304B-41EC-90B6-AADD1F6A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Design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E530C-3115-4051-883F-C8EE1383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A8F642-07CF-4193-9DDB-F14F21B7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Optimization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56F03-2DE2-4B42-8824-5B4DA69A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F9E02-8B9D-4CB2-9605-E67D40FC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B8A6F3-BE92-492A-B6B0-DADB264D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SIMSOPT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43CA86-F070-4AA6-8F24-4A22A843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objective terms, geometry objects, and coils live in one optimization framework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55229E-9433-44FE-B946-89897ECA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76349F-C352-47F2-B57E-762B0E8C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F4152-297A-45B0-9726-B05BC880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JAX transport tools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49A858-B4B1-410F-97C3-0A1A20D1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differentiable metrics are useful only inside a documented claim scope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5D2B77-B8C9-42D7-B078-9BD6D849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5930CE-DC3C-473D-9E35-1732A43F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69CA2F-6E7C-432D-B13F-3BF0271A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Profile closure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E6549A-4F33-464D-9F31-BB00D23A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sources and turbulence can reverse a geometry-only ranking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922A70-9E4F-4339-A13C-E223410C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2CC39E-B349-4AF3-92E4-7CFA47FC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AA5457-7420-434F-B733-E475E072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DE43C1-DCA3-4375-ACA1-91DFE9F4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D19AE7-9E5E-4402-99EA-86A176DE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6F51BE-499B-4AD7-82DB-87ABDE97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076950"/>
            <a:ext cx="866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Refs: Landreman et al., JOSS 6, 3525 (2021); sfincs-jax and SPECTRAX-GK public docs; Kim et al., JPP 90, 905900203 (2024).</a:t>
            </a:r>
          </a:p>
        </p:txBody>
      </p:sp>
    </p:spTree>
    <p:extLst>
      <p:ext uri="{BB962C8B-B14F-4D97-AF65-F5344CB8AC3E}">
        <p14:creationId xmlns:p14="http://schemas.microsoft.com/office/powerpoint/2010/main" val="4470494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90E1AF-3484-4355-AFD2-67E9869B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074DB-B84E-4E8F-9174-3F2384D3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0422e39bfb4c58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7F611-D806-4BCF-A740-4B1C95CC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Lecture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77255-A9E4-4AB0-AC45-D50CE6FD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5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13BC42-2E48-4840-8E59-2F60B0ED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857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PART 1. Close the loop with profiles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FF193C-EF09-48EC-A8C2-E6BB205C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3855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594243-80FC-4ED7-95B9-E22DB654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00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0C41E-004B-4AAA-AAF7-06706F91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9575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Field optimization changes transport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C2BB8-C0B9-415E-801E-1CA02FE4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29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1B0729-A260-4713-BDAB-D687F583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72440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Transport changes pressure and current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60C61B-9027-4969-8F61-D586BFD8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C0E51C-B5BE-4CD6-B0AB-4BADA013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2334C0-4FED-4C17-83E4-90B68A35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895A47-21F6-422D-A128-C132E22A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82D1E8-AAD3-455C-98AA-984EF912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05</a:t>
            </a:r>
          </a:p>
        </p:txBody>
      </p:sp>
    </p:spTree>
    <p:extLst>
      <p:ext uri="{BB962C8B-B14F-4D97-AF65-F5344CB8AC3E}">
        <p14:creationId xmlns:p14="http://schemas.microsoft.com/office/powerpoint/2010/main" val="20949297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4C1A8D-938A-4D55-BD0D-FA47EE97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C0095-314D-46FC-8412-970A7D0B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73914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13a51b2b6442e"/>
          <a:stretch xmlns:a="http://schemas.openxmlformats.org/drawingml/2006/main"/>
        </p:blipFill>
        <p:spPr>
          <a:xfrm xmlns:a="http://schemas.openxmlformats.org/drawingml/2006/main">
            <a:off x="1171297" y="1695450"/>
            <a:ext cx="6039405" cy="3733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133D2-85EF-4FBE-A63D-A75D6856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How to read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33E4C-FF0A-424B-AC49-F19E8CBA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81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C8ACE6-0640-4119-BFFC-A0B816F3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Temperature and density gradients drive transport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88C9A-751A-4BAD-9D13-F47876E8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38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D6E4A-20C2-476E-BEDC-0F4D420A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3370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 good field metric can underperform after closure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08EC7F-4A6C-4BBD-8133-7ED28DC1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A2CE03-8588-402C-B987-B7FC0021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72050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Read how profile feedback changes the temperature response.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877D28-23B4-48DA-871D-3DF0242B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1593240b894ef9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FFEA3-6D21-4AAA-970A-75CF5017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Profiles turn a field optimum into a scenario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795263-DBDF-4573-A932-5181DA83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8774B2-7CBB-408E-8199-F3949640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DE596E-9AA5-45C7-A0D9-D1B2182C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C72C32-434F-4993-82A5-83DC88DE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2D67AE-EC1E-4299-B1DC-FA99DF03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E133E5-9344-4C6B-9161-500545D7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B8E640-97CE-424B-A157-F3797FAD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076950"/>
            <a:ext cx="866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Ref: transport/profile closure logic in nonlinear turbulence optimization and T3D validation literature.</a:t>
            </a:r>
          </a:p>
        </p:txBody>
      </p:sp>
    </p:spTree>
    <p:extLst>
      <p:ext uri="{BB962C8B-B14F-4D97-AF65-F5344CB8AC3E}">
        <p14:creationId xmlns:p14="http://schemas.microsoft.com/office/powerpoint/2010/main" val="132593774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CC4D47-2EFA-4F98-9D85-2D9B66EF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AAAAE-A96D-4920-8D48-00E6206D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73914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cb985db9a4c46"/>
          <a:stretch xmlns:a="http://schemas.openxmlformats.org/drawingml/2006/main"/>
        </p:blipFill>
        <p:spPr>
          <a:xfrm xmlns:a="http://schemas.openxmlformats.org/drawingml/2006/main">
            <a:off x="1052815" y="1695450"/>
            <a:ext cx="6276370" cy="3733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46899-E133-4BDE-AD8C-6CC3494E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How to read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07A4E-42E7-4818-9413-08594837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81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CCB14-3820-4DA1-89EF-E3080034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Sources, fluxes, and residuals must match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01410-E25F-4FFF-B347-3968B601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38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9BBEEB-1C47-4D92-86EF-DA61F989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3370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 post-hoc residual is weak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5D7C28-9490-46E8-A592-2A45B7C9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89CE2F-E592-46DA-90ED-516FDB38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72050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A design claim needs a solved balance, not only a field metric.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5D65BC-C448-48DC-813F-E2D1D411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fc5f1dcd9f43ea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267781-6E81-423E-8125-F314CD8D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Power balance is a credibility check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2316C9-DADF-4830-B3DE-4A6069C3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35EA85-2E71-4BC1-936F-B51D9ADA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05601A-C08F-4BDC-8F44-18650700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2F67CA-7A4E-4701-A4E1-03DC083D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30B2E9-5915-465E-B2EC-C5796148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71ACEA-66EA-4B5B-A4CB-58D02062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07</a:t>
            </a:r>
          </a:p>
        </p:txBody>
      </p:sp>
    </p:spTree>
    <p:extLst>
      <p:ext uri="{BB962C8B-B14F-4D97-AF65-F5344CB8AC3E}">
        <p14:creationId xmlns:p14="http://schemas.microsoft.com/office/powerpoint/2010/main" val="151100129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B32D8C-0744-4507-95FF-AB4CB62A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B14C8-EA21-457D-8DFA-DDB5B371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a941f5c9564137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BD1CD-C0DF-4E85-8E26-FE6E5BBD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Integrated objectives should be staged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B7816-D486-4F2D-8840-58EF5DA2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C40DF-2392-4E1C-BB30-DFE750CC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AC89D-8133-43AD-B19C-38078612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Design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3FBFA-83D4-4321-9C98-FBD5CDEC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683F2F-26F7-4DCC-B415-4B951AA3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Optimization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FBB38-08CF-4CD3-BCD2-334B70CA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EDF1D1-08F1-456A-8E15-2213AE44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94941-223E-4A51-AC03-EF112A45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Early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6A69EF-CB02-4E15-A29E-CA9A4C0E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cheap geometry and Boozer screens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699D0-4D18-453C-AACE-0B4E22ED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FC0539-C753-4544-BBC4-26324E02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0C97C1-4090-4503-8B3D-BE8D26D3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Middle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6F38DB-522C-4FF8-977E-A27E6376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coils and neoclassical metrics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04C87A-23D8-4F64-85D3-6042860C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E0CB26-F4A8-4813-9375-A55F70F8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F0D643-EBE2-477F-AC7C-EC993851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Late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08B513-08D4-44F6-8DC7-6E8F339F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turbulence, particles, profiles, engineering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857D05-FDCA-4710-A788-6F72412B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C4CCAC-DD74-49B1-968A-B64A16C9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C853BF-D74E-4B07-948C-37432EAC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B21935-BD8F-4D44-B448-E1EF68F5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9F0036-2CC9-422E-A0A3-12A56778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08</a:t>
            </a:r>
          </a:p>
        </p:txBody>
      </p:sp>
    </p:spTree>
    <p:extLst>
      <p:ext uri="{BB962C8B-B14F-4D97-AF65-F5344CB8AC3E}">
        <p14:creationId xmlns:p14="http://schemas.microsoft.com/office/powerpoint/2010/main" val="112763639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C32D59-3C15-45EF-B02E-7C134EAD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994AC-7D32-4568-8A29-7DD50715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5452c5cc9046e4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B7C1C-9840-42F2-AE03-E56C9B72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Demo break: profile closure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1A404-955E-44C2-913A-A29C4BCB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E11F5-83D3-43F5-9ADB-1F56114D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0005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47282-81B1-4E62-8357-4A54C028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1B15A-B48F-45AC-920E-263436C4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Notebook break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3FB80-BD1D-408F-BE56-6A66ACAB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2B2B2B"/>
                </a:solidFill>
                <a:latin typeface="Aptos Mono"/>
                <a:ea typeface="Aptos Mono"/>
                <a:cs typeface="Aptos Mono"/>
              </a:rPr>
              <a:t>Notebook: Neopax Profile Closure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A8D642-1CC0-4B50-8A99-7D1092C7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838C4F-29FB-41B8-B91B-F7EC6B17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718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Plot temperature response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4D1809-A2D7-4B90-853F-3540676C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86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450267-DCD7-49FA-8F6F-279B8AC7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814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Inspect power balance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A5C912-AC37-42CB-935A-E3AAFBCC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95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8BC43-DD05-4BC8-B93A-888AB284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910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State which quantities are screened and which are validated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5611ab84e642e2"/>
          <a:stretch xmlns:a="http://schemas.openxmlformats.org/drawingml/2006/main"/>
        </p:blipFill>
        <p:spPr>
          <a:xfrm xmlns:a="http://schemas.openxmlformats.org/drawingml/2006/main">
            <a:off x="5744653" y="1657350"/>
            <a:ext cx="5084193" cy="31432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B85B68-3DEC-430A-8E95-5494126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43500"/>
            <a:ext cx="533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E11BE0-2091-4E1E-A821-FD5D195A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267325"/>
            <a:ext cx="491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Notebook path: notebooks/10_neopax_profile_closure.ipynb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999949-A621-4B1F-8C8A-3FA0A82D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550FED-74BE-4F6E-9134-30A5ABA9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F5E467-E849-4D25-858F-CD3DF222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3B26C1-14AD-4143-8B26-B0EC1EEE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C00F97-31C3-487D-A1B7-375AF299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09</a:t>
            </a:r>
          </a:p>
        </p:txBody>
      </p:sp>
    </p:spTree>
    <p:extLst>
      <p:ext uri="{BB962C8B-B14F-4D97-AF65-F5344CB8AC3E}">
        <p14:creationId xmlns:p14="http://schemas.microsoft.com/office/powerpoint/2010/main" val="200397231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397D19-E35B-454B-911A-626C75C7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C7A21-251B-4C6A-B163-823BCC69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2f36404844755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66BF0-139A-4D2E-8FF9-2A93D979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Lecture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B8967-8E1F-4F77-8F87-BC6A6BA4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5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4EC722-6120-4C70-9E64-83E5180F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857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PART 2. Pareto decisions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B23DD-6159-4995-AC3C-FC5E2FEE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3855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D79E0B-5664-4FED-BF8C-0B83C02A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00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4167A-8D4A-46D6-8572-F74C9958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9575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Many designs can be defensible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DA641-654D-408A-9D9F-D787B4B8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29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961C3-DDD6-4458-B1E4-15594EE6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72440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decision weights must be explicit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966371-E1C4-451C-B8A5-60EFED6F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1F8E31-B0A1-4A7B-80A0-20B0E8F1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0C3C6D-7748-49B1-ACF3-979E7A82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732C77-513C-464A-BB6D-EDC35C16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00A29F-CDAC-4E46-8380-3C7D1AE0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10</a:t>
            </a:r>
          </a:p>
        </p:txBody>
      </p:sp>
    </p:spTree>
    <p:extLst>
      <p:ext uri="{BB962C8B-B14F-4D97-AF65-F5344CB8AC3E}">
        <p14:creationId xmlns:p14="http://schemas.microsoft.com/office/powerpoint/2010/main" val="93916365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C0481D-DE40-45A0-A513-1C486549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90F48-2259-47FE-84A2-AB8BE16C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57cb997534c23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CD30D-B6DA-49C7-85EB-7F381E7A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Reactor constraints enter as gates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9DA48-63FA-4862-8149-DBD09082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3A02DD-5935-488B-A68F-CAA8F50D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FA3B8A-19F9-45D2-A0EC-4053BDD1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Design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2288FC-D36D-4A9E-AFED-6D3C50D0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722228-1A50-427F-8750-78D934B5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Optimization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77849-1B0F-47CE-8D65-970D0451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FFE33C-3E62-469E-B1B7-545F0763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A25C20-135F-4E23-B325-F96AE2A0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Alpha heating and losses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6FF17E-E35D-40C1-85EB-7F865E86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reactor-relevant loss 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19628B-2B8B-4DB2-9139-8F35FF49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FD63FE-29AA-4127-9DAD-EF9836CA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4CACDE-69D5-4B86-A279-52FFD906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Wall loads and blankets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95883B-83F7-4D81-B545-2AB16D6D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engineering and material constraint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A0595B-B563-49AB-9A27-F39D7DCA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D03451-A43D-40BE-9CA5-21D75746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795E8B-E055-4B8F-9B02-53972344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Maintenance and access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424B7C-2A7D-448C-9C2C-4E135577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device availability constraint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98A454-FE2D-4682-8BB8-97B5AA87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7D786C-9543-40E4-A505-22A9C4B6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358F6A-DA20-4601-9C7F-C7A3A29C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CDD1E5-2D23-4429-B395-9823D8B5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8C2CFF-EA8C-44B9-B60E-60C07D1E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11</a:t>
            </a:r>
          </a:p>
        </p:txBody>
      </p:sp>
    </p:spTree>
    <p:extLst>
      <p:ext uri="{BB962C8B-B14F-4D97-AF65-F5344CB8AC3E}">
        <p14:creationId xmlns:p14="http://schemas.microsoft.com/office/powerpoint/2010/main" val="190945648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96CEE8-34FB-4272-9417-060B8185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6A1A5-C112-4939-8B5B-ECA385ED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d74ba1f2e0474a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E72C3-2816-4E5B-8954-D12603CD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What is a Pareto front?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362C8-024B-4907-8D06-0F67B725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62E8C-F896-4ED7-B781-20E8E513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45529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BCA5D1-1C09-414C-9B30-47952E63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455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A728F-C92B-4EB6-AA83-495DAABF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0500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Pareto front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E5427-9D00-40B1-91FB-8435FC5B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38400"/>
            <a:ext cx="384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set of designs where improving one objective requires worsening at least one other objective.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3FE22E-A206-42BA-B0D0-99DA1388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377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0F9B9-B839-46F4-AE8C-E10F27E6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24275"/>
            <a:ext cx="3467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no design improves all objectives at once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0863B8-C47A-479A-B699-48541C7D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81150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782E81-2B02-492F-AB62-235C1DDD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811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32590E-AC91-489A-B14F-E7E07637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145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Physical meaning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550C05-0846-4FB0-8839-AECF7E33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81200"/>
            <a:ext cx="4591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It separates physics tradeoffs from preference choices.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DD55A-3834-4E64-B098-A05A3164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86050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E0DEFF-23DD-4A62-81BA-D3F31CA7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860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3EA6B7-0C32-4316-96D8-1D31E2DB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194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What the optimizer sees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D2B670-EC19-453C-92B0-504B6AC6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86100"/>
            <a:ext cx="4591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it to decide which weights and hard gates are steering the final selection.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32EDF9-DBB1-482D-8C8F-7DE51C56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90950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9BB214-659B-4721-B04E-143BD78D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909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900F52-0ABC-437C-B4CC-B9CBFB39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243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6A0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46A00"/>
                </a:solidFill>
                <a:latin typeface="Aptos Display"/>
                <a:ea typeface="Aptos Display"/>
                <a:cs typeface="Aptos Display"/>
              </a:rPr>
              <a:t>Failure mode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200C5C-3CEC-4929-8FAA-198A06A3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91000"/>
            <a:ext cx="4591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 point on the front can still fail a validation gate that was not included in the objective.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5A1515-C4E5-4A78-97C7-B1D7D6CD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00650"/>
            <a:ext cx="866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207EA0-D24F-4A1A-ABAF-9DE96386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324475"/>
            <a:ext cx="817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Pareto analysis makes the design decision explicit.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AA95B5-283B-43E6-97F6-45711C47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F61275-04DB-4644-A845-8169F24B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FE62D1-A09B-490B-AA95-2D6D73FF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BF1342-7C5B-43B5-8136-CB3F99A9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13EF1A-BE6E-45A0-B1F1-D93D2998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77EAF8-20B5-4951-BA3A-76582976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076950"/>
            <a:ext cx="866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Ref: multiobjective SIMSOPT and single-stage stellarator optimization workflows.</a:t>
            </a:r>
          </a:p>
        </p:txBody>
      </p:sp>
    </p:spTree>
    <p:extLst>
      <p:ext uri="{BB962C8B-B14F-4D97-AF65-F5344CB8AC3E}">
        <p14:creationId xmlns:p14="http://schemas.microsoft.com/office/powerpoint/2010/main" val="67140092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1CDD96-6A5A-45FA-8D37-BF2B829E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80264-7866-4E91-A7A3-71692350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73914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c8d3293c814b12"/>
          <a:stretch xmlns:a="http://schemas.openxmlformats.org/drawingml/2006/main"/>
        </p:blipFill>
        <p:spPr>
          <a:xfrm xmlns:a="http://schemas.openxmlformats.org/drawingml/2006/main">
            <a:off x="1236085" y="1695450"/>
            <a:ext cx="5909830" cy="3733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19924-4899-40EB-AC7F-D0C65B5E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How to read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F6CE0-4FB6-4058-83A2-B81006C3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81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08D1E-42FF-49BA-85B1-97928017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Nondominated points still require priorities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EFEE7-4785-4848-A432-CC76BCD0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38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E60005-FD3E-450B-8892-60DE87D4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3370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Final choice needs context and 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3CDA86-F2A2-45C6-A071-362E6A59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5990C-6ACB-4083-8C08-F6D91A65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72050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A Pareto front is an argument surface, not an automatic answer.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9F695-7FF2-427D-9B20-138A3730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8ba9e6d1e4e9c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91AC49-956B-4E7B-A14A-2BE32887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Pareto fronts need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37673D-633E-41B0-A7CA-8D5D807D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7AADC-4D71-482C-8A4B-D1469428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ED0D1A-AEB8-4E55-B0F0-F05B823F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CA8235-7E61-410A-9CCC-3DC3D86C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9B9C82-9F46-4CC1-8279-0D12FDDC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F3F2F3-7750-4A97-B4A1-8E2CCBBB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D48636-861C-45A5-A515-6F2A9C07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076950"/>
            <a:ext cx="866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Ref: SIMSOPT objective composition and multiobjective stellarator optimization workflows.</a:t>
            </a:r>
          </a:p>
        </p:txBody>
      </p:sp>
    </p:spTree>
    <p:extLst>
      <p:ext uri="{BB962C8B-B14F-4D97-AF65-F5344CB8AC3E}">
        <p14:creationId xmlns:p14="http://schemas.microsoft.com/office/powerpoint/2010/main" val="120587397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4F15FD-2861-49DB-ACEF-05B57AC8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6C7333-0D7B-4980-80F5-B2BC75AD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73914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1155efd09d4300"/>
          <a:stretch xmlns:a="http://schemas.openxmlformats.org/drawingml/2006/main"/>
        </p:blipFill>
        <p:spPr>
          <a:xfrm xmlns:a="http://schemas.openxmlformats.org/drawingml/2006/main">
            <a:off x="1096462" y="1695450"/>
            <a:ext cx="6189076" cy="3733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505F7-6B41-40B1-8CE7-B31FB534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How to read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D545D-B5CA-48D4-AACF-59C9CDD4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81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28359-D513-4CEB-9A1F-83A00D77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Changing weights changes the winner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1A6F5-16A6-4B96-B63E-302D5DED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38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B00E1A-13B7-45A6-A736-891AC934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3370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Record weights beside every selected 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F589C-59DC-456F-8A70-1042882C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AA213D-9A4D-4206-A3FE-D679B625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72050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A weighted score is a value judgment with units and provenance.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9B72D2-1AB0-483D-93A7-645909A1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c44121b9d34f1e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EA66C9-28C6-48F7-AB66-710D29E9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Weights expose the design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53A608-96C2-47AB-B699-D03F7813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8AEA89-7744-4D65-BC1F-2B611EB9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AC62D0-343B-456A-83BD-CB1DDE9B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111A03-7AC1-4588-95A0-E207DCB1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ACE078-2FBB-4800-BFA8-C10B7BD5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3D9BA1-1E93-4320-A2B5-BE861D95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14</a:t>
            </a:r>
          </a:p>
        </p:txBody>
      </p:sp>
    </p:spTree>
    <p:extLst>
      <p:ext uri="{BB962C8B-B14F-4D97-AF65-F5344CB8AC3E}">
        <p14:creationId xmlns:p14="http://schemas.microsoft.com/office/powerpoint/2010/main" val="55306614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835CC8-0480-44DB-96AB-1F590413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61F14E-DFFB-47A7-86FA-2E220777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eb1a6d42b74e75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B66C8-7737-45BB-B8CA-1718D34E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Demo break: Pareto dashboard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F9942-A422-4469-8670-0AEA425F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531A7-5508-4C42-A88F-844CEA0B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0005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421CA6-B353-4F8A-9FF4-801580D2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1DBBF-8B42-4E8E-8C34-8FEAA506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Notebook break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B6F63-EFEF-4FAA-869F-3A73F404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2B2B2B"/>
                </a:solidFill>
                <a:latin typeface="Aptos Mono"/>
                <a:ea typeface="Aptos Mono"/>
                <a:cs typeface="Aptos Mono"/>
              </a:rPr>
              <a:t>Notebook: Pareto Design 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1955EE-6B82-48F7-B28A-54FB53AD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40C25E-947A-448F-9629-F204F868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718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Change one metric weight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6CE9C7-9552-42D7-ADFF-3FCA5C58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86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FC60A7-E768-463B-B6C4-24D19E7F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814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Regenerate the chart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3BBD42-0FD9-4E59-9ABB-2E30C00A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95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5E2D5F-FE76-4AD9-84BC-02255A6F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910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Defend the selected design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a9a19ec2848d6"/>
          <a:stretch xmlns:a="http://schemas.openxmlformats.org/drawingml/2006/main"/>
        </p:blipFill>
        <p:spPr>
          <a:xfrm xmlns:a="http://schemas.openxmlformats.org/drawingml/2006/main">
            <a:off x="5681654" y="1657350"/>
            <a:ext cx="5210191" cy="31432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EE82D3-4B24-4A07-AE15-DD45384B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43500"/>
            <a:ext cx="533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B6AF33-8F6F-47CE-8B2F-81EF4F69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267325"/>
            <a:ext cx="491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Notebook path: notebooks/11_pareto_design_dashboard.ipynb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0E1E0D-B4E2-4AF4-9A0A-221942E7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81FB41-C908-4A54-B409-0B584ECF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46D671-3008-44DA-A921-9FEFF440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4A79D2-BA4C-402B-8499-7F6BC0A6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CBC752-AA8E-4D2E-B51F-13E1545D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15</a:t>
            </a:r>
          </a:p>
        </p:txBody>
      </p:sp>
    </p:spTree>
    <p:extLst>
      <p:ext uri="{BB962C8B-B14F-4D97-AF65-F5344CB8AC3E}">
        <p14:creationId xmlns:p14="http://schemas.microsoft.com/office/powerpoint/2010/main" val="160729099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9F2C04-FF89-49F2-A3F9-478F43C4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35C14-CA9E-47EE-A0F3-F6B469CF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9715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ED7A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BE5E7-C73B-4CCF-B542-C349DD1E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714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556DD7-66C1-41E0-839F-A266819D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193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rPr>
              <a:t>Validation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92C4B-2BCE-4119-A482-B36CB8C9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33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7A0FA-B242-44CA-904D-B258BF8D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2890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Equilibrium, Boozer, neoclassical, turbulence, particles, profiles, coils, engineering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47209-A498-45EF-B9EF-E39E25BC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432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E3D95-9C51-4C21-98D1-87281EE3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 design can pass one gate and fail the next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156DE8-853F-4CCE-BB49-44298F9D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76800"/>
            <a:ext cx="828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7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70820B-F09A-4763-8684-C627F9B8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29200"/>
            <a:ext cx="809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341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A3412"/>
                </a:solidFill>
                <a:latin typeface="Aptos"/>
                <a:ea typeface="Aptos"/>
                <a:cs typeface="Aptos"/>
              </a:rPr>
              <a:t>Validation rule: state the assumption, identify the metric, and explain what would change your mind.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892C8D-7F79-4224-87B4-3EA748A9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02aa15459d4370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7FB60-E53E-461A-A3F5-A1E52D73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Validation gates prevent metric gaming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FB2F15-94AE-45B6-86ED-ADC0E612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2C83BE-C761-44B5-9581-C73E0643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DCA72D-F285-49F0-9EE8-228F5304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F20EB1-7774-483A-934B-EC83638B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B48632-82E4-4736-A7F7-AA6F4578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EEFE50-BBF3-4DD6-969C-8922CF3E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16</a:t>
            </a:r>
          </a:p>
        </p:txBody>
      </p:sp>
    </p:spTree>
    <p:extLst>
      <p:ext uri="{BB962C8B-B14F-4D97-AF65-F5344CB8AC3E}">
        <p14:creationId xmlns:p14="http://schemas.microsoft.com/office/powerpoint/2010/main" val="12445848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A37440-98FB-4597-A3F4-3D8C5CF3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47F6E-EAEB-4717-9C1D-7FB362E4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7e624f6ff4287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102B7-226E-4FE2-AADA-A6F0D678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Lecture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54C2AB-A478-45F3-8019-87745AE2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5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BBE1F-BEE0-4C6E-8887-A571F5FE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857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PART 3. The GitHub repo is the lab manual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0BACD-A696-48C8-959B-FF05E51E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3855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CCC33-DD62-4FAD-B4CD-5923C140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00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62AF28-AF5E-422F-85CF-3FC0D529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9575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Slides explain concepts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C8144-FEEA-4081-AF26-25D4613D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29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D94C3-D78F-41EB-BEC8-3F6671A2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72440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Notebooks execute projects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3DE12A-1977-482D-B43A-22EEFFCD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57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BB51BD-30F7-4D7E-9B69-180BBE7A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35305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Scripts regenerate figures, movies, and 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E49B37-8F02-457C-8EB8-C97B4605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4D1C62-6C98-4C79-95D4-381412AA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F5564E-9C4D-4042-916D-938B2C78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DA1388-8CBC-4923-B007-2873F049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87DCB8-C377-41CA-81CE-AEA970B0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17</a:t>
            </a:r>
          </a:p>
        </p:txBody>
      </p:sp>
    </p:spTree>
    <p:extLst>
      <p:ext uri="{BB962C8B-B14F-4D97-AF65-F5344CB8AC3E}">
        <p14:creationId xmlns:p14="http://schemas.microsoft.com/office/powerpoint/2010/main" val="193944251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1E2E47-4F36-4DEA-B251-23687114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7FC33-DF3C-4EA2-8376-04974EFD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7df2c853848b6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B1086-3CC0-4284-9E6E-330DD9A8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8953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A design is a validated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21A3F-63D0-4F49-8256-D135CA48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623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949F1-19C3-47C8-9CC9-7323366A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00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48CFA-B585-4564-B7D7-7DA9BCAE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95750"/>
            <a:ext cx="695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repo is the audit trail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4CFEA-3D35-47CF-9230-1E1504C3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928319-AF01-4B59-A819-7910B94B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7BBE14-44ED-43C9-8964-4DF05B8B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37B5B8-EA6B-4E98-A1AC-74A96A72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37418-5E72-469E-855B-B004136B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18</a:t>
            </a:r>
          </a:p>
        </p:txBody>
      </p:sp>
    </p:spTree>
    <p:extLst>
      <p:ext uri="{BB962C8B-B14F-4D97-AF65-F5344CB8AC3E}">
        <p14:creationId xmlns:p14="http://schemas.microsoft.com/office/powerpoint/2010/main" val="116174934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99A155-D8E3-490D-9CAA-C524F497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04371-3007-4EDB-9FC1-D1091A4D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5fdda7fc94d38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44418-7663-4EF5-83B9-2CDD70F2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Repo lab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B4C33-E76A-4C45-9CA7-FD1BCB7E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C6D74D-875C-470B-B95D-0C425714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666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31FC8D-C20D-4D34-A566-6E30597F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9A006-92D7-4475-86D1-B7471277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097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command surface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31FAD7-F255-4D8F-9A8E-C4ECD8AB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05050"/>
            <a:ext cx="5905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$ python scripts/run_smoke_tests.py</a:t>
            </a:r>
          </a:p>
          <a:p xmlns:a="http://schemas.openxmlformats.org/drawingml/2006/main">
            <a:pPr algn="l">
              <a:defRPr sz="17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$ python scripts/execute_all_notebooks.py</a:t>
            </a:r>
          </a:p>
          <a:p xmlns:a="http://schemas.openxmlformats.org/drawingml/2006/main">
            <a:pPr algn="l">
              <a:defRPr sz="17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$ python scripts/build_powerpoint_decks.mjs</a:t>
            </a:r>
          </a:p>
          <a:p xmlns:a="http://schemas.openxmlformats.org/drawingml/2006/main">
            <a:pPr algn="l">
              <a:defRPr sz="17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$ python scripts/check_release_ready.py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34C1F9-5E8D-48A5-9FC2-67E158C5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90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12C258-8801-408D-9FC0-2BD68A2F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2571750" cy="67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python scripts/check_release_ready.py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7551C1-9F7B-4B5D-9E0E-378EF46A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84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394FA1-8255-412B-BDBB-2AB889AE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79700"/>
            <a:ext cx="2571750" cy="67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python scripts/make_lecture_bundle.py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BE4C31-C938-4573-907B-6977B2B2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78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7E9BDF-863E-4926-9DE5-8ADB6A0E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73450"/>
            <a:ext cx="2571750" cy="67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python scripts/audit_notebook_outputs.py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2DC61C-B8E3-45CB-8B69-144AEC46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E9A0E4-E472-43E7-AD0F-7EADAA16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0B03A0-3CF6-40AA-8C44-B72F7797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C61038-DCDB-453E-9C35-E335EBAE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3B6A0A-884C-4A29-8402-79E477D6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19</a:t>
            </a:r>
          </a:p>
        </p:txBody>
      </p:sp>
    </p:spTree>
    <p:extLst>
      <p:ext uri="{BB962C8B-B14F-4D97-AF65-F5344CB8AC3E}">
        <p14:creationId xmlns:p14="http://schemas.microsoft.com/office/powerpoint/2010/main" val="126697266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D5E5C3-0FBE-4FB4-8200-2B4EBEF8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68415-BA46-4CD9-A2E5-4A693749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116b0406884a04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96AA8-B717-4CB2-9FCC-CE4AC981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Live demos and research runs have different roles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A351C-98C5-468C-BFAE-C1DE2CEE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948300-3065-4A9E-99F1-3376A53D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11737-BF79-4D1E-8FC0-29F5DDB4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Design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0F49ED-1ACB-4895-93B6-EF0656CF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00087-B141-4E39-B921-C25DB7A0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Optimization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BF5A1-451C-4F61-B8C4-8FC3F859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1BF17-37F6-45B3-BF76-AC505092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684C1D-FEB9-4A97-A564-E7FFC08B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reference examples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B130E-1861-416A-B76B-F25AD966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student reliability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88C56C-6D9C-4FE3-8CE8-418ADAFB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B65AD3-A4F0-4A56-AEF8-DDD12E95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DAFE54-1AFA-4310-A681-8FE8B323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short live run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14388B-FEC8-46C9-88C3-90ECDC4F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instructor timing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09FD9D-AF68-4BBB-8A91-1B3CE92F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382CD1-8F94-42E4-B687-7481BB14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B2DE4A-D73B-4929-9732-F50C0391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research run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CD8B5F-51B5-4DE7-BD4C-14AEC08C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documented solver output after timing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6F2BF4-FD01-4402-AFF1-638C08D2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D17F5A-0776-420A-B85A-B4CA2D85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F95241-7F86-4159-80C6-AB593F30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1B5165-97C2-4158-B332-0555C3AA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A3F698-B75C-416B-8076-C841FAB7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20</a:t>
            </a:r>
          </a:p>
        </p:txBody>
      </p:sp>
    </p:spTree>
    <p:extLst>
      <p:ext uri="{BB962C8B-B14F-4D97-AF65-F5344CB8AC3E}">
        <p14:creationId xmlns:p14="http://schemas.microsoft.com/office/powerpoint/2010/main" val="111101020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FC57A6-7A43-4CE3-9D5A-F5A5FEA2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0AE2F-5946-4FC1-847A-C2BE01F5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4dd42e79474235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8A719-C8BF-4C3D-AD7C-472B5128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ReadTheDocs is the canonical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E698F3-A5E4-41EA-A3B8-D579D5A7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DDB89-801A-4418-AF2E-A224D930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D8052-B443-4586-BC33-6A71572D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Design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158E3E-719A-48BC-9130-55778CEE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9A955F-E389-4404-8ADC-B8FB39C3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Optimization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7CE65-1AB2-4392-9B1F-BA56E071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13C3B0-2BDB-4B27-824A-8604C007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13DD93-E01F-4E59-8820-12D1E461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Docs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8590F2-34BC-4474-AB38-0EE203F5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https://sos2026-rjorge-stellarator-optimization.readthedocs.io/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9DB9E1-6BAF-4D57-BBAB-AB5AAC7E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A3681B-BDDE-4827-8396-51B300EC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2056D8-9BB7-434C-99C1-9EBF9618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Repo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9FEC53-66BF-42C5-9382-A49CDBAC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github.com/rogeriojorge/sos2026-rjorge-stellarator-optimization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E688ED-311F-4DBC-9619-5346B348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F8C21B-4FC7-4E81-BF89-5A90FA59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B02297-6CD2-47B1-A4AE-78523169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Use the live demo matrix during class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427751-C232-4776-AE19-A4C7B5A9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it as a metric, constraint, or validation gate.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2D4BDC-7DF1-450A-A3B4-D07B9D27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14B7C4-536C-4D68-BC94-AFC28E8B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769916-4CA2-4037-9327-66B98E0E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44665C-03B5-495C-963C-CFCB9525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A65FA8-65D4-4200-840D-2C400DC7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21</a:t>
            </a:r>
          </a:p>
        </p:txBody>
      </p:sp>
    </p:spTree>
    <p:extLst>
      <p:ext uri="{BB962C8B-B14F-4D97-AF65-F5344CB8AC3E}">
        <p14:creationId xmlns:p14="http://schemas.microsoft.com/office/powerpoint/2010/main" val="87127512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642494-FE6A-45E0-9872-095B2CC2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20C37-86CB-4888-A02A-2AB4146D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e94a6b6ab43d1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36C8F-8CCF-4169-9785-B6CB4833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Repo lab: full reference run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DEC79-B3E5-4006-8ECD-7387BEE3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032FF-7DCE-488D-BC3C-7881C787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0005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3AB9A-9AE5-4E9C-B8B5-BC139717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0E76D8-2812-4E48-9EDC-D3D1E4FC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Notebook break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CE9F80-FF76-43E7-832F-25B901E8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2B2B2B"/>
                </a:solidFill>
                <a:latin typeface="Aptos Mono"/>
                <a:ea typeface="Aptos Mono"/>
                <a:cs typeface="Aptos Mono"/>
              </a:rPr>
              <a:t>scripts/check_release_ready.py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40350-72BB-4DCE-90AA-77507843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48BD0-7B28-4F39-8CC1-80DFF9EB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718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Run acceptance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5B1CDA-8C11-4733-B389-09821097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86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4DABA0-E424-4F08-B3A9-01A3246C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814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Review STATUS.md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E372F1-FC77-4732-90F9-7DBEA31F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95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8FDFDA-E0F3-47B0-AA3D-B2C4C3C3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910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Open rendered docs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57b61979d3497b"/>
          <a:stretch xmlns:a="http://schemas.openxmlformats.org/drawingml/2006/main"/>
        </p:blipFill>
        <p:spPr>
          <a:xfrm xmlns:a="http://schemas.openxmlformats.org/drawingml/2006/main">
            <a:off x="5719965" y="1657350"/>
            <a:ext cx="5133570" cy="31432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44DDD9-952B-42B3-B5E9-379C11C4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43500"/>
            <a:ext cx="533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6FD9B1-E9CC-4515-9EF6-78C8273F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267325"/>
            <a:ext cx="491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Start with the reference run. Repo: https://github.com/rogeriojorge/sos2026-rjorge-stellarator-optimization | Docs: https://sos2026-rjorge-stellarator-optimization.readthedocs.io/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07B3AA-8357-4625-B856-46585E21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2D09F4-F007-4D87-B2BD-43613E05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435F25-BEF0-4874-92FE-CB618A49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B5EFCC-8F0B-451F-9BC9-2BB0E48B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079FB3-2E1F-4C97-861C-9A58DD47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22</a:t>
            </a:r>
          </a:p>
        </p:txBody>
      </p:sp>
    </p:spTree>
    <p:extLst>
      <p:ext uri="{BB962C8B-B14F-4D97-AF65-F5344CB8AC3E}">
        <p14:creationId xmlns:p14="http://schemas.microsoft.com/office/powerpoint/2010/main" val="1399988804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2BDA6F-8AE4-43DA-850E-162316A8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06E17-4602-4C5E-A565-7645D20D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85e817b3741d3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6B1CF-1052-4A7F-9609-CC6352C3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Coil robustness returns in the final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574DBD-3D43-42E3-9B5C-CAA23DDF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4FDAA-72E5-45F8-9288-E59208E9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E5228-EDCB-444E-93AC-72D6EF45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Design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EE7E37-A736-4BA4-9E4A-2C1018A4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EDAC24-8707-43D6-A6FE-3C3A6D7B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Optimization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FD00B-D476-4A7D-91CF-4CF7EC81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7D4AD-C29B-4ECF-B8BC-6F0D8B0E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7BFCC-E9DB-4C5E-8E8E-7C5F0FBE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Manufacturing tolerance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0BA8F0-0AD8-46D2-B8B4-B80BABD9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can the design survive perturbations?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4FD672-CDED-4ADE-82A9-D696438E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49D6E8-5740-4798-A51F-9ACC1C6F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090EF6-011F-4A0B-9EB1-52D2B6BD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Current errors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A67438-7140-4B0A-9B9E-83CB753C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can operations maintain the target field?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6044EC-7B1B-4867-AE06-1DBFE674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5C699D-2657-4D99-9172-D2202B13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01ACF3-BA37-4991-8C4E-3EFCED85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Thermal and mechanical deformation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B75531-3148-436C-AC7D-B0B52381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does the coil story remain true?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1A1C9D-6052-4841-BA15-1873C461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B0691F-F700-4914-A9B1-1EE8DCFB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EFC971-8486-4CC3-945D-10C4A378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291C71-CDB2-43CC-A3D2-7222CE85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E95DBC-4008-4518-819F-4B38546B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23</a:t>
            </a:r>
          </a:p>
        </p:txBody>
      </p:sp>
    </p:spTree>
    <p:extLst>
      <p:ext uri="{BB962C8B-B14F-4D97-AF65-F5344CB8AC3E}">
        <p14:creationId xmlns:p14="http://schemas.microsoft.com/office/powerpoint/2010/main" val="1425440616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ECAE98-79A7-4A07-BBB1-E8E90F9E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5938BD-B225-49B7-BAB0-91B0F08D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e9d876617348ef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50DDE5-2432-469B-9301-B2390253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8953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There is no single best stellarator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6A0E5-3DE3-4968-A664-852D1765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623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82C559-5D06-433A-B0ED-11B3A304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00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18D7C-1FAF-4095-B7E3-A22BDB0E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95750"/>
            <a:ext cx="695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There are only defensible choices with stated priorities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4EBFD7-38E6-4D1A-9BFB-C528D8E6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75FC1A-81E1-4DCA-97E4-B049CF10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9BFA1-5E6E-4B7B-8942-21A932F5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ECEAB-C98A-4351-8A64-57EE659E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A242D-E1B9-4A09-9B93-97F20FB4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24</a:t>
            </a:r>
          </a:p>
        </p:txBody>
      </p:sp>
    </p:spTree>
    <p:extLst>
      <p:ext uri="{BB962C8B-B14F-4D97-AF65-F5344CB8AC3E}">
        <p14:creationId xmlns:p14="http://schemas.microsoft.com/office/powerpoint/2010/main" val="2080306167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8CDCCE-2700-44F7-AF5E-74C7B7B5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38311-0F28-4989-AFAA-83C6CFC6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2b4117570a4147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B8D05-ECE9-4FD0-85DC-56ABC3AD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Exercise: change the weights and defend a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68F0D-0D26-4BBE-94C8-4F1A3277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1D890-A98B-4E12-B48D-F5BB01BF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0005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360FF-64A7-4E07-A1BB-71D7E748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942A0-5289-4D48-8163-75F329F2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Notebook break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6D92A-0176-493F-991F-CD096B28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2B2B2B"/>
                </a:solidFill>
                <a:latin typeface="Aptos Mono"/>
                <a:ea typeface="Aptos Mono"/>
                <a:cs typeface="Aptos Mono"/>
              </a:rPr>
              <a:t>Notebook: Pareto Design 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3FAA6D-2FB3-4158-BEEE-CFE06F8E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D057D2-95A4-43C8-A538-D6131F5E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718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Move one weight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4E9B9D-DF73-417A-8540-1738CEF2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86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442F5E-CC69-4CFC-A335-90A57115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814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Identify the new winner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8DF7A0-FADD-4869-85ED-7AD68627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95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421FC1-B857-4FF4-A569-E74C1516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910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Say which validation gate you now trust less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14b0e30dd4fd3"/>
          <a:stretch xmlns:a="http://schemas.openxmlformats.org/drawingml/2006/main"/>
        </p:blipFill>
        <p:spPr>
          <a:xfrm xmlns:a="http://schemas.openxmlformats.org/drawingml/2006/main">
            <a:off x="5799194" y="1657350"/>
            <a:ext cx="4975112" cy="31432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CD0A9-6253-433F-9FA8-3E4273F9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43500"/>
            <a:ext cx="533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5AF07D-FE72-4B42-8846-09B6CF5E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267325"/>
            <a:ext cx="491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Notebook path: notebooks/11_pareto_design_dashboard.ipynb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53BD1A-D0FD-4E76-8CFE-F575FB3D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179E8A-35E8-47AD-A661-8822B3A4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FB2349-D3DF-4067-A114-E1382AC3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98D857-20BA-4B5C-8E4E-73DB57B6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742249-A029-4419-82FF-426C0399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25</a:t>
            </a:r>
          </a:p>
        </p:txBody>
      </p:sp>
    </p:spTree>
    <p:extLst>
      <p:ext uri="{BB962C8B-B14F-4D97-AF65-F5344CB8AC3E}">
        <p14:creationId xmlns:p14="http://schemas.microsoft.com/office/powerpoint/2010/main" val="1198718416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58A030-2D9D-4890-B6DE-241AD848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2B712-F7FD-476D-A37A-77312CC9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f74369a7a24d7d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CB037C-3091-4E46-B088-CD6E6F66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Documentation is part of reproducibility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75B344-FB3D-40F4-B96B-70F20C63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94E0E8-23BC-4D6A-ABEC-7D3C7891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7DB0C-23DB-487A-A2CE-0169E172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Design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0ABE9-8684-4984-AB2D-EF643D09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AA0296-C394-4432-9F10-B7C73E78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Optimization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BA889-A82A-4E1E-96D0-9F55FF1B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F5483B-B0EA-4877-A329-E55ED379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695A2B-7E1C-439B-B545-D4EE9555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README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695C06-EF5A-48CF-8C59-362C9753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how a student starts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C7C27E-6496-458D-86D9-67D8DFF6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5FCC4A-13A9-4038-AFCE-0D869136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8D8CD8-62FA-41E2-9EC4-536D94C7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ReadTheDocs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4A68B8-AA42-414F-92AB-D05BB396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rendered guide during class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B48080-A785-42DB-95D6-E0D7C9EA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2C8BF8-8757-4FB6-9655-FA5657B7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87D989-AD82-440C-BE10-B90EB476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STATUS.md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471EFE-DF9B-4FE9-B863-6771E24D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data provenance and claim scope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DC50FC-AC5F-4B62-8FFE-184F0856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40CC5E-2E69-4265-90C3-27D1D23A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926ADD-8DCD-4561-BC97-93B3E5E5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E11E5C-F096-48FC-8862-0841FA70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CF3210-0F1B-42DB-8E29-063E5A6E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26</a:t>
            </a:r>
          </a:p>
        </p:txBody>
      </p:sp>
    </p:spTree>
    <p:extLst>
      <p:ext uri="{BB962C8B-B14F-4D97-AF65-F5344CB8AC3E}">
        <p14:creationId xmlns:p14="http://schemas.microsoft.com/office/powerpoint/2010/main" val="1220877288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33B63D-91EE-49B2-B5A5-B9CD88A9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16600-75B0-4D42-8D50-48D22679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b269a748ca4a01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5C3AC-8955-48B2-B144-D5669BB6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Lecture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002EC-E2E4-44A0-BADF-A6AB5C43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5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00AE8-21C4-4195-8734-E99FE14E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857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APPENDIX. Lecture 4 checks and replacements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0DC5B-EFDB-458A-B094-45C008C1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3855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B98271-A0A6-49A4-8116-BCC54434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00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C476C-BAC1-4988-AFB4-954DE18F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9575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this section before distributing the school bundle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FA520-A36D-495A-B5F9-5511E591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29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791C6A-3BBA-4567-8A33-EA9E97C4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72440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Keep claim scope visible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0F6F4A-E2F4-491A-851A-B1DA614D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2FFAEE-647C-4E58-955A-CE80DF3D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29798E-4900-4997-9CCF-449273A3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0999B-2B5F-4275-BF78-26B09274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91EA2D-7B9F-4782-92F9-1B971D03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27</a:t>
            </a:r>
          </a:p>
        </p:txBody>
      </p:sp>
    </p:spTree>
    <p:extLst>
      <p:ext uri="{BB962C8B-B14F-4D97-AF65-F5344CB8AC3E}">
        <p14:creationId xmlns:p14="http://schemas.microsoft.com/office/powerpoint/2010/main" val="1536250791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C7DC7B-814E-4F8B-9EA9-381B684B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65924-C9DE-429A-9385-A81B744A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1a10f111f747e5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D3D252-3D8E-4529-A691-019D45B5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What belongs in git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048CBF-8495-43ED-A83C-0A2DDB36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21D9E-2819-49DD-BF6B-19852128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B6AE3-8210-4572-8147-1554C31A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Design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96756-84E7-4E6C-A1A5-BC809DA0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750DDD-AA9F-4E0F-BECD-2921CD7B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Optimization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C4843-6647-408A-A61F-932097D8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B993CF-F222-4DA8-9B83-E47C8B37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39670E-DB37-499E-ADFB-2D1CD3FF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Small inputs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149C44-335D-4FA1-A6DA-622383B2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versioned and documented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6C7F0-1429-4413-A9AB-5E9B04D2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AA0653-F701-45E0-AEE3-4B05B33F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5B8A61-54C4-4911-A197-8FC63A49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Small inputs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E4A726-A2FD-473C-9DC1-9D896344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versioned and documented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D4F38A-0D94-407D-A350-4D9913CC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08049A-D182-4351-A9EE-69FCD36F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98529F-CD5E-49F1-9D0A-ADF4CA9C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Large outputs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DD3E51-CE0F-410D-8C93-93FB4DF3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regenerated by scripts and ignored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6B6405-DE19-446B-BA89-9562A2F9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84B52C-850A-4CD7-84F1-828DF7F1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423DAC-67BC-433F-B922-BE6378C8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773FAF-D023-48EB-83C6-E2B76634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C6DC2A-6D19-4A47-9B2F-D3E4A75B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28</a:t>
            </a:r>
          </a:p>
        </p:txBody>
      </p:sp>
    </p:spTree>
    <p:extLst>
      <p:ext uri="{BB962C8B-B14F-4D97-AF65-F5344CB8AC3E}">
        <p14:creationId xmlns:p14="http://schemas.microsoft.com/office/powerpoint/2010/main" val="87141920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81B29C-2EC3-4423-8AEA-AB450820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FB0C2-A150-4B48-BDE0-C8433B20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9715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ED7A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0A2AC-F8EA-477E-9161-E2DF5C41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714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0A3A1-E03A-462F-A940-2C668A97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193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rPr>
              <a:t>Validation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AC954-B80B-434A-9375-0491EBEC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33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7BA4A-6906-46C7-9AE4-EA2A85AE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289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Original package PDFs and PPTX files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2A7689-23C8-48E5-9E75-04359A06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24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14B69A-4E21-4CE9-8455-E2345647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1945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Private screenshots and huge generated media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99BA7-6E3A-49C6-964D-ACD5995F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147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EF29D9-D22B-4D74-B526-EA437972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100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Local environments and secrets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F4D02A-6ECD-424A-8716-7070386F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76800"/>
            <a:ext cx="828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7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16C51-5673-4FB1-9619-B73AF852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29200"/>
            <a:ext cx="809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341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A3412"/>
                </a:solidFill>
                <a:latin typeface="Aptos"/>
                <a:ea typeface="Aptos"/>
                <a:cs typeface="Aptos"/>
              </a:rPr>
              <a:t>Validation rule: state the assumption, identify the metric, and explain what would change your mind.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F58E79-F397-4914-8C6C-DA9C87E7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680bb685f4928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41A1A2-D25A-419E-A43D-FEBDDFB3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What stays out of git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EBC4F8-C354-4A70-AD66-5CCCC602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935EE0-42A1-4646-BDF7-A5AAD6A3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F65360-73C5-48BB-AAD3-AB7BBBB8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D1E6BB-EDCE-4EB7-9312-9A0844E5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494EFE-4595-4593-A30D-3435FC0A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559FAC-D729-4544-963D-6980FCDF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29</a:t>
            </a:r>
          </a:p>
        </p:txBody>
      </p:sp>
    </p:spTree>
    <p:extLst>
      <p:ext uri="{BB962C8B-B14F-4D97-AF65-F5344CB8AC3E}">
        <p14:creationId xmlns:p14="http://schemas.microsoft.com/office/powerpoint/2010/main" val="18569426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3C4323-1396-444A-85C2-CDAB01DD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31559-53D4-4764-BC3D-263FA30D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3a81762114390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A0DB7-8C58-4033-A323-0247C44F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STATUS.md anatomy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CBB37-E60E-4DAA-A9A3-DEEAE779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393CA-A751-48EC-AC66-30184183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264A2-184F-44A9-B1AE-C7B2A6AB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Design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844CF-8D64-4259-B3DC-66B7B2B5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D918BA-BC4E-46A7-B56F-60EC5879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Optimization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94DA82-55E9-4AF1-94A5-9A6003E5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7E21E3-57E5-480E-9657-125FAB93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56EAAB-1AFD-4565-BEB9-FFFA71BF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Package 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50C6F-17C8-400B-8B1A-525D4F00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what imported and what was skipped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D4E087-5096-41C4-811F-829BF3E2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5D94AA-9CAA-4E26-8A9B-93A42B64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A7FF07-151A-4A25-BBE0-AF5F93F2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Data 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0A3028-68C9-4376-957B-8FFDF029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source, hash, and provenance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E1359A-45D6-4F7C-BAC1-8C7E01B6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A782FA-9611-4F09-9BCA-F26633B7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08A8EC-9838-4549-BA47-82CD2B17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Notebook status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E3F3F1-0946-4069-AA9D-46510C2B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what ran and saved outputs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50A476-20D3-437B-9E65-49F9E4E1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62923E-FDB6-4C69-8B8C-6455312F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204856-968F-46B4-B357-11F2EC25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1E0838-A117-4E79-AAE1-AADADC16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1FEF35-46D2-41C6-820A-DDE4EC0C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30</a:t>
            </a:r>
          </a:p>
        </p:txBody>
      </p:sp>
    </p:spTree>
    <p:extLst>
      <p:ext uri="{BB962C8B-B14F-4D97-AF65-F5344CB8AC3E}">
        <p14:creationId xmlns:p14="http://schemas.microsoft.com/office/powerpoint/2010/main" val="1444208841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BF891A-BEBE-4EC3-8840-2543B54A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44B06-8C5A-4533-B2B7-65915A5D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9715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ED7A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6ED97-3167-4354-9056-FA17E9F7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714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8A375-4BE5-4412-8D18-A6537466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193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rPr>
              <a:t>Validation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932E5-4B96-488B-B875-93D73640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33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194CC-370B-4B08-BDBD-62EF9549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289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 package starts compiling during class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C0E6D-7752-4AD5-850B-5E2A411D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24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12CD9-8C0F-4301-A1C6-BD33C527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1945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 notebook loses its reference data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1561F-349E-40A2-9884-F66EBD9F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147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C5F06-CB2E-43E7-9C8C-793D143D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100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 result is numerical but the validation path is missing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9FD362-62C6-42FE-92D7-36EE9F94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76800"/>
            <a:ext cx="828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7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6185A-E9BD-4578-9852-8D3F46E8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29200"/>
            <a:ext cx="809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341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A3412"/>
                </a:solidFill>
                <a:latin typeface="Aptos"/>
                <a:ea typeface="Aptos"/>
                <a:cs typeface="Aptos"/>
              </a:rPr>
              <a:t>Validation rule: state the assumption, identify the metric, and explain what would change your mind.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C08E9B-538C-40D5-B8DD-9181B5FC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0a052fbb94986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E8A5E8-7AA6-478A-B71A-907F8E4D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Live-demo abort criteria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423AFC-F6FB-40CF-9AF8-58256F07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4813DE-ED70-47E5-891F-0710C0F4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5F5A5E-70D0-4ED9-A1F0-7284E014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E74C05-5BA2-43FE-A90F-FBC7B31E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D2DB69-4584-4A03-91CE-EC6E0A39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CD258B-1889-47A3-A983-812851A7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31</a:t>
            </a:r>
          </a:p>
        </p:txBody>
      </p:sp>
    </p:spTree>
    <p:extLst>
      <p:ext uri="{BB962C8B-B14F-4D97-AF65-F5344CB8AC3E}">
        <p14:creationId xmlns:p14="http://schemas.microsoft.com/office/powerpoint/2010/main" val="278414085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564AFA-0A76-4119-A742-2A24FF3A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DBD21-1E0B-4456-A1EE-2FFC1AF4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ee235c07844c1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A8E0C-592C-41FE-9B4E-65CCED67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Animation storyboard: optimization history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15D31-CAEE-48D7-B65A-B118DB40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163d6d53c4642"/>
          <a:stretch xmlns:a="http://schemas.openxmlformats.org/drawingml/2006/main"/>
        </p:blipFill>
        <p:spPr>
          <a:xfrm xmlns:a="http://schemas.openxmlformats.org/drawingml/2006/main">
            <a:off x="819150" y="2843244"/>
            <a:ext cx="7239000" cy="145726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037B6-87AF-4BFF-82C5-BD45651A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05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13C58-957D-43FA-9679-4A611B33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002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Read the sequence as objective residual decreasing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23C6D-4475-4C16-8A97-4FE238C0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4A01C2-FC1D-414B-B183-73945C6D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051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Discuss when a live animation adds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D21579-06B3-4784-933D-65741A63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86300"/>
            <a:ext cx="276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2C3999-BB24-4870-B9E2-FDE6A50B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19650"/>
            <a:ext cx="2457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341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A3412"/>
                </a:solidFill>
                <a:latin typeface="Aptos"/>
                <a:ea typeface="Aptos"/>
                <a:cs typeface="Aptos"/>
              </a:rPr>
              <a:t>Static storyboard for reliable projection; the movie file remains in the repo.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CCC0CB-69CA-4268-B5F3-592A3F2A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57ED58-EAD2-4B4A-9D8C-FCC03B66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3C852E-EA99-41C5-8FD8-2BC18CE5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DEA40F-DB22-439A-9F4D-6085FC70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51AAC1-4680-433B-AC7F-B3AE78A9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32</a:t>
            </a:r>
          </a:p>
        </p:txBody>
      </p:sp>
    </p:spTree>
    <p:extLst>
      <p:ext uri="{BB962C8B-B14F-4D97-AF65-F5344CB8AC3E}">
        <p14:creationId xmlns:p14="http://schemas.microsoft.com/office/powerpoint/2010/main" val="440756846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373EC0-A818-4982-B317-66BDA6A9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696EE-A316-451B-91A4-CE9D78DF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7a1978da6498c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BAEEE-0AD4-4991-8E22-96D6ACCB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Manual steps before the school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24232-FB4B-4557-A662-2DDA589C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6D368-9B26-479A-8BB3-DE665014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FEB7C-19DE-4223-B09F-50F947EC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Design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D6BC4-F405-4AE9-9EA0-0E11B602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ABF5AD-D934-455F-8AB8-F94CEF02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Optimization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4DFA4-5562-49DC-BE8E-7AB64E75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14378-1333-47A6-A831-7E0FD667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48C3B4-C6E4-4AA0-90B6-1A8CC014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Choose the lecture machine and environment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47B5D8-54D7-4A31-8B83-260F7C20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it as a metric, constraint, or validation gate.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BE294E-37F4-48E1-BA39-44DF39E9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A709DB-AE55-4C7E-BFDE-31001AB0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1F9AC5-E9D5-4485-B6E4-CE64AB85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Pre-fetch equilibria and verify notebooks render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EE8BF8-49A6-46D7-ADEF-38140EF7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it as a metric, constraint, or validation gate.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C09FB3-DDA7-478D-A7CF-41FF6679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002887-5059-480F-9432-9BF88437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471578-3327-4A8E-86B5-6582717A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Freeze the branch or tag used for the school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28ACC4-ED65-45C4-A7CD-E4B8E5C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it as a metric, constraint, or validation gate.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81230B-2018-4197-8C63-E984F77F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B311F2-6988-4938-B19A-E623555F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C2E75F-6168-424E-8A6D-8858B2D1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D8EA0E-9B1A-4EF3-9742-0CA76694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687C67-43AE-46B1-827E-8DB5068F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33</a:t>
            </a:r>
          </a:p>
        </p:txBody>
      </p:sp>
    </p:spTree>
    <p:extLst>
      <p:ext uri="{BB962C8B-B14F-4D97-AF65-F5344CB8AC3E}">
        <p14:creationId xmlns:p14="http://schemas.microsoft.com/office/powerpoint/2010/main" val="296968502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217398-64A2-4017-971A-5B1F72B4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AED51-6652-4FDD-B238-1A2D2A5A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bea8e5b3a14063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29B11-F267-4375-B364-82BB6AE8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How students should use the repo after school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A0479-474E-49E9-87F1-37F8E300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A854E-5C0F-4359-99B5-470C301C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19C1A0-018B-4F0B-A7DC-B92B2ED2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Design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0C470-5472-46A8-9D0B-B0EC2B8E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449118-0587-4F98-AC36-A6A9B380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Optimization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825AE-AD88-4802-833B-6AD25A87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3B7D5-B8EA-47CD-844A-E03E99F8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627FE9-6B47-4854-AEA5-C071B48E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Start with reference results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60FCD7-CCB0-4386-893F-259234DC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reproduce every figure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ECCC5B-894E-4DA1-B80F-A7AFC3C8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E77694-141D-42A3-BCAF-221454A1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911D4F-D345-46A2-B313-978961BC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Change one notebook at a 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B10A4E-E796-4F09-B71F-65B6B152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it as a metric, constraint, or validation gate.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885574-313D-43CF-ADB8-F8574BA7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DE51F9-359B-48E4-B94C-7F43D4DB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6B85A8-5237-44A6-8465-2F2F776E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Keep generated outputs small and documented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DFB4EE-424C-44DB-AF55-A0C62487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it as a metric, constraint, or validation gate.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AD1150-FC2E-4D1B-A48D-57CFBEE7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E72C6D-75BA-429F-9A60-45B17B87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B4F0D6-2642-431C-8D2C-26D3B76D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643EE6-331E-46E3-9C8D-04E264E3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A65168-657E-4F19-823E-CC5060F6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34</a:t>
            </a:r>
          </a:p>
        </p:txBody>
      </p:sp>
    </p:spTree>
    <p:extLst>
      <p:ext uri="{BB962C8B-B14F-4D97-AF65-F5344CB8AC3E}">
        <p14:creationId xmlns:p14="http://schemas.microsoft.com/office/powerpoint/2010/main" val="675532103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884DD4-A37C-41AB-9345-DCF13872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0DB5A-B315-4AAD-9900-EF634A5D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73914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40f315c7804ff3"/>
          <a:stretch xmlns:a="http://schemas.openxmlformats.org/drawingml/2006/main"/>
        </p:blipFill>
        <p:spPr>
          <a:xfrm xmlns:a="http://schemas.openxmlformats.org/drawingml/2006/main">
            <a:off x="1171297" y="1695450"/>
            <a:ext cx="6039405" cy="3733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08E7C-EBF8-48E7-BDEB-0F64B591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How to read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67912-BD79-4D76-99E1-C64809BE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81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34BD1-2970-4C30-A984-17152B13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to discuss profile-closure behavior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7945D-A9E6-4040-A869-245692CE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38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BE977-5733-438E-9CC3-94096334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3370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Keep the limitation explicit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6369C-F29C-470E-94EB-617F6264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6B4309-2A44-45D5-B7B3-EF6989A0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72050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Reference plot for profile closure discussion.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E411E-FABA-4BEA-B0E5-41C9A8F9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f632e094524285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394D0E-B90C-4A63-89DA-46B72795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Reference figure: profile closure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4579B6-F099-4E24-A835-EC02FBE7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BFD34B-E0D1-44C8-A13C-B66AE2F4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2F15EB-9A2E-4EB5-A4E4-85D11FEE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11C513-7BCD-405F-8FB3-2FDD002C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13AD4D-6C01-4328-A9E3-B856B319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7E6D8C-0CAD-4B93-BBAE-62F384BB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35</a:t>
            </a:r>
          </a:p>
        </p:txBody>
      </p:sp>
    </p:spTree>
    <p:extLst>
      <p:ext uri="{BB962C8B-B14F-4D97-AF65-F5344CB8AC3E}">
        <p14:creationId xmlns:p14="http://schemas.microsoft.com/office/powerpoint/2010/main" val="960620288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3224CF-CB97-4602-8AD1-CAC4E318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F8406-5A60-42A8-9728-BD423C9A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73914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6b4a9b57df448f"/>
          <a:stretch xmlns:a="http://schemas.openxmlformats.org/drawingml/2006/main"/>
        </p:blipFill>
        <p:spPr>
          <a:xfrm xmlns:a="http://schemas.openxmlformats.org/drawingml/2006/main">
            <a:off x="1236085" y="1695450"/>
            <a:ext cx="5909830" cy="3733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FA936-43D1-4CAD-8213-03BF9F9C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How to read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66994-60E3-42C3-A455-9ED631DA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81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BFC54-8E4A-49BC-9D25-FC12C288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to discuss the final design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812DC-E57E-4903-BB8D-77603A9A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38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098360-E6D8-4879-82C8-E777124D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3370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Ask which design the room would defend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3C6842-E8CB-45B3-A64F-4036E08B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5128B-CDEB-4EC4-9E4B-2A8DE42C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72050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Reference plot for design-decision discussion.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D4273-00E8-4D74-A050-9848DDCD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557022df444aa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83D95C-1807-4504-BE14-3C3D2BE6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Reference figure: Pareto front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CCCF92-BD17-4DC9-8505-96639EE9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6E72B8-429A-4073-936C-4229F22B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1CFADC-1531-4B47-8907-13C09FCC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6FCC77-1899-4A00-A042-9E691803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CDEBDD-BE7A-42F4-AAA3-EAAE769A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C4E7DE-9C9F-4841-A5BD-113528B6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36</a:t>
            </a:r>
          </a:p>
        </p:txBody>
      </p:sp>
    </p:spTree>
    <p:extLst>
      <p:ext uri="{BB962C8B-B14F-4D97-AF65-F5344CB8AC3E}">
        <p14:creationId xmlns:p14="http://schemas.microsoft.com/office/powerpoint/2010/main" val="499415065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C32015-BD7A-46BD-AC0C-83EABEBC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433FC-F919-4A99-8666-0C108F42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1d3ee60fce441d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08BBA-DDC6-4402-B8D6-CED63A35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Final design commandments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F7C0F-3E1A-41F2-9ED4-A6405A6E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5248D-E7DF-4743-95A5-4DE1C80C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14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5DAC1F-61F9-4E3F-AD57-CBD98CE7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9750"/>
            <a:ext cx="86677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Show every boundary with its coil 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9BA777-72A5-4DC9-9906-10B180FE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95563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1DE021-B86D-4127-A29B-548B1963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90788"/>
            <a:ext cx="86677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State the validation domain for every metric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84CBF-2D04-4F22-8D49-E0607AE4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76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8B546-07A2-46EF-A48E-A5938777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71825"/>
            <a:ext cx="86677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Pair each proxy with its failure mode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EEE9C4-ECF8-4F18-B4FE-B3053341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57638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E6104-1044-46AA-9D09-BDE29F5B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52863"/>
            <a:ext cx="86677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Show the weights behind each Pareto choice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70F1D0-F5B4-41A9-A405-95DF5697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38700"/>
            <a:ext cx="800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03AC56-58DA-41DE-81D6-60F90AE5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62525"/>
            <a:ext cx="752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good optimization result is a design argument that survives new metrics.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1EC5C6-62D1-4632-8FFC-DFC072F5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676AFD-296F-4E45-A55E-5C385279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B65A2D-6111-4AC0-B9C3-53ECB6C9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ED044B-0504-420B-81CE-55014133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01AF7C-7E8D-45EB-8012-C56BDFBA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37</a:t>
            </a:r>
          </a:p>
        </p:txBody>
      </p:sp>
    </p:spTree>
    <p:extLst>
      <p:ext uri="{BB962C8B-B14F-4D97-AF65-F5344CB8AC3E}">
        <p14:creationId xmlns:p14="http://schemas.microsoft.com/office/powerpoint/2010/main" val="162011226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E6F15F-95E6-44FE-BDAA-AF767BA1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8C3FD-3F27-43AA-A715-194417B8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a5ec9416784a3c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75FA6-4AEB-41B4-8119-061D593B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8953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Coupled, differentiable, reproducible stellarator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1B833-E6FB-4140-A643-8306DC88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623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351AE-1D68-42BD-9DD5-ED83327C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00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2BF57A-25AA-4F1A-90B6-C187A9E1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95750"/>
            <a:ext cx="695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Field, coils, transport, profiles, and decisions in one auditable loop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75BFEF-F068-4ED4-8FAD-893E138D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CA89ED-B396-4AA4-9384-35DA8F39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168382-8542-4A61-A5F0-C9D250B0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optimization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725C8E-4E14-49B7-A2C3-9E304FAD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82AD33-F52A-4ECD-B768-B8895332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38</a:t>
            </a:r>
          </a:p>
        </p:txBody>
      </p:sp>
    </p:spTree>
    <p:extLst>
      <p:ext uri="{BB962C8B-B14F-4D97-AF65-F5344CB8AC3E}">
        <p14:creationId xmlns:p14="http://schemas.microsoft.com/office/powerpoint/2010/main" val="821746504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D96681-98F8-46D9-965D-1D73039C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2A166-C304-41F8-B049-E0779E5B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3B1D9F-D803-466D-A39A-C9F64F4E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b7a9a7f0eb496f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C17EF-0E8C-48E1-A7AD-022D2223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Lecture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C99C2-8AEA-426C-84CE-AB56B836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810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What to remember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22BB1-3816-4D50-864F-05E075CB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99086-27CB-42C3-8317-BD8FEB68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62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0768F5-6DE7-47B5-84C2-095F3A2B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Keep the scientific object and the computed artifact together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E20EE-363A-4234-A32E-363A2EFC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52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4F140C-02DA-4B36-968C-62F74D8D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Rerun, perturb, compare, and explain before trusting the optimum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1A553-D45B-4398-888D-26B61D7F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43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563CD4-93B5-4681-A9D4-984D1637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Docs: https://sos2026-rjorge-stellarator-optimization.readthedocs.io/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9D762B-1B51-483F-8838-AA7C48BD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29300"/>
            <a:ext cx="773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DCE3C7-D488-4C70-9F88-6F9F1E07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781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Repo lab handoff: rerun, perturb, compare, explain.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828932-93F1-4269-A83C-497DEE68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81025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github.com/rogeriojorge/sos2026-rjorge-stellarator-optimization</a:t>
            </a:r>
          </a:p>
          <a:p xmlns:a="http://schemas.openxmlformats.org/drawingml/2006/main">
            <a:pPr algn="r">
              <a:defRPr sz="97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B7011F-EF7F-41B9-9CB4-2DA231BA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39</a:t>
            </a:r>
          </a:p>
        </p:txBody>
      </p:sp>
    </p:spTree>
    <p:extLst>
      <p:ext uri="{BB962C8B-B14F-4D97-AF65-F5344CB8AC3E}">
        <p14:creationId xmlns:p14="http://schemas.microsoft.com/office/powerpoint/2010/main" val="249859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2026-05-24T12:47:48.6470000Z</dcterms:created>
  <dcterms:modified xsi:type="dcterms:W3CDTF">2026-05-24T12:47:48.6470000Z</dcterms:modified>
</coreProperties>
</file>