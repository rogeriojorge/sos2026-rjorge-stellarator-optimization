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99730db41434969" /><Relationship Type="http://schemas.openxmlformats.org/officeDocument/2006/relationships/extended-properties" Target="/docProps/app.xml" Id="R271293af0862446e" /><Relationship Type="http://schemas.openxmlformats.org/officeDocument/2006/relationships/officeDocument" Target="/ppt/presentation.xml" Id="R7955fd8b5d1b40c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1172f4ad512474b"/>
  </p:sldMasterIdLst>
  <p:notesMasterIdLst>
    <p:notesMasterId xmlns:r="http://schemas.openxmlformats.org/officeDocument/2006/relationships" r:id="Rcf5cc6bdd0064fbe"/>
  </p:notesMasterIdLst>
  <p:sldIdLst>
    <p:sldId xmlns:r="http://schemas.openxmlformats.org/officeDocument/2006/relationships" id="256" r:id="Rcad88073cf8a4ef4"/>
    <p:sldId xmlns:r="http://schemas.openxmlformats.org/officeDocument/2006/relationships" id="257" r:id="Rd044df5500914a16"/>
    <p:sldId xmlns:r="http://schemas.openxmlformats.org/officeDocument/2006/relationships" id="258" r:id="R1acbc28c34294a9f"/>
    <p:sldId xmlns:r="http://schemas.openxmlformats.org/officeDocument/2006/relationships" id="259" r:id="R75624dd4e0474a66"/>
    <p:sldId xmlns:r="http://schemas.openxmlformats.org/officeDocument/2006/relationships" id="260" r:id="R509df8c623eb4e05"/>
    <p:sldId xmlns:r="http://schemas.openxmlformats.org/officeDocument/2006/relationships" id="261" r:id="R842a620faabe4b2f"/>
    <p:sldId xmlns:r="http://schemas.openxmlformats.org/officeDocument/2006/relationships" id="262" r:id="Ra3141a4213f84619"/>
    <p:sldId xmlns:r="http://schemas.openxmlformats.org/officeDocument/2006/relationships" id="263" r:id="R32b5a52ca16440d7"/>
    <p:sldId xmlns:r="http://schemas.openxmlformats.org/officeDocument/2006/relationships" id="264" r:id="Rac7978de7ba54475"/>
    <p:sldId xmlns:r="http://schemas.openxmlformats.org/officeDocument/2006/relationships" id="265" r:id="Rafc18170f4dd4970"/>
    <p:sldId xmlns:r="http://schemas.openxmlformats.org/officeDocument/2006/relationships" id="266" r:id="Rf6379c4e4f6c4ff6"/>
    <p:sldId xmlns:r="http://schemas.openxmlformats.org/officeDocument/2006/relationships" id="267" r:id="R50ae9b57cd854e03"/>
    <p:sldId xmlns:r="http://schemas.openxmlformats.org/officeDocument/2006/relationships" id="268" r:id="R36a7decda74742bd"/>
    <p:sldId xmlns:r="http://schemas.openxmlformats.org/officeDocument/2006/relationships" id="269" r:id="R7dd63ccae85242d2"/>
    <p:sldId xmlns:r="http://schemas.openxmlformats.org/officeDocument/2006/relationships" id="270" r:id="R0d084d727a284f2e"/>
    <p:sldId xmlns:r="http://schemas.openxmlformats.org/officeDocument/2006/relationships" id="271" r:id="R62768ce17e284624"/>
    <p:sldId xmlns:r="http://schemas.openxmlformats.org/officeDocument/2006/relationships" id="272" r:id="Re2d341b7e55f45c6"/>
    <p:sldId xmlns:r="http://schemas.openxmlformats.org/officeDocument/2006/relationships" id="273" r:id="R42a5dca1c3194b47"/>
    <p:sldId xmlns:r="http://schemas.openxmlformats.org/officeDocument/2006/relationships" id="274" r:id="Rf7a6db67ed0e4940"/>
    <p:sldId xmlns:r="http://schemas.openxmlformats.org/officeDocument/2006/relationships" id="275" r:id="R53f02ded4558448d"/>
    <p:sldId xmlns:r="http://schemas.openxmlformats.org/officeDocument/2006/relationships" id="276" r:id="Rfecbfa9c82de4ef1"/>
    <p:sldId xmlns:r="http://schemas.openxmlformats.org/officeDocument/2006/relationships" id="277" r:id="Rc76e5db477fd4114"/>
    <p:sldId xmlns:r="http://schemas.openxmlformats.org/officeDocument/2006/relationships" id="278" r:id="Rb0b65d20ae774ab7"/>
    <p:sldId xmlns:r="http://schemas.openxmlformats.org/officeDocument/2006/relationships" id="279" r:id="R42f82420417044f6"/>
    <p:sldId xmlns:r="http://schemas.openxmlformats.org/officeDocument/2006/relationships" id="280" r:id="Rddc8db00d468489c"/>
    <p:sldId xmlns:r="http://schemas.openxmlformats.org/officeDocument/2006/relationships" id="281" r:id="Rfb1b2ee0e3394245"/>
    <p:sldId xmlns:r="http://schemas.openxmlformats.org/officeDocument/2006/relationships" id="282" r:id="Rae4d028298cd4ca4"/>
    <p:sldId xmlns:r="http://schemas.openxmlformats.org/officeDocument/2006/relationships" id="283" r:id="R884bcbf69c944b6f"/>
    <p:sldId xmlns:r="http://schemas.openxmlformats.org/officeDocument/2006/relationships" id="284" r:id="R33092f5289f84473"/>
    <p:sldId xmlns:r="http://schemas.openxmlformats.org/officeDocument/2006/relationships" id="285" r:id="R4c906cd7c6ed4465"/>
    <p:sldId xmlns:r="http://schemas.openxmlformats.org/officeDocument/2006/relationships" id="286" r:id="R07fa68d81d2d4a6b"/>
    <p:sldId xmlns:r="http://schemas.openxmlformats.org/officeDocument/2006/relationships" id="287" r:id="R51eb020045284c48"/>
    <p:sldId xmlns:r="http://schemas.openxmlformats.org/officeDocument/2006/relationships" id="288" r:id="R35fcd0b733064c8b"/>
    <p:sldId xmlns:r="http://schemas.openxmlformats.org/officeDocument/2006/relationships" id="289" r:id="R6d1dc08028ba4193"/>
    <p:sldId xmlns:r="http://schemas.openxmlformats.org/officeDocument/2006/relationships" id="290" r:id="Rf6e40bb414f34df8"/>
    <p:sldId xmlns:r="http://schemas.openxmlformats.org/officeDocument/2006/relationships" id="291" r:id="R331219d550f24141"/>
    <p:sldId xmlns:r="http://schemas.openxmlformats.org/officeDocument/2006/relationships" id="292" r:id="Reb8fc745269b45e8"/>
    <p:sldId xmlns:r="http://schemas.openxmlformats.org/officeDocument/2006/relationships" id="293" r:id="Rd8701811f9014dcf"/>
    <p:sldId xmlns:r="http://schemas.openxmlformats.org/officeDocument/2006/relationships" id="294" r:id="R71d0dcdd12ee4df4"/>
    <p:sldId xmlns:r="http://schemas.openxmlformats.org/officeDocument/2006/relationships" id="295" r:id="R73e2f423512d4716"/>
    <p:sldId xmlns:r="http://schemas.openxmlformats.org/officeDocument/2006/relationships" id="296" r:id="R4ca4774e6aab4a3f"/>
    <p:sldId xmlns:r="http://schemas.openxmlformats.org/officeDocument/2006/relationships" id="297" r:id="R72d5c06f93fa4483"/>
    <p:sldId xmlns:r="http://schemas.openxmlformats.org/officeDocument/2006/relationships" id="298" r:id="R0216413a2c694b3e"/>
    <p:sldId xmlns:r="http://schemas.openxmlformats.org/officeDocument/2006/relationships" id="299" r:id="Ra64e5b839fd44807"/>
    <p:sldId xmlns:r="http://schemas.openxmlformats.org/officeDocument/2006/relationships" id="300" r:id="Rf2590494a57c47ec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1172f4ad512474b" /><Relationship Type="http://schemas.openxmlformats.org/officeDocument/2006/relationships/theme" Target="/ppt/theme/theme1.xml" Id="Rb6bbe91afdfa457c" /><Relationship Type="http://schemas.openxmlformats.org/officeDocument/2006/relationships/notesMaster" Target="/ppt/notesMasters/notesMaster1.xml" Id="Rcf5cc6bdd0064fbe" /><Relationship Type="http://schemas.openxmlformats.org/officeDocument/2006/relationships/presProps" Target="/ppt/presProps.xml" Id="R345214e176614db3" /><Relationship Type="http://schemas.openxmlformats.org/officeDocument/2006/relationships/viewProps" Target="/ppt/viewProps.xml" Id="R7ac9d5e592544732" /><Relationship Type="http://schemas.openxmlformats.org/officeDocument/2006/relationships/tableStyles" Target="/ppt/tableStyles.xml" Id="R650a19fd0ff04976" /><Relationship Type="http://schemas.openxmlformats.org/officeDocument/2006/relationships/slide" Target="/ppt/slides/slide1.xml" Id="Rcad88073cf8a4ef4" /><Relationship Type="http://schemas.openxmlformats.org/officeDocument/2006/relationships/slide" Target="/ppt/slides/slide2.xml" Id="Rd044df5500914a16" /><Relationship Type="http://schemas.openxmlformats.org/officeDocument/2006/relationships/slide" Target="/ppt/slides/slide3.xml" Id="R1acbc28c34294a9f" /><Relationship Type="http://schemas.openxmlformats.org/officeDocument/2006/relationships/slide" Target="/ppt/slides/slide4.xml" Id="R75624dd4e0474a66" /><Relationship Type="http://schemas.openxmlformats.org/officeDocument/2006/relationships/slide" Target="/ppt/slides/slide5.xml" Id="R509df8c623eb4e05" /><Relationship Type="http://schemas.openxmlformats.org/officeDocument/2006/relationships/slide" Target="/ppt/slides/slide6.xml" Id="R842a620faabe4b2f" /><Relationship Type="http://schemas.openxmlformats.org/officeDocument/2006/relationships/slide" Target="/ppt/slides/slide7.xml" Id="Ra3141a4213f84619" /><Relationship Type="http://schemas.openxmlformats.org/officeDocument/2006/relationships/slide" Target="/ppt/slides/slide8.xml" Id="R32b5a52ca16440d7" /><Relationship Type="http://schemas.openxmlformats.org/officeDocument/2006/relationships/slide" Target="/ppt/slides/slide9.xml" Id="Rac7978de7ba54475" /><Relationship Type="http://schemas.openxmlformats.org/officeDocument/2006/relationships/slide" Target="/ppt/slides/slide10.xml" Id="Rafc18170f4dd4970" /><Relationship Type="http://schemas.openxmlformats.org/officeDocument/2006/relationships/slide" Target="/ppt/slides/slide11.xml" Id="Rf6379c4e4f6c4ff6" /><Relationship Type="http://schemas.openxmlformats.org/officeDocument/2006/relationships/slide" Target="/ppt/slides/slide12.xml" Id="R50ae9b57cd854e03" /><Relationship Type="http://schemas.openxmlformats.org/officeDocument/2006/relationships/slide" Target="/ppt/slides/slide13.xml" Id="R36a7decda74742bd" /><Relationship Type="http://schemas.openxmlformats.org/officeDocument/2006/relationships/slide" Target="/ppt/slides/slide14.xml" Id="R7dd63ccae85242d2" /><Relationship Type="http://schemas.openxmlformats.org/officeDocument/2006/relationships/slide" Target="/ppt/slides/slide15.xml" Id="R0d084d727a284f2e" /><Relationship Type="http://schemas.openxmlformats.org/officeDocument/2006/relationships/slide" Target="/ppt/slides/slide16.xml" Id="R62768ce17e284624" /><Relationship Type="http://schemas.openxmlformats.org/officeDocument/2006/relationships/slide" Target="/ppt/slides/slide17.xml" Id="Re2d341b7e55f45c6" /><Relationship Type="http://schemas.openxmlformats.org/officeDocument/2006/relationships/slide" Target="/ppt/slides/slide18.xml" Id="R42a5dca1c3194b47" /><Relationship Type="http://schemas.openxmlformats.org/officeDocument/2006/relationships/slide" Target="/ppt/slides/slide19.xml" Id="Rf7a6db67ed0e4940" /><Relationship Type="http://schemas.openxmlformats.org/officeDocument/2006/relationships/slide" Target="/ppt/slides/slide20.xml" Id="R53f02ded4558448d" /><Relationship Type="http://schemas.openxmlformats.org/officeDocument/2006/relationships/slide" Target="/ppt/slides/slide21.xml" Id="Rfecbfa9c82de4ef1" /><Relationship Type="http://schemas.openxmlformats.org/officeDocument/2006/relationships/slide" Target="/ppt/slides/slide22.xml" Id="Rc76e5db477fd4114" /><Relationship Type="http://schemas.openxmlformats.org/officeDocument/2006/relationships/slide" Target="/ppt/slides/slide23.xml" Id="Rb0b65d20ae774ab7" /><Relationship Type="http://schemas.openxmlformats.org/officeDocument/2006/relationships/slide" Target="/ppt/slides/slide24.xml" Id="R42f82420417044f6" /><Relationship Type="http://schemas.openxmlformats.org/officeDocument/2006/relationships/slide" Target="/ppt/slides/slide25.xml" Id="Rddc8db00d468489c" /><Relationship Type="http://schemas.openxmlformats.org/officeDocument/2006/relationships/slide" Target="/ppt/slides/slide26.xml" Id="Rfb1b2ee0e3394245" /><Relationship Type="http://schemas.openxmlformats.org/officeDocument/2006/relationships/slide" Target="/ppt/slides/slide27.xml" Id="Rae4d028298cd4ca4" /><Relationship Type="http://schemas.openxmlformats.org/officeDocument/2006/relationships/slide" Target="/ppt/slides/slide28.xml" Id="R884bcbf69c944b6f" /><Relationship Type="http://schemas.openxmlformats.org/officeDocument/2006/relationships/slide" Target="/ppt/slides/slide29.xml" Id="R33092f5289f84473" /><Relationship Type="http://schemas.openxmlformats.org/officeDocument/2006/relationships/slide" Target="/ppt/slides/slide30.xml" Id="R4c906cd7c6ed4465" /><Relationship Type="http://schemas.openxmlformats.org/officeDocument/2006/relationships/slide" Target="/ppt/slides/slide31.xml" Id="R07fa68d81d2d4a6b" /><Relationship Type="http://schemas.openxmlformats.org/officeDocument/2006/relationships/slide" Target="/ppt/slides/slide32.xml" Id="R51eb020045284c48" /><Relationship Type="http://schemas.openxmlformats.org/officeDocument/2006/relationships/slide" Target="/ppt/slides/slide33.xml" Id="R35fcd0b733064c8b" /><Relationship Type="http://schemas.openxmlformats.org/officeDocument/2006/relationships/slide" Target="/ppt/slides/slide34.xml" Id="R6d1dc08028ba4193" /><Relationship Type="http://schemas.openxmlformats.org/officeDocument/2006/relationships/slide" Target="/ppt/slides/slide35.xml" Id="Rf6e40bb414f34df8" /><Relationship Type="http://schemas.openxmlformats.org/officeDocument/2006/relationships/slide" Target="/ppt/slides/slide36.xml" Id="R331219d550f24141" /><Relationship Type="http://schemas.openxmlformats.org/officeDocument/2006/relationships/slide" Target="/ppt/slides/slide37.xml" Id="Reb8fc745269b45e8" /><Relationship Type="http://schemas.openxmlformats.org/officeDocument/2006/relationships/slide" Target="/ppt/slides/slide38.xml" Id="Rd8701811f9014dcf" /><Relationship Type="http://schemas.openxmlformats.org/officeDocument/2006/relationships/slide" Target="/ppt/slides/slide39.xml" Id="R71d0dcdd12ee4df4" /><Relationship Type="http://schemas.openxmlformats.org/officeDocument/2006/relationships/slide" Target="/ppt/slides/slide40.xml" Id="R73e2f423512d4716" /><Relationship Type="http://schemas.openxmlformats.org/officeDocument/2006/relationships/slide" Target="/ppt/slides/slide41.xml" Id="R4ca4774e6aab4a3f" /><Relationship Type="http://schemas.openxmlformats.org/officeDocument/2006/relationships/slide" Target="/ppt/slides/slide42.xml" Id="R72d5c06f93fa4483" /><Relationship Type="http://schemas.openxmlformats.org/officeDocument/2006/relationships/slide" Target="/ppt/slides/slide43.xml" Id="R0216413a2c694b3e" /><Relationship Type="http://schemas.openxmlformats.org/officeDocument/2006/relationships/slide" Target="/ppt/slides/slide44.xml" Id="Ra64e5b839fd44807" /><Relationship Type="http://schemas.openxmlformats.org/officeDocument/2006/relationships/slide" Target="/ppt/slides/slide45.xml" Id="Rf2590494a57c47e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2a678d6e669d4e7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a87c01ededa49f4" /><Relationship Type="http://schemas.openxmlformats.org/officeDocument/2006/relationships/notesMaster" Target="/ppt/notesMasters/notesMaster1.xml" Id="R7a806048db55498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c563e0d79e8442f" /><Relationship Type="http://schemas.openxmlformats.org/officeDocument/2006/relationships/notesMaster" Target="/ppt/notesMasters/notesMaster1.xml" Id="Rf9acbd26bd85441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646126f561340ac" /><Relationship Type="http://schemas.openxmlformats.org/officeDocument/2006/relationships/notesMaster" Target="/ppt/notesMasters/notesMaster1.xml" Id="R50522c1fe5a9433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01d504a6c4c4438" /><Relationship Type="http://schemas.openxmlformats.org/officeDocument/2006/relationships/notesMaster" Target="/ppt/notesMasters/notesMaster1.xml" Id="R5a4088afadaa465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cf1ee2e4ce94fce" /><Relationship Type="http://schemas.openxmlformats.org/officeDocument/2006/relationships/notesMaster" Target="/ppt/notesMasters/notesMaster1.xml" Id="R1d8518df926d41d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907334fbefc4f71" /><Relationship Type="http://schemas.openxmlformats.org/officeDocument/2006/relationships/notesMaster" Target="/ppt/notesMasters/notesMaster1.xml" Id="R26b921d3d2c2476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8a035bcbdf6455c" /><Relationship Type="http://schemas.openxmlformats.org/officeDocument/2006/relationships/notesMaster" Target="/ppt/notesMasters/notesMaster1.xml" Id="R86ab86d571854c5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2cbef10f5574052" /><Relationship Type="http://schemas.openxmlformats.org/officeDocument/2006/relationships/notesMaster" Target="/ppt/notesMasters/notesMaster1.xml" Id="R4c238a79b000473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7179a2853114e20" /><Relationship Type="http://schemas.openxmlformats.org/officeDocument/2006/relationships/notesMaster" Target="/ppt/notesMasters/notesMaster1.xml" Id="R3bbf95c5d8764a6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82ae4ef5ad84f9c" /><Relationship Type="http://schemas.openxmlformats.org/officeDocument/2006/relationships/notesMaster" Target="/ppt/notesMasters/notesMaster1.xml" Id="Re553e3388d804fa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972d61543664846" /><Relationship Type="http://schemas.openxmlformats.org/officeDocument/2006/relationships/notesMaster" Target="/ppt/notesMasters/notesMaster1.xml" Id="Re587ab89628f438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d2a5bfef30f4486" /><Relationship Type="http://schemas.openxmlformats.org/officeDocument/2006/relationships/notesMaster" Target="/ppt/notesMasters/notesMaster1.xml" Id="Rbb6ffd30edd14cbe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c620b66e954540b2" /><Relationship Type="http://schemas.openxmlformats.org/officeDocument/2006/relationships/notesMaster" Target="/ppt/notesMasters/notesMaster1.xml" Id="R82b5d95825224746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608f5c50ce1e4497" /><Relationship Type="http://schemas.openxmlformats.org/officeDocument/2006/relationships/notesMaster" Target="/ppt/notesMasters/notesMaster1.xml" Id="Rb42de5f253b240e4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e44043e062ce47fd" /><Relationship Type="http://schemas.openxmlformats.org/officeDocument/2006/relationships/notesMaster" Target="/ppt/notesMasters/notesMaster1.xml" Id="R0222e38730a14e27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8556a4db22744c9f" /><Relationship Type="http://schemas.openxmlformats.org/officeDocument/2006/relationships/notesMaster" Target="/ppt/notesMasters/notesMaster1.xml" Id="Rfa3ab56539e84b19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ad1f88bab2754fc7" /><Relationship Type="http://schemas.openxmlformats.org/officeDocument/2006/relationships/notesMaster" Target="/ppt/notesMasters/notesMaster1.xml" Id="Rbb1919aa64da495f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475c8fd3632d42e7" /><Relationship Type="http://schemas.openxmlformats.org/officeDocument/2006/relationships/notesMaster" Target="/ppt/notesMasters/notesMaster1.xml" Id="R56d352f87680402e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5eaf9a1752654b13" /><Relationship Type="http://schemas.openxmlformats.org/officeDocument/2006/relationships/notesMaster" Target="/ppt/notesMasters/notesMaster1.xml" Id="R7f2370d76c614e42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d89733d68ac04d2c" /><Relationship Type="http://schemas.openxmlformats.org/officeDocument/2006/relationships/notesMaster" Target="/ppt/notesMasters/notesMaster1.xml" Id="R86c9989464b04b2f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02a12c3450b74dd6" /><Relationship Type="http://schemas.openxmlformats.org/officeDocument/2006/relationships/notesMaster" Target="/ppt/notesMasters/notesMaster1.xml" Id="Rc6f09ca5f8834092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b5d60de8ec714e91" /><Relationship Type="http://schemas.openxmlformats.org/officeDocument/2006/relationships/notesMaster" Target="/ppt/notesMasters/notesMaster1.xml" Id="Rf17bc6d9632c4788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66995b2276504567" /><Relationship Type="http://schemas.openxmlformats.org/officeDocument/2006/relationships/notesMaster" Target="/ppt/notesMasters/notesMaster1.xml" Id="R038bd30defcf4812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fd7ab94e3d2c416b" /><Relationship Type="http://schemas.openxmlformats.org/officeDocument/2006/relationships/notesMaster" Target="/ppt/notesMasters/notesMaster1.xml" Id="Rb4138a1e2b834cb1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353839e11b5d4a44" /><Relationship Type="http://schemas.openxmlformats.org/officeDocument/2006/relationships/notesMaster" Target="/ppt/notesMasters/notesMaster1.xml" Id="R4c45d48f486f4054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f4ad2f8c9f504c21" /><Relationship Type="http://schemas.openxmlformats.org/officeDocument/2006/relationships/notesMaster" Target="/ppt/notesMasters/notesMaster1.xml" Id="R1bfb4b0189ce475f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37cf659b99c040d1" /><Relationship Type="http://schemas.openxmlformats.org/officeDocument/2006/relationships/notesMaster" Target="/ppt/notesMasters/notesMaster1.xml" Id="Rf01d308391ec4458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1c9f5162f9384a26" /><Relationship Type="http://schemas.openxmlformats.org/officeDocument/2006/relationships/notesMaster" Target="/ppt/notesMasters/notesMaster1.xml" Id="Rb59f3401d0514ffa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93e66c5cf37f4d24" /><Relationship Type="http://schemas.openxmlformats.org/officeDocument/2006/relationships/notesMaster" Target="/ppt/notesMasters/notesMaster1.xml" Id="R7822b302a4fe42c9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46abba13d4954b1f" /><Relationship Type="http://schemas.openxmlformats.org/officeDocument/2006/relationships/notesMaster" Target="/ppt/notesMasters/notesMaster1.xml" Id="Rca49f0f164e24ca8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0400229780d94c67" /><Relationship Type="http://schemas.openxmlformats.org/officeDocument/2006/relationships/notesMaster" Target="/ppt/notesMasters/notesMaster1.xml" Id="Rb5202a5158e144c6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ce214e31a0df48b5" /><Relationship Type="http://schemas.openxmlformats.org/officeDocument/2006/relationships/notesMaster" Target="/ppt/notesMasters/notesMaster1.xml" Id="R316528b062664cfb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54a011e1c63b4db6" /><Relationship Type="http://schemas.openxmlformats.org/officeDocument/2006/relationships/notesMaster" Target="/ppt/notesMasters/notesMaster1.xml" Id="R413e396234f94623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4f1286a8825546b0" /><Relationship Type="http://schemas.openxmlformats.org/officeDocument/2006/relationships/notesMaster" Target="/ppt/notesMasters/notesMaster1.xml" Id="R16a199f644eb48ab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1dd193be6d6f4f2b" /><Relationship Type="http://schemas.openxmlformats.org/officeDocument/2006/relationships/notesMaster" Target="/ppt/notesMasters/notesMaster1.xml" Id="Rec6646cad5ce4fa2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361496c140a84cea" /><Relationship Type="http://schemas.openxmlformats.org/officeDocument/2006/relationships/notesMaster" Target="/ppt/notesMasters/notesMaster1.xml" Id="R322d2f04c90d4d25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c0b1ec48c5d0446d" /><Relationship Type="http://schemas.openxmlformats.org/officeDocument/2006/relationships/notesMaster" Target="/ppt/notesMasters/notesMaster1.xml" Id="Rc4441e63a9df4c7b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e02186dd03ae4b5c" /><Relationship Type="http://schemas.openxmlformats.org/officeDocument/2006/relationships/notesMaster" Target="/ppt/notesMasters/notesMaster1.xml" Id="R5931033d56aa41d3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a9877c123c354664" /><Relationship Type="http://schemas.openxmlformats.org/officeDocument/2006/relationships/notesMaster" Target="/ppt/notesMasters/notesMaster1.xml" Id="R537bce5c1e644523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7aa5d604bd0d486a" /><Relationship Type="http://schemas.openxmlformats.org/officeDocument/2006/relationships/notesMaster" Target="/ppt/notesMasters/notesMaster1.xml" Id="R87dd079b449b4392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cf0f68eff2c54b87" /><Relationship Type="http://schemas.openxmlformats.org/officeDocument/2006/relationships/notesMaster" Target="/ppt/notesMasters/notesMaster1.xml" Id="R12a4535e67bc433d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dedc38946f8d47a7" /><Relationship Type="http://schemas.openxmlformats.org/officeDocument/2006/relationships/notesMaster" Target="/ppt/notesMasters/notesMaster1.xml" Id="Re2d7d3be80ee44b6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f019811f4ad64e30" /><Relationship Type="http://schemas.openxmlformats.org/officeDocument/2006/relationships/notesMaster" Target="/ppt/notesMasters/notesMaster1.xml" Id="R641280de12224685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b5313fd42edd48af" /><Relationship Type="http://schemas.openxmlformats.org/officeDocument/2006/relationships/notesMaster" Target="/ppt/notesMasters/notesMaster1.xml" Id="Rdf08feaf6021427a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141346fd25f14527" /><Relationship Type="http://schemas.openxmlformats.org/officeDocument/2006/relationships/notesMaster" Target="/ppt/notesMasters/notesMaster1.xml" Id="R638c3a14160e4b1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b8d7a86f7034f65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de925e2177334877" /><Relationship Type="http://schemas.openxmlformats.org/officeDocument/2006/relationships/slideLayout" Target="/ppt/slideLayouts/slideLayout2.xml" Id="R1fda5bf74706497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fda5bf74706497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469acb248914b2e" /><Relationship Type="http://schemas.openxmlformats.org/officeDocument/2006/relationships/image" Target="/ppt/media/image.png" Id="R5da0297c0d8c4c72" /><Relationship Type="http://schemas.openxmlformats.org/officeDocument/2006/relationships/image" Target="/ppt/media/image2.png" Id="R7d305ae26fd94312" /><Relationship Type="http://schemas.openxmlformats.org/officeDocument/2006/relationships/notesSlide" Target="/ppt/notesSlides/notesSlide1.xml" Id="Rb00ad3e6fe4b433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563016d5e224f20" /><Relationship Type="http://schemas.openxmlformats.org/officeDocument/2006/relationships/image" Target="/ppt/media/image3.png" Id="R231e7dbfd6ad460f" /><Relationship Type="http://schemas.openxmlformats.org/officeDocument/2006/relationships/notesSlide" Target="/ppt/notesSlides/notesSlide2.xml" Id="Reca722976809471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e7be217f79842a8" /><Relationship Type="http://schemas.openxmlformats.org/officeDocument/2006/relationships/image" Target="/ppt/media/image4.png" Id="R6b26c9e1093c4c85" /><Relationship Type="http://schemas.openxmlformats.org/officeDocument/2006/relationships/notesSlide" Target="/ppt/notesSlides/notesSlide3.xml" Id="R622b5d0e351d434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c8ffb3eee0340cd" /><Relationship Type="http://schemas.openxmlformats.org/officeDocument/2006/relationships/image" Target="/ppt/media/image5.png" Id="Rc7c7bf1d41214a4d" /><Relationship Type="http://schemas.openxmlformats.org/officeDocument/2006/relationships/notesSlide" Target="/ppt/notesSlides/notesSlide4.xml" Id="R6bb339c3cb32427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e2361e483204842" /><Relationship Type="http://schemas.openxmlformats.org/officeDocument/2006/relationships/image" Target="/ppt/media/image6.png" Id="Ra7da216b85764b3d" /><Relationship Type="http://schemas.openxmlformats.org/officeDocument/2006/relationships/notesSlide" Target="/ppt/notesSlides/notesSlide5.xml" Id="Rb1cb9841172e4ea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b9c7e2602544098" /><Relationship Type="http://schemas.openxmlformats.org/officeDocument/2006/relationships/image" Target="/ppt/media/image7.png" Id="Rdffa87efc92746f2" /><Relationship Type="http://schemas.openxmlformats.org/officeDocument/2006/relationships/notesSlide" Target="/ppt/notesSlides/notesSlide6.xml" Id="Rd4223bf41c4e4b8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4a76d248fd047d4" /><Relationship Type="http://schemas.openxmlformats.org/officeDocument/2006/relationships/image" Target="/ppt/media/image8.png" Id="R2fd0c17f947c4a1e" /><Relationship Type="http://schemas.openxmlformats.org/officeDocument/2006/relationships/notesSlide" Target="/ppt/notesSlides/notesSlide7.xml" Id="Recf3cd3d9cf3423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5d4989b8248478f" /><Relationship Type="http://schemas.openxmlformats.org/officeDocument/2006/relationships/image" Target="/ppt/media/image9.png" Id="R2a4a4ff883d04d70" /><Relationship Type="http://schemas.openxmlformats.org/officeDocument/2006/relationships/notesSlide" Target="/ppt/notesSlides/notesSlide8.xml" Id="R5f2e53c388dd45a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41fa095f83f469a" /><Relationship Type="http://schemas.openxmlformats.org/officeDocument/2006/relationships/image" Target="/ppt/media/image10.png" Id="R478aa35a10f64798" /><Relationship Type="http://schemas.openxmlformats.org/officeDocument/2006/relationships/notesSlide" Target="/ppt/notesSlides/notesSlide9.xml" Id="Rd1a4a6d627cf424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28a2f2d78874d96" /><Relationship Type="http://schemas.openxmlformats.org/officeDocument/2006/relationships/image" Target="/ppt/media/image11.png" Id="R6483df0a60a6469f" /><Relationship Type="http://schemas.openxmlformats.org/officeDocument/2006/relationships/image" Target="/ppt/media/image12.png" Id="R533986399dde4ddb" /><Relationship Type="http://schemas.openxmlformats.org/officeDocument/2006/relationships/notesSlide" Target="/ppt/notesSlides/notesSlide10.xml" Id="Rb1d692bcee3f483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9a3376bc9eb4e33" /><Relationship Type="http://schemas.openxmlformats.org/officeDocument/2006/relationships/image" Target="/ppt/media/image13.png" Id="R729ed95b270949f5" /><Relationship Type="http://schemas.openxmlformats.org/officeDocument/2006/relationships/image" Target="/ppt/media/image14.png" Id="Rb75fb80dab02442a" /><Relationship Type="http://schemas.openxmlformats.org/officeDocument/2006/relationships/notesSlide" Target="/ppt/notesSlides/notesSlide11.xml" Id="R92e6a6b17f374d0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9dd068dd3b541dd" /><Relationship Type="http://schemas.openxmlformats.org/officeDocument/2006/relationships/image" Target="/ppt/media/image15.png" Id="R646060fa03e74dd7" /><Relationship Type="http://schemas.openxmlformats.org/officeDocument/2006/relationships/image" Target="/ppt/media/image16.png" Id="Rfac881615a274289" /><Relationship Type="http://schemas.openxmlformats.org/officeDocument/2006/relationships/notesSlide" Target="/ppt/notesSlides/notesSlide12.xml" Id="Rf68118af81114172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9c43cccc0704200" /><Relationship Type="http://schemas.openxmlformats.org/officeDocument/2006/relationships/image" Target="/ppt/media/image17.png" Id="R0374709050b340cd" /><Relationship Type="http://schemas.openxmlformats.org/officeDocument/2006/relationships/image" Target="/ppt/media/image18.png" Id="Re73ee3920b484f2d" /><Relationship Type="http://schemas.openxmlformats.org/officeDocument/2006/relationships/notesSlide" Target="/ppt/notesSlides/notesSlide13.xml" Id="R1a7b05d1de154bad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2a115b2ee4a43bf" /><Relationship Type="http://schemas.openxmlformats.org/officeDocument/2006/relationships/image" Target="/ppt/media/image19.png" Id="Rce9a8735606b4b0c" /><Relationship Type="http://schemas.openxmlformats.org/officeDocument/2006/relationships/notesSlide" Target="/ppt/notesSlides/notesSlide14.xml" Id="R322bfa660c4041e5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85b9b04098040c7" /><Relationship Type="http://schemas.openxmlformats.org/officeDocument/2006/relationships/image" Target="/ppt/media/image20.png" Id="R3689835fa51f4f1e" /><Relationship Type="http://schemas.openxmlformats.org/officeDocument/2006/relationships/notesSlide" Target="/ppt/notesSlides/notesSlide15.xml" Id="R749021abbb824c23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67dab6631e24139" /><Relationship Type="http://schemas.openxmlformats.org/officeDocument/2006/relationships/image" Target="/ppt/media/image21.png" Id="Re7998bca1c524406" /><Relationship Type="http://schemas.openxmlformats.org/officeDocument/2006/relationships/notesSlide" Target="/ppt/notesSlides/notesSlide16.xml" Id="R78829c902b7c45cc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fe1150d69384a57" /><Relationship Type="http://schemas.openxmlformats.org/officeDocument/2006/relationships/image" Target="/ppt/media/image22.png" Id="R630a2e33200d46e8" /><Relationship Type="http://schemas.openxmlformats.org/officeDocument/2006/relationships/notesSlide" Target="/ppt/notesSlides/notesSlide17.xml" Id="R781508f2071641fd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6973d79a94c487e" /><Relationship Type="http://schemas.openxmlformats.org/officeDocument/2006/relationships/image" Target="/ppt/media/image23.png" Id="R302d27434edf4a8b" /><Relationship Type="http://schemas.openxmlformats.org/officeDocument/2006/relationships/notesSlide" Target="/ppt/notesSlides/notesSlide18.xml" Id="R0a67afccd79a43a4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45e73e41dc44355" /><Relationship Type="http://schemas.openxmlformats.org/officeDocument/2006/relationships/image" Target="/ppt/media/image24.png" Id="R0ac0ec577971477c" /><Relationship Type="http://schemas.openxmlformats.org/officeDocument/2006/relationships/notesSlide" Target="/ppt/notesSlides/notesSlide19.xml" Id="Ra8a6eda810614636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6806f114ea44ff4" /><Relationship Type="http://schemas.openxmlformats.org/officeDocument/2006/relationships/image" Target="/ppt/media/image25.png" Id="R61f355f3d423453c" /><Relationship Type="http://schemas.openxmlformats.org/officeDocument/2006/relationships/image" Target="/ppt/media/image26.png" Id="Re0de350fd6c64332" /><Relationship Type="http://schemas.openxmlformats.org/officeDocument/2006/relationships/notesSlide" Target="/ppt/notesSlides/notesSlide20.xml" Id="R507b28c5ddea46a3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debc82206db4f1e" /><Relationship Type="http://schemas.openxmlformats.org/officeDocument/2006/relationships/image" Target="/ppt/media/image27.png" Id="R126af94e036c497b" /><Relationship Type="http://schemas.openxmlformats.org/officeDocument/2006/relationships/image" Target="/ppt/media/image28.png" Id="R1e66cd1b018e4a9e" /><Relationship Type="http://schemas.openxmlformats.org/officeDocument/2006/relationships/notesSlide" Target="/ppt/notesSlides/notesSlide21.xml" Id="R7dbdfffa6c6b48b7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a337b104523457a" /><Relationship Type="http://schemas.openxmlformats.org/officeDocument/2006/relationships/image" Target="/ppt/media/image29.png" Id="Ra1d2869fa5b54927" /><Relationship Type="http://schemas.openxmlformats.org/officeDocument/2006/relationships/notesSlide" Target="/ppt/notesSlides/notesSlide22.xml" Id="Rd1d34da682a743dc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e01a07547f545a5" /><Relationship Type="http://schemas.openxmlformats.org/officeDocument/2006/relationships/image" Target="/ppt/media/image30.png" Id="R33eb4ef1bdfa4520" /><Relationship Type="http://schemas.openxmlformats.org/officeDocument/2006/relationships/notesSlide" Target="/ppt/notesSlides/notesSlide23.xml" Id="R8494f99060ad45aa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c7412ef580e4592" /><Relationship Type="http://schemas.openxmlformats.org/officeDocument/2006/relationships/image" Target="/ppt/media/image31.png" Id="Rd2fe94a4d8a74a54" /><Relationship Type="http://schemas.openxmlformats.org/officeDocument/2006/relationships/notesSlide" Target="/ppt/notesSlides/notesSlide24.xml" Id="R0f7e3f03016841e3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d652ba090184b0e" /><Relationship Type="http://schemas.openxmlformats.org/officeDocument/2006/relationships/image" Target="/ppt/media/image32.png" Id="R1fff96b492b64373" /><Relationship Type="http://schemas.openxmlformats.org/officeDocument/2006/relationships/notesSlide" Target="/ppt/notesSlides/notesSlide25.xml" Id="R09f4046e192549de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b88bd0f823b41ca" /><Relationship Type="http://schemas.openxmlformats.org/officeDocument/2006/relationships/image" Target="/ppt/media/image33.png" Id="Rda8406a1ee034eaa" /><Relationship Type="http://schemas.openxmlformats.org/officeDocument/2006/relationships/image" Target="/ppt/media/image34.png" Id="Ra0e1f5ae496e4873" /><Relationship Type="http://schemas.openxmlformats.org/officeDocument/2006/relationships/notesSlide" Target="/ppt/notesSlides/notesSlide26.xml" Id="R633511dd0d8f43c3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d8b510f5fe249eb" /><Relationship Type="http://schemas.openxmlformats.org/officeDocument/2006/relationships/image" Target="/ppt/media/image35.png" Id="R2414000142d9418b" /><Relationship Type="http://schemas.openxmlformats.org/officeDocument/2006/relationships/image" Target="/ppt/media/image36.png" Id="Rac8a3e0a853c4cee" /><Relationship Type="http://schemas.openxmlformats.org/officeDocument/2006/relationships/notesSlide" Target="/ppt/notesSlides/notesSlide27.xml" Id="Rb65e9b95bfc34ec8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6fb575d7edc4483" /><Relationship Type="http://schemas.openxmlformats.org/officeDocument/2006/relationships/image" Target="/ppt/media/image37.png" Id="R2d0d2ec332e947f0" /><Relationship Type="http://schemas.openxmlformats.org/officeDocument/2006/relationships/notesSlide" Target="/ppt/notesSlides/notesSlide28.xml" Id="R990e938a5b4f49e8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4163ed70e1b45a3" /><Relationship Type="http://schemas.openxmlformats.org/officeDocument/2006/relationships/image" Target="/ppt/media/image38.png" Id="Re1cdd0e8c1e44a59" /><Relationship Type="http://schemas.openxmlformats.org/officeDocument/2006/relationships/notesSlide" Target="/ppt/notesSlides/notesSlide29.xml" Id="Rac673a8a2a3a4145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6936488e6464348" /><Relationship Type="http://schemas.openxmlformats.org/officeDocument/2006/relationships/image" Target="/ppt/media/image39.png" Id="R5e1a9b791e5249b1" /><Relationship Type="http://schemas.openxmlformats.org/officeDocument/2006/relationships/notesSlide" Target="/ppt/notesSlides/notesSlide30.xml" Id="Rf212b410f2a649e8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af8f753f0324cff" /><Relationship Type="http://schemas.openxmlformats.org/officeDocument/2006/relationships/image" Target="/ppt/media/image40.png" Id="Rd3aaa698c20f4578" /><Relationship Type="http://schemas.openxmlformats.org/officeDocument/2006/relationships/notesSlide" Target="/ppt/notesSlides/notesSlide31.xml" Id="R140614f7a0734a1b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3daedc958044a40" /><Relationship Type="http://schemas.openxmlformats.org/officeDocument/2006/relationships/image" Target="/ppt/media/image41.png" Id="R77c434d190d44d1e" /><Relationship Type="http://schemas.openxmlformats.org/officeDocument/2006/relationships/notesSlide" Target="/ppt/notesSlides/notesSlide32.xml" Id="Rf22f5d69743e41ac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8113746a4d84127" /><Relationship Type="http://schemas.openxmlformats.org/officeDocument/2006/relationships/image" Target="/ppt/media/image42.png" Id="R3b9083552de746ea" /><Relationship Type="http://schemas.openxmlformats.org/officeDocument/2006/relationships/notesSlide" Target="/ppt/notesSlides/notesSlide33.xml" Id="Rb94b1397f31c4f79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e32b39658d44b76" /><Relationship Type="http://schemas.openxmlformats.org/officeDocument/2006/relationships/image" Target="/ppt/media/image43.png" Id="Re45b72ffa74e43e7" /><Relationship Type="http://schemas.openxmlformats.org/officeDocument/2006/relationships/notesSlide" Target="/ppt/notesSlides/notesSlide34.xml" Id="R812c339b65f64498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62e29830ab040aa" /><Relationship Type="http://schemas.openxmlformats.org/officeDocument/2006/relationships/image" Target="/ppt/media/image44.png" Id="Re5f02d7ab505457b" /><Relationship Type="http://schemas.openxmlformats.org/officeDocument/2006/relationships/notesSlide" Target="/ppt/notesSlides/notesSlide35.xml" Id="R10c94286356c4ae3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92fae5ea5844d07" /><Relationship Type="http://schemas.openxmlformats.org/officeDocument/2006/relationships/image" Target="/ppt/media/image45.png" Id="R63b137b96ca94646" /><Relationship Type="http://schemas.openxmlformats.org/officeDocument/2006/relationships/notesSlide" Target="/ppt/notesSlides/notesSlide36.xml" Id="R2d320255c7ac40b9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ae8d61f2d654f8c" /><Relationship Type="http://schemas.openxmlformats.org/officeDocument/2006/relationships/image" Target="/ppt/media/image46.png" Id="R246ae542de784bc3" /><Relationship Type="http://schemas.openxmlformats.org/officeDocument/2006/relationships/notesSlide" Target="/ppt/notesSlides/notesSlide37.xml" Id="Rc040bd7664f44b3c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4f53c7a2fe24cb1" /><Relationship Type="http://schemas.openxmlformats.org/officeDocument/2006/relationships/image" Target="/ppt/media/image47.png" Id="R3044a7d60c5542ef" /><Relationship Type="http://schemas.openxmlformats.org/officeDocument/2006/relationships/notesSlide" Target="/ppt/notesSlides/notesSlide38.xml" Id="Rb5c43f9019544733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1d7795d6aa24022" /><Relationship Type="http://schemas.openxmlformats.org/officeDocument/2006/relationships/image" Target="/ppt/media/image48.png" Id="Re6a206f9e73148bf" /><Relationship Type="http://schemas.openxmlformats.org/officeDocument/2006/relationships/notesSlide" Target="/ppt/notesSlides/notesSlide39.xml" Id="R96fbe2814914403a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7f3b5d4d855432b" /><Relationship Type="http://schemas.openxmlformats.org/officeDocument/2006/relationships/image" Target="/ppt/media/image49.png" Id="R1b73fbf085ec4438" /><Relationship Type="http://schemas.openxmlformats.org/officeDocument/2006/relationships/notesSlide" Target="/ppt/notesSlides/notesSlide40.xml" Id="Rd4b183e3f62445fd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83f8b949c6e4c69" /><Relationship Type="http://schemas.openxmlformats.org/officeDocument/2006/relationships/image" Target="/ppt/media/image50.png" Id="Rd25928687c0541b5" /><Relationship Type="http://schemas.openxmlformats.org/officeDocument/2006/relationships/notesSlide" Target="/ppt/notesSlides/notesSlide41.xml" Id="Rc64e29b659b84325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9c763bd47984d77" /><Relationship Type="http://schemas.openxmlformats.org/officeDocument/2006/relationships/image" Target="/ppt/media/image51.png" Id="Rdf6053082d194bd3" /><Relationship Type="http://schemas.openxmlformats.org/officeDocument/2006/relationships/notesSlide" Target="/ppt/notesSlides/notesSlide42.xml" Id="Reb72b5771601425c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af1f6981ba04890" /><Relationship Type="http://schemas.openxmlformats.org/officeDocument/2006/relationships/image" Target="/ppt/media/image52.png" Id="R1942720e96e549ab" /><Relationship Type="http://schemas.openxmlformats.org/officeDocument/2006/relationships/notesSlide" Target="/ppt/notesSlides/notesSlide43.xml" Id="Rb393254cad5e4ea3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2a30d9abec54d3b" /><Relationship Type="http://schemas.openxmlformats.org/officeDocument/2006/relationships/image" Target="/ppt/media/image53.png" Id="R6737941ee2424409" /><Relationship Type="http://schemas.openxmlformats.org/officeDocument/2006/relationships/notesSlide" Target="/ppt/notesSlides/notesSlide44.xml" Id="Rb7244e6e2a314e83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43800c7c7f94031" /><Relationship Type="http://schemas.openxmlformats.org/officeDocument/2006/relationships/image" Target="/ppt/media/image54.png" Id="R6a63e50977694982" /><Relationship Type="http://schemas.openxmlformats.org/officeDocument/2006/relationships/notesSlide" Target="/ppt/notesSlides/notesSlide45.xml" Id="R4d48dae3f2504836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3E227CA-FE8D-444E-B575-37286587A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B74D17-0C40-49B1-9CC3-111682429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a0297c0d8c4c72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04F0B3-46CA-4C2F-8224-89DA4DF6E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685800"/>
            <a:ext cx="66675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7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From plasma boundary to magnetic coils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B9859EA-FEB3-49D8-9C3A-0F227E32F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51460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6B9A14-37C0-4232-BA38-13E192C73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800350"/>
            <a:ext cx="6667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Lecture 2: coils, quadratic flux, single-stage optimization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0D044B-27CB-4026-9915-BAA167CAD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9338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7D7156E-B418-4405-B288-130BC83A6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29050"/>
            <a:ext cx="5429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Stage-2 coil design translates a target field into hardware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102E675-5D2D-4585-A355-586B1CF8E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6196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1E673A3-7AE5-40A5-974C-75BE22F78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14850"/>
            <a:ext cx="5429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The central diagnostic is normal-field error together with coil complexity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28AF996-918F-46FF-B0BE-3EC7AF3DD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066800"/>
            <a:ext cx="4171950" cy="3105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305ae26fd94312"/>
          <a:stretch xmlns:a="http://schemas.openxmlformats.org/drawingml/2006/main"/>
        </p:blipFill>
        <p:spPr>
          <a:xfrm xmlns:a="http://schemas.openxmlformats.org/drawingml/2006/main">
            <a:off x="7862045" y="1257300"/>
            <a:ext cx="2582959" cy="272415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A445451-BAFD-4708-B2DB-977BAFA32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676900"/>
            <a:ext cx="1219200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6AC2BC2-A5B1-4B58-B5B7-E00D0F388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24550"/>
            <a:ext cx="542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CEA-IRFM / Renaissance Fusion School on Stellarators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B9FABF6-7FE2-4CE6-97CE-B2773BD7D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0"/>
            <a:ext cx="3619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Aix-en-Provence, 2026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F566F56-486A-4D24-8391-00FFCC85C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6038850"/>
            <a:ext cx="371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Rogerio Jorge, University of Wisconsin-Madison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BEDCA77-CE58-4C87-8CBA-368C1692C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Slide 01</a:t>
            </a:r>
          </a:p>
        </p:txBody>
      </p:sp>
    </p:spTree>
    <p:extLst>
      <p:ext uri="{BB962C8B-B14F-4D97-AF65-F5344CB8AC3E}">
        <p14:creationId xmlns:p14="http://schemas.microsoft.com/office/powerpoint/2010/main" val="1674943045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6B466AD-363F-43AF-B09C-14646F42D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676B71-FBC9-436B-8A21-7CD49553C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123950"/>
            <a:ext cx="9334500" cy="487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EBD48D-B13E-4F0A-B700-7F442FC44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123950"/>
            <a:ext cx="9334500" cy="487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000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88B073-F552-4577-BBB0-6715FAAF0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31e7dbfd6ad460f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C97E50-013D-429B-9326-8B8A8E83E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1600200"/>
            <a:ext cx="2095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Lecture 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B1ECF2C-3F76-4807-B4C0-0D6F0BBC6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2266950"/>
            <a:ext cx="78105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PART 1. Stage 1, stage 2, and single-stage design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6BAC586-C5B3-4E5E-9A35-E4A4078C2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3657600"/>
            <a:ext cx="8382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BA5E16-C3CF-4546-90F4-DB15F7481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41814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35FF045-7C0F-4C8A-A4E4-C67615C6D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4076700"/>
            <a:ext cx="6953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F8FAFC"/>
                </a:solidFill>
                <a:latin typeface="Aptos"/>
                <a:ea typeface="Aptos"/>
                <a:cs typeface="Aptos"/>
              </a:rPr>
              <a:t>Stage 1 asks which plasma boundary is attractive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42FEF11-C490-4EB6-8721-F77E7EB2D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48101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3B2A0A7-F18B-4C82-AF89-89EAC0D53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4705350"/>
            <a:ext cx="6953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F8FAFC"/>
                </a:solidFill>
                <a:latin typeface="Aptos"/>
                <a:ea typeface="Aptos"/>
                <a:cs typeface="Aptos"/>
              </a:rPr>
              <a:t>Stage 2 asks which coils can produce it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B2F7039-6C84-4A05-8586-C6214591E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54387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89CB8EE-A688-4AB3-BF48-197EB0F2F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5334000"/>
            <a:ext cx="6953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F8FAFC"/>
                </a:solidFill>
                <a:latin typeface="Aptos"/>
                <a:ea typeface="Aptos"/>
                <a:cs typeface="Aptos"/>
              </a:rPr>
              <a:t>Single-stage design changes plasma and coils together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A19C32C-60D0-4EAC-B874-67BC346DA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798DDA2-A0B2-449A-BBB6-6602EFD38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D9F7D07-D18F-47CF-B8E2-0A01E7825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4C32CA7-5775-4455-8D3A-20451A42E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02</a:t>
            </a:r>
          </a:p>
        </p:txBody>
      </p:sp>
    </p:spTree>
    <p:extLst>
      <p:ext uri="{BB962C8B-B14F-4D97-AF65-F5344CB8AC3E}">
        <p14:creationId xmlns:p14="http://schemas.microsoft.com/office/powerpoint/2010/main" val="1877922962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8FD9400-B2B3-4833-9C90-EA283CF4E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DE0062-B8C5-43DE-AE6F-B44746534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26c9e1093c4c85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E6B330-692A-42F5-A0D4-8826CC07A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What is single-stage optimization?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7D007B8-2B12-4B8D-9DF0-BB29B0253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4B0481-8CF2-482D-BDBF-4DA6B8E5F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924050"/>
            <a:ext cx="29718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79AA11-06C5-4C20-BC28-8F1D8515C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924050"/>
            <a:ext cx="29718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D37C18-9FF6-41AB-B724-F12DAFB4A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238375"/>
            <a:ext cx="2476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444444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444444"/>
                </a:solidFill>
                <a:latin typeface="Aptos Display"/>
                <a:ea typeface="Aptos Display"/>
                <a:cs typeface="Aptos Display"/>
              </a:rPr>
              <a:t>Stage 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6F22B12-9409-4E42-86FE-524241BBD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81300"/>
            <a:ext cx="2476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plasma shape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15EC372-B1C2-4CD6-A5F2-41E107EE8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1924050"/>
            <a:ext cx="29718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10C45B3-37E6-454C-B807-176B0EA5E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1924050"/>
            <a:ext cx="29718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87C833B-FB5C-4AF1-9D75-9375E597F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238375"/>
            <a:ext cx="2476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444444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444444"/>
                </a:solidFill>
                <a:latin typeface="Aptos Display"/>
                <a:ea typeface="Aptos Display"/>
                <a:cs typeface="Aptos Display"/>
              </a:rPr>
              <a:t>Stage 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FC8CCBC-22B2-4836-98A4-898676E5B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781300"/>
            <a:ext cx="2476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coil shapes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2123AE0-0BD2-4E6C-A949-3AAAD5F11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924050"/>
            <a:ext cx="29718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7A29CA4-C7EE-4E1B-AD58-4BDBEEF62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924050"/>
            <a:ext cx="29718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08DF6D8-5355-4FBC-A256-5B69E7E35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238375"/>
            <a:ext cx="2476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Single stage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0BCD56D-EE12-4BE8-A3CC-F4BFD2E11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781300"/>
            <a:ext cx="2476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expanded degrees of freedom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43CFBA3-15AB-4F25-994B-3F18B0AC8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305300"/>
            <a:ext cx="1390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6F6F6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6F6F6F"/>
                </a:solidFill>
                <a:latin typeface="Aptos Display"/>
                <a:ea typeface="Aptos Display"/>
                <a:cs typeface="Aptos Display"/>
              </a:rPr>
              <a:t>Boundary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74042EE-D29F-4C3E-8C8D-318A737C3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4305300"/>
            <a:ext cx="1390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6F6F6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6F6F6F"/>
                </a:solidFill>
                <a:latin typeface="Aptos Display"/>
                <a:ea typeface="Aptos Display"/>
                <a:cs typeface="Aptos Display"/>
              </a:rPr>
              <a:t>Derivations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A2CC6FB-974F-4AB4-894F-EA0747072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305300"/>
            <a:ext cx="1390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Design loop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DAD709F-346C-4916-A72A-3C684468D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BA042BE-4809-4907-B028-56F172FDE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1F2D9F3-EF1F-405F-B60C-216FE5607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5D1CDCB-FBE0-4A37-BFCB-6CFC43DF1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03</a:t>
            </a:r>
          </a:p>
        </p:txBody>
      </p:sp>
    </p:spTree>
    <p:extLst>
      <p:ext uri="{BB962C8B-B14F-4D97-AF65-F5344CB8AC3E}">
        <p14:creationId xmlns:p14="http://schemas.microsoft.com/office/powerpoint/2010/main" val="325215038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77D1D00-5B41-4F3E-A1E7-2D3EC9EDB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759134-AD69-4D9E-9CFA-25E81B075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c7bf1d41214a4d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BF7BB4-B24E-49A7-9C32-E1559A9D0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The coil inverse problem is ill-posed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1332A03-C7C9-4954-A1C5-37C8EF025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58ED90-D337-43CF-99E9-200A58F20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495300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122DB00-041B-4E2F-81CA-A57D6F478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4953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1060E4-F6DA-44DB-8AA2-935D485CD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F3DA47-16F1-4DD3-87FA-C584EB24E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686050"/>
            <a:ext cx="445770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Many current distributions can approximate the same field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E6D9801-F82F-4B10-9871-686EE2AA1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790700"/>
            <a:ext cx="495300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3C34021-C83E-4330-870F-B12DD1D17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790700"/>
            <a:ext cx="4953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65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3E21A4-AB51-473E-B6D1-A1456BEB2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784C742-0165-4018-8111-97AF48B66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686050"/>
            <a:ext cx="445770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Regularization selects the buildable solution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861F983-F767-4839-B99B-5E5277805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6DDC1D7-F36F-4FE4-8D01-B2E08D794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Class use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170475E-6976-4AD0-8B4C-64E642F02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Connect the concept to one objective, one plot, and one exercise.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BA485BD-CDC7-46B3-BC8C-35F2E0173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6C456EC-2387-43D9-B4F0-30F5CB35C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114B11D-7B67-4826-9B28-E9B4287B6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130527F-CE18-44D6-A525-CEE06C4DE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04</a:t>
            </a:r>
          </a:p>
        </p:txBody>
      </p:sp>
    </p:spTree>
    <p:extLst>
      <p:ext uri="{BB962C8B-B14F-4D97-AF65-F5344CB8AC3E}">
        <p14:creationId xmlns:p14="http://schemas.microsoft.com/office/powerpoint/2010/main" val="159245754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C1A420B-B8D7-4358-9A9E-18FD61589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E42923-9AAE-419A-BC27-130CAA501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da216b85764b3d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E4B7D5C-21FE-4CC3-9613-E9FE39250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Quadratic flux is the basic stage-2 score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A35D5C-9FBE-4340-B37C-D2905FD39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A91915-08BC-4C59-A428-FAD2D6976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495300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77D0BBE-48F3-4C3F-AF5F-D35AF3D24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4953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BB7CDCC-9AC8-4359-8067-0F7A988DC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5D60A4B-EC5E-4767-882B-A496A1F48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686050"/>
            <a:ext cx="445770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Measure normal-field error on the target surface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03F1D67-94B1-4838-B071-BA5E9CEB3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790700"/>
            <a:ext cx="495300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F1467EC-1316-49C0-92D3-3A02C5DF9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790700"/>
            <a:ext cx="4953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65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F9B2CB1-BB59-4BAC-9418-B24AD4330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73175A3-7529-48E1-ADCF-75176A973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686050"/>
            <a:ext cx="445770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Low B dot n means the field respects the requested boundary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512E509-0B81-41AD-8B3F-5C51CB14C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9226C0D-9834-42FD-A38A-7E9787606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Class use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8A65B72-AED0-4BFD-B081-990A17984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Connect the concept to one objective, one plot, and one exercise.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6E00344-F004-4851-834F-3C8BED4DE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039CC34-4F1C-4343-8A69-3F7EC3C5C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0D99BBF-B2F2-4A0C-9E8E-CD50BA9D2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955381C-787E-4D02-A306-CE88315DA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05</a:t>
            </a:r>
          </a:p>
        </p:txBody>
      </p:sp>
    </p:spTree>
    <p:extLst>
      <p:ext uri="{BB962C8B-B14F-4D97-AF65-F5344CB8AC3E}">
        <p14:creationId xmlns:p14="http://schemas.microsoft.com/office/powerpoint/2010/main" val="488403616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01FA26C-4326-459F-80A5-87DA8F017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161058-B517-45A0-8D6C-C72879EDC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fa87efc92746f2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097363-5F23-471E-9240-0E59851AC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Current-potential methods regularize a surface current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64362A-B2D5-4F2D-BD75-5B2C2D2E0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8A9A21C-D65F-468E-ADB7-A7D6BF156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47875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9525">
            <a:solidFill>
              <a:srgbClr val="C5050C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484F15-CCF1-4AB9-85D2-B2F28702C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71700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Equilibrium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647E280-1BF4-44B5-A663-4CEA46C9E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2286000"/>
            <a:ext cx="247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DDBBCB-B625-43B3-994D-6EEA038E5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3048000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6DBB1B6-CB2F-484F-B9EF-1CF5D46FC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1725" y="3171825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Boozer spectrum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89100F0-95E6-42F3-BB72-BDAE2FAD3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3286125"/>
            <a:ext cx="247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F2F6062-4618-471C-B82D-BF35C9DFB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047875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224BB8A-DC89-466F-8C30-E0D22D7F5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2171700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Neoclassical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EA51748-5705-4742-A048-E29E29A09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286000"/>
            <a:ext cx="247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CF958A4-A38F-4203-8990-40F23BC57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3048000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C16553E-DE41-45AC-84A7-9BD94E908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4975" y="3171825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Coils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5151C7B-A9E1-4EC1-A641-BB2C14104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4175" y="3286125"/>
            <a:ext cx="247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0908CCD-76E8-4587-BB1F-B27EDACE6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047875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071BDD9-F66B-469B-88E7-8307E93C5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171700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Turbulence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C0239DC-12A9-4A87-B1EC-363068477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286000"/>
            <a:ext cx="247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34B17C8-67FB-47E6-B05A-F2946BEC2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3048000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4E5C419-2B95-4628-89E6-B6DDD4D01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8225" y="3171825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Profiles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34B6D85-6ADB-4AF6-A4A8-C600F38EB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7425" y="3286125"/>
            <a:ext cx="247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C24E340-C4A5-46F7-BC28-B9E1615B8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2047875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E93B87D-2B61-426E-BAC1-AEA95C9AB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2171700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Pareto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9365E4D-2D76-4774-9472-C2F9B8B34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5434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34BC6E5-CE32-4BD9-B7C6-852A449AE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438650"/>
            <a:ext cx="9048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NESCOIL and REGCOIL solve for currents on a winding surface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77C412F-41B1-445B-9EFF-5D6EA56F4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1149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F5FD240-F731-4B46-BC2A-E45B1B92A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010150"/>
            <a:ext cx="9048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Regularization trades field accuracy for smoother current patterns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C1EA076-9CD6-4770-8A3D-40277284B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0D339F6-3C05-493A-A2C1-AEF6A614C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31E6BD6-EA1E-42C3-9273-0551406D9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87D6CBA-D6C2-437B-B0F7-564DBF575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06</a:t>
            </a:r>
          </a:p>
        </p:txBody>
      </p:sp>
    </p:spTree>
    <p:extLst>
      <p:ext uri="{BB962C8B-B14F-4D97-AF65-F5344CB8AC3E}">
        <p14:creationId xmlns:p14="http://schemas.microsoft.com/office/powerpoint/2010/main" val="178920594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D684DEC-E322-4311-BCA9-FE480753C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75FA7AC-606F-4387-B83D-28176E705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d0c17f947c4a1e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E9F59D-D312-4EB1-8A71-C9007E3C8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Filamentary coils convert fields into curves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516A5E7-F740-46A5-9D22-457FD7DDB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5B1D63-80A1-4F17-8478-B2B0ABB6B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495300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64AB56-F06F-457C-B90D-18442BE53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4953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5C06752-1DB8-4DE2-B612-05DE030FC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D48C91-483C-4135-A3E2-FD6DA793A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686050"/>
            <a:ext cx="445770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Curves have length, curvature, torsion, and separation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F2BB011-B5E7-422A-9768-9AB7004E0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790700"/>
            <a:ext cx="495300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225EDD6-6AA3-46D8-9AAB-A4743D6C7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790700"/>
            <a:ext cx="4953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65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8ED3DE-7BDC-4E72-B2C1-8A36F6242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79DFB3F-D67D-4410-99E2-17763AD63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686050"/>
            <a:ext cx="445770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A field target can be easy for a surface current and difficult for discrete coils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26FC47C-1D8A-48DB-9DB5-F5D787B0D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F05DAAC-52DA-4070-A42B-E38A8C857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Class use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CBC43AE-2C8A-4223-9345-391A3586D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Connect the concept to one objective, one plot, and one exercise.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81AE592-B3FA-4AD9-855B-E53140134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2F2A5F5-7EE8-403F-96B7-78AD3A8CF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64426E4-D7BE-4905-AEE1-6989268A7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64305EA-E6C2-41A8-AE4E-8E6FF0637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07</a:t>
            </a:r>
          </a:p>
        </p:txBody>
      </p:sp>
    </p:spTree>
    <p:extLst>
      <p:ext uri="{BB962C8B-B14F-4D97-AF65-F5344CB8AC3E}">
        <p14:creationId xmlns:p14="http://schemas.microsoft.com/office/powerpoint/2010/main" val="729228409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6AEAB76-1438-4D8E-8A58-306F9D7BA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88BD38-54C0-47FF-AD73-2DEEBCD7A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4a4ff883d04d70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E4C011-8744-419B-A634-3823C5A6D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SIMSOPT is the mature stage-2 teaching path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C90474-6BF3-4BF8-A2E5-DB696F86D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4A776D-C2B5-474B-996C-74747474E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33550"/>
            <a:ext cx="66675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529264-F212-4A90-A314-559A70C43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33550"/>
            <a:ext cx="6667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50961A-4A93-4D6B-AB51-5520686E2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809750"/>
            <a:ext cx="304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E5E7E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E5E7EB"/>
                </a:solidFill>
                <a:latin typeface="Aptos"/>
                <a:ea typeface="Aptos"/>
                <a:cs typeface="Aptos"/>
              </a:rPr>
              <a:t>cached-mode command surface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E488EAD-7CDA-4B3F-9FFD-9C954126F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305050"/>
            <a:ext cx="59055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scripts/run_smoke_tests.py</a:t>
            </a:r>
          </a:p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scripts/execute_all_notebooks.py</a:t>
            </a:r>
          </a:p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scripts/build_powerpoint_decks.mjs</a:t>
            </a:r>
          </a:p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scripts/check_release_ready.py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F82C4C-15E8-4DB5-BA43-B81CA2CD2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9907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B71BFDE-8C6A-4B4D-A7E0-80B27E686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885950"/>
            <a:ext cx="2571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Geometry objects, curves, Biot-Savart fields, objectives, optimization loops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8C5DB1B-6600-430F-934E-3B3947F7A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8098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2B2AC1C-75AA-4506-9CDE-83501E4E6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705100"/>
            <a:ext cx="2571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Research mode should use verified public QA input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3372887-E5D8-4C2A-8079-4278A1753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BD10D8B-21FE-4CD7-B9A3-EA9CE5299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08455BB-9E29-4702-A78B-6A05BE233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98A4608-FD31-43B1-8EA2-5AD5DD462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08</a:t>
            </a:r>
          </a:p>
        </p:txBody>
      </p:sp>
    </p:spTree>
    <p:extLst>
      <p:ext uri="{BB962C8B-B14F-4D97-AF65-F5344CB8AC3E}">
        <p14:creationId xmlns:p14="http://schemas.microsoft.com/office/powerpoint/2010/main" val="64624708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8BC80C3-74C1-4C74-BD0E-7F948C9B9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36118AA-2C39-4D53-97A4-9A997B35B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8aa35a10f64798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AF0F6D-F5A8-4A6B-8F43-6889853E3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Notebook project: SIMSOPT stage-2 coils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F5FC94-FA98-47FC-8826-1FA3076A6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5BED06-5311-4842-8AE9-5B5E69640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0200"/>
            <a:ext cx="4476750" cy="438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639FE1E-1DB1-4DBF-B0E9-E5B8042D9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0200"/>
            <a:ext cx="44767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49066E-334D-4118-B582-2B6BFC174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038350"/>
            <a:ext cx="342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Computational project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6EFCC6-576A-4856-9CF4-525A2C1DD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71750"/>
            <a:ext cx="3714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  <p:txBody>
          <a:bodyPr xmlns:a="http://schemas.openxmlformats.org/drawingml/2006/main" lIns="133350" tIns="76200" rIns="133350" bIns="76200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B2B2B"/>
                </a:solidFill>
                <a:latin typeface="Aptos Mono"/>
                <a:ea typeface="Aptos Mono"/>
                <a:cs typeface="Aptos Mono"/>
              </a:defRPr>
            </a:pPr>
            <a:r>
              <a:rPr sz="1425" b="0">
                <a:solidFill>
                  <a:srgbClr val="2B2B2B"/>
                </a:solidFill>
                <a:latin typeface="Aptos Mono"/>
                <a:ea typeface="Aptos Mono"/>
                <a:cs typeface="Aptos Mono"/>
              </a:rPr>
              <a:t>notebooks/04_simsopt_stage2_coils.ipynb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A211088-5BF3-4142-B1C8-6E85076F7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956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09ECE1C-7E8F-43D9-AFFA-49140378D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39090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Load public QA input or cached coil fallback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94421C-9C5C-4CFE-A263-48DBD7E17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1243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FDE6B8B-35D6-468E-8F43-EE485A970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01955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Plot initial and final coils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98922AD-BCCC-44D8-9E2B-89A95B64C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7529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3EE673E-89B3-40AD-B368-8B8EB151C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64820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Compare normal-field error before and after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F8B2D4C-1FD9-497C-AB45-A7770E93C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7907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F11DBC9-66F1-4ED6-884D-43077B974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914525"/>
            <a:ext cx="323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DCB5C84-0BEF-4E4F-AA3E-AB66DC931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9240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Open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30F4A71-738D-456C-A6B6-808A99016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6289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CD802EA-D6D2-47C0-B315-586CDBAA5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752725"/>
            <a:ext cx="323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5803D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5803D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781F298-EEC4-4148-BBC2-2C5F59D58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7622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Run cached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C140EDF-54FB-4B79-8671-78564E10A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4671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13A3C7D-ECED-4BA4-9DA3-9E5A38C1B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590925"/>
            <a:ext cx="323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2D6DF4C-DC26-4015-BC45-89C5BB535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6004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Change one knob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9C3D1B1-2EE1-42D6-8315-201F6013F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3053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63D5EC1-6D5D-4379-86D0-FAD07CA69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429125"/>
            <a:ext cx="323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21F6157-154B-45A8-9F26-B31E1FF0A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4386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Explain the plot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13CE3F4-6EB1-48D4-96E8-4B3AB3659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286375"/>
            <a:ext cx="41148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EB8AA69-2548-48BB-9D42-68665E8F4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5410200"/>
            <a:ext cx="3714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Deliverable: one figure and one defensible sentence.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DC1D51F-7252-4996-B91C-F5B03725A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ACAD32B-838B-4A53-AE2C-FF2F3903B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C89E729-D79A-4648-92C5-453A44DDD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12FC98E-F54C-4D83-A0A7-BB15911B7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09</a:t>
            </a:r>
          </a:p>
        </p:txBody>
      </p:sp>
    </p:spTree>
    <p:extLst>
      <p:ext uri="{BB962C8B-B14F-4D97-AF65-F5344CB8AC3E}">
        <p14:creationId xmlns:p14="http://schemas.microsoft.com/office/powerpoint/2010/main" val="145473599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02EC1FF-6E96-4D70-9480-70304DE89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9A1392-8944-4265-8F8D-B77D0C17E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83df0a60a6469f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ADAB22-D323-4E67-AF03-A6A79FD05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Example: initial coil set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9232DE-E5B7-4D2F-9AFC-2542323F9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736CE5-EC89-4F3C-85BD-D9AB9B08B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600200"/>
            <a:ext cx="706755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3986399dde4ddb"/>
          <a:stretch xmlns:a="http://schemas.openxmlformats.org/drawingml/2006/main"/>
        </p:blipFill>
        <p:spPr>
          <a:xfrm xmlns:a="http://schemas.openxmlformats.org/drawingml/2006/main">
            <a:off x="2209829" y="1790700"/>
            <a:ext cx="3486092" cy="36766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24209E2-B209-4733-9319-EE03B1B0C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619250"/>
            <a:ext cx="304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B311F7-ADFE-44ED-B60B-F69461249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181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1DCE91C-EB6C-42A4-B32B-1B5CA5467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076450"/>
            <a:ext cx="30670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The teaching curves are simple enough to inspect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C54DDB2-F146-45AD-A014-7D3184546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1718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34F9AFC-ADC1-4A54-A0E6-09EDAD86C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067050"/>
            <a:ext cx="30670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Their main lesson is the diagnostic grammar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7BDFA16-C419-4B33-AB4C-B12902968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953000"/>
            <a:ext cx="33147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282CCA4-F82F-44E9-A347-C64BD04EA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5067300"/>
            <a:ext cx="29146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Use the figure to identify the design choice and the diagnostic that changes.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51A64EC-8A9A-4D77-A4A2-19AD5A525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C8A73E6-EEAD-48CC-8859-6B0C7C83F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4C14C51-6E67-4A43-80A2-0B083228D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9C0A21A-BD78-46C5-94C7-1A3FACE43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10</a:t>
            </a:r>
          </a:p>
        </p:txBody>
      </p:sp>
    </p:spTree>
    <p:extLst>
      <p:ext uri="{BB962C8B-B14F-4D97-AF65-F5344CB8AC3E}">
        <p14:creationId xmlns:p14="http://schemas.microsoft.com/office/powerpoint/2010/main" val="950981223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2AE4AEC-41E1-478C-AF54-DE208A920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89B261-4E4E-45AC-AD2D-685CAF374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9ed95b270949f5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8485D2-00BC-4B30-9A7F-0AFEC87C9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Example: final coil set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BF23EB-9291-410F-8638-A28E271DE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2FAE57-CAF4-4CFB-A142-D0049F929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600200"/>
            <a:ext cx="706755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5fb80dab02442a"/>
          <a:stretch xmlns:a="http://schemas.openxmlformats.org/drawingml/2006/main"/>
        </p:blipFill>
        <p:spPr>
          <a:xfrm xmlns:a="http://schemas.openxmlformats.org/drawingml/2006/main">
            <a:off x="2209829" y="1790700"/>
            <a:ext cx="3486092" cy="36766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124B2E0-6BD6-4124-8A23-072ABE34A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619250"/>
            <a:ext cx="304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4B8B83-01D1-43BF-A5C2-2F4903653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181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978436-9CED-45FF-A5DE-D5E4FC5C3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076450"/>
            <a:ext cx="30670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A coil plot without diagnostics is incomplete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0ECFC1-9AD1-4A3D-B0E7-118C01EA1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1718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D2F2340-F13A-4466-9F48-C09D69BA0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067050"/>
            <a:ext cx="30670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Students should ask: length, curvature, clearance, ports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74CE7C-9ED6-429A-BD2A-107383A13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953000"/>
            <a:ext cx="33147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7AC3BBD-EC2D-41FA-A345-178A931C3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5067300"/>
            <a:ext cx="29146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Use the figure to identify the design choice and the diagnostic that changes.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9E2F193-B3C5-4F8C-A35C-AB0302CF8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B1C4E3C-1676-4CFB-977C-2EC5FCA34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6424121-D73F-421B-9026-6514B152B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88690E2-DC70-4878-B517-5AF1C6722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11</a:t>
            </a:r>
          </a:p>
        </p:txBody>
      </p:sp>
    </p:spTree>
    <p:extLst>
      <p:ext uri="{BB962C8B-B14F-4D97-AF65-F5344CB8AC3E}">
        <p14:creationId xmlns:p14="http://schemas.microsoft.com/office/powerpoint/2010/main" val="420519249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0C19062-4E28-4671-933D-7C7B4DF98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955E91-B329-4AFE-808B-AF4DF401C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6060fa03e74dd7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144CF6-3C61-416F-AAD0-2128469B1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Example: normal-field error before and after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B275BA-D931-41B6-9155-F7DCB8997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53B648-3A6B-4B3F-9F93-4C7B38060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600200"/>
            <a:ext cx="706755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c881615a274289"/>
          <a:stretch xmlns:a="http://schemas.openxmlformats.org/drawingml/2006/main"/>
        </p:blipFill>
        <p:spPr>
          <a:xfrm xmlns:a="http://schemas.openxmlformats.org/drawingml/2006/main">
            <a:off x="609600" y="2012648"/>
            <a:ext cx="6686550" cy="3232754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0F138C5-BB1E-4F9B-815C-C5A18B8AF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619250"/>
            <a:ext cx="304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2926F6-7823-49E5-A763-3267E7DA4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181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F4114A-DD50-4EBF-B033-4D792C806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076450"/>
            <a:ext cx="30670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Before/after maps show where the target surface is damaged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6BB024B-5DAD-473B-BE3A-3D2486828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1718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A66AD6-B44A-41D6-B934-14D1B9971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067050"/>
            <a:ext cx="30670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Local hot spots matter for robustness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12B4711-8B55-40DD-818C-C31DC4FA9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953000"/>
            <a:ext cx="33147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230AB67-BFF5-4BC5-A72A-33ACA3481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5067300"/>
            <a:ext cx="29146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Use the figure to identify the design choice and the diagnostic that changes.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F044E8-3A8A-4E82-8387-86417AD53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C32EE5C-5D0F-4D5F-A627-60AB6D1A5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4C8507B-387D-4559-AA92-5CC34A055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3A1C05E-7943-4922-8395-53E0443EC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12</a:t>
            </a:r>
          </a:p>
        </p:txBody>
      </p:sp>
    </p:spTree>
    <p:extLst>
      <p:ext uri="{BB962C8B-B14F-4D97-AF65-F5344CB8AC3E}">
        <p14:creationId xmlns:p14="http://schemas.microsoft.com/office/powerpoint/2010/main" val="1293447128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D9849FA-A23B-4E09-9ED6-D003FBE66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D8C1247-6F6C-4F80-BF3A-E630F0A91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74709050b340cd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C02F61-7751-41C5-8C20-27A8500BB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Example: regularization tradeoff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7E218E-F155-4C5E-8120-0D2C0433F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DFEF4C-EEB7-4FDB-AF21-19B51ACCF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600200"/>
            <a:ext cx="706755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3ee3920b484f2d"/>
          <a:stretch xmlns:a="http://schemas.openxmlformats.org/drawingml/2006/main"/>
        </p:blipFill>
        <p:spPr>
          <a:xfrm xmlns:a="http://schemas.openxmlformats.org/drawingml/2006/main">
            <a:off x="927702" y="1790700"/>
            <a:ext cx="6050347" cy="36766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C3AD03-71BA-4257-844F-1124AF2AB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619250"/>
            <a:ext cx="304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B4CFB10-0973-4FD4-B340-D50005E4B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181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055BC1B-4FE1-44C9-B17F-A8D319BC0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076450"/>
            <a:ext cx="30670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Shorter and smoother coils can worsen field accuracy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383B76-6EF8-43BC-9671-080ED58AD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1718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C7F9702-9A43-466A-AEE4-12D15651D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067050"/>
            <a:ext cx="30670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A single optimum hides a design choice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9DB33CE-07E5-4D8D-B532-317454542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953000"/>
            <a:ext cx="33147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7D18D1A-68C8-4046-B047-742BF9CB2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5067300"/>
            <a:ext cx="29146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Use the figure to identify the design choice and the diagnostic that changes.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B5F7AFA-3D1C-439C-A8CB-F8054A3F7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20DDE5E-2C7C-4B8C-AB73-BD6DDE147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8944C03-6BE2-4E43-9E5C-5F493767A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3E89B9D-4D70-435F-BE96-3D7A7927F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13</a:t>
            </a:r>
          </a:p>
        </p:txBody>
      </p:sp>
    </p:spTree>
    <p:extLst>
      <p:ext uri="{BB962C8B-B14F-4D97-AF65-F5344CB8AC3E}">
        <p14:creationId xmlns:p14="http://schemas.microsoft.com/office/powerpoint/2010/main" val="1213961528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D3D8D2C-E382-40B3-964F-E72311705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0C010AC-02F4-4483-A040-4431C47E3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9a8735606b4b0c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5C7A46-DBF7-4D01-94ED-B176A82F1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Coil complexity has multiple dimensions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BC69DE-9276-41FA-B9ED-F4DEF9685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A36244F-4542-4464-B0F4-84CF5AD57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12E77AB-6718-40B3-904C-344CF0E79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Design question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377E76E-AC2D-4CD4-B2D2-93FB5A39C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9B5C95-04FE-4882-A7ED-A94397967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Optimization interpretation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B316D3E-FF54-401D-A85E-EE6D4802A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7293CBE-A154-4E8E-AD0B-F97A3E719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AB812D7-F483-4443-ADE0-B36774F20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Length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B7CCAB-98B7-4914-BC4E-F79FAF41F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Use it as a metric, constraint, or validation gate.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14695E4-A2A7-4530-8D60-6983952A9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353F0B1-BA7D-484F-A1DD-5D5E120C3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92C5F48-053C-4B41-9A3B-93A4253C0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Maximum curvature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C653458-5275-4310-BAD5-2274BE92B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Use it as a metric, constraint, or validation gate.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2C3A3C9-D8A2-4C1E-A1F5-7EF56F6E0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0C8FE53-4617-4AFF-A7D9-3BFEF44F6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ED3DBA9-7834-4143-B4E9-0EF270283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Mean-squared curvature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98BA358-C874-47B7-A277-BD04B12A5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Use it as a metric, constraint, or validation gate.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60AB3FD-9C0C-4A78-97D6-85B690C6A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BBA8233-C568-49BA-9023-B39C4CE78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43053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FA4D709-3C14-4A4D-AEE7-C5A8129FA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4196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Torsion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9569EE4-C00F-4CA3-B959-174A36DA6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4196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Use it as a metric, constraint, or validation gate.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FF7DB31-1713-438F-8DE3-D9B0B883D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0292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5116761-1B6A-4F2D-B106-69A783F27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50292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2E695F7-AE82-471B-9EEF-A87FEAEC1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1435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Coil-to-coil and coil-to-surface separation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8332CDA-B813-4227-A363-F69AB0AD1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1435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Use it as a metric, constraint, or validation gate.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4E00BA8-88F0-4392-B2EB-18A3B8E8C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1C22793-E886-4577-A50F-A025988DF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C7D5975-3509-44BC-ADB8-396891D04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05977B6-1F72-4928-8490-BBB801AC2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14</a:t>
            </a:r>
          </a:p>
        </p:txBody>
      </p:sp>
    </p:spTree>
    <p:extLst>
      <p:ext uri="{BB962C8B-B14F-4D97-AF65-F5344CB8AC3E}">
        <p14:creationId xmlns:p14="http://schemas.microsoft.com/office/powerpoint/2010/main" val="2003035107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ADACAC0-C33F-47D7-BA3C-F5590E445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2EA577-EA8B-4118-91FE-1B7D903A6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89835fa51f4f1e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808464-7494-411D-BE21-081680364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Ports and maintenance enter early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F74168-DE41-4E70-A49F-38A539644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A068FF-EE82-4025-9E5C-1FFF2C2A0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495300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3C7A51-A26C-408C-98CB-214D0B328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4953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BF2C3DF-502D-41ED-9E2B-D53AF1682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3AAFB74-24D5-4879-B766-12CC3A40F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686050"/>
            <a:ext cx="445770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Access constraints can invalidate attractive coil sets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EFD1C36-628F-453F-B57D-C3D549E60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790700"/>
            <a:ext cx="495300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46ED7E9-7AE5-4060-8F83-3159EA244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790700"/>
            <a:ext cx="4953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65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2D77A5E-5BA6-4E6D-BD9E-ADBDAB3AB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7B7389D-01FB-4E2C-BBB2-393A2C9C8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686050"/>
            <a:ext cx="445770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Use engineering constraints as penalties or hard gates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543BDB8-D412-4F1A-9571-6DB0B34A1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6DF26CB-AD15-4047-9563-1C3E83151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Class use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48D31AA-089F-49A9-9945-D6DB003D8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Connect the concept to one objective, one plot, and one exercise.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F544416-EDE0-4B5E-917C-2F35CE07B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1DC560A-EB42-4486-93F7-ED062E2C7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994F7F2-5576-4917-B3F1-FB1335D44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DAB9B21-7EF3-4356-829C-06C011D45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15</a:t>
            </a:r>
          </a:p>
        </p:txBody>
      </p:sp>
    </p:spTree>
    <p:extLst>
      <p:ext uri="{BB962C8B-B14F-4D97-AF65-F5344CB8AC3E}">
        <p14:creationId xmlns:p14="http://schemas.microsoft.com/office/powerpoint/2010/main" val="133403761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854A72E-30B0-4235-B882-D7EB5ACBC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A121081-963B-4097-B0D1-E5C914B38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998bca1c524406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26A810-E683-4529-B35A-08DC2AF7D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HTS tapes add orientation and strain constraints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C75BBD-2BB3-45A7-ADB0-93E1C7CC2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D80082-FF6D-4DE4-B043-EBC925AC8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495300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F221C3-367A-49C1-B6C6-126395744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4953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45DB3B-5D69-44CB-BBB4-381C5686D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C688658-845E-45D0-9FF5-E2859C01A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686050"/>
            <a:ext cx="445770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A reactor coil is more than a mathematical filament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BBB7D2C-5955-4EAF-9B9D-E78115B7C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790700"/>
            <a:ext cx="495300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5067DBB-0AFA-4C65-B978-4446C3A1B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790700"/>
            <a:ext cx="4953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65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26B223B-472B-4679-9252-A172A81E0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995EC9F-57B7-4959-BC1A-E9540E53C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686050"/>
            <a:ext cx="445770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Curvature and force metrics eventually become mechanical checks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BD58726-4CA8-4C61-998B-B5352C6E2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9CE1709-8B31-4A1D-84BF-8906B2B7A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Class use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41AE934-6C99-453B-AE91-2E3F23511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Connect the concept to one objective, one plot, and one exercise.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12D2CC9-4035-46B3-B4AE-17C2AA790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98B5978-3269-42EA-A61A-158D3F1FB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36119AE-6D10-45A4-B57C-E8DFD41E1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62D4B06-3A6A-4C0F-924C-7F692E478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16</a:t>
            </a:r>
          </a:p>
        </p:txBody>
      </p:sp>
    </p:spTree>
    <p:extLst>
      <p:ext uri="{BB962C8B-B14F-4D97-AF65-F5344CB8AC3E}">
        <p14:creationId xmlns:p14="http://schemas.microsoft.com/office/powerpoint/2010/main" val="360254667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9AFAE55-951A-4C71-9B77-1AE3F0EE2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1BDB32-6EBF-41B8-B28D-44D8C1F67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123950"/>
            <a:ext cx="9334500" cy="487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CCCF02-E5A0-450A-8E93-F698B7188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123950"/>
            <a:ext cx="9334500" cy="487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000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28BFA9-D9C2-4059-A633-B6748B13D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0a2e33200d46e8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4F68B2-662A-483B-B3AB-A8D4A140E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1600200"/>
            <a:ext cx="2095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Lecture 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9145F7-9E24-4B61-9572-76997DDC3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2266950"/>
            <a:ext cx="78105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PART 2. Fieldline and particle diagnostics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73BEC7-58C9-45B5-919F-D751EB4D1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3657600"/>
            <a:ext cx="8382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FC7ABC9-9B1A-4F13-8F73-A8DDF099F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41814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9A6E82-DFDD-4F37-A025-A2489BAE6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4076700"/>
            <a:ext cx="6953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F8FAFC"/>
                </a:solidFill>
                <a:latin typeface="Aptos"/>
                <a:ea typeface="Aptos"/>
                <a:cs typeface="Aptos"/>
              </a:rPr>
              <a:t>Coils can match a surface and still change topology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829C5F3-92FE-4328-8F45-32E9E646E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48101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C932EB5-9315-4981-BB0D-575441398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4705350"/>
            <a:ext cx="6953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F8FAFC"/>
                </a:solidFill>
                <a:latin typeface="Aptos"/>
                <a:ea typeface="Aptos"/>
                <a:cs typeface="Aptos"/>
              </a:rPr>
              <a:t>Fieldline and particle diagnostics catch late-stage surprises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E7006AA-3426-49D7-AC2E-B0BBAF20C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E591175-EF13-469D-B2B1-183B03D57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32E02E1-B5BD-4161-AEAA-121AA544B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02E99BA-CDCE-4EE0-A99E-5B037F110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17</a:t>
            </a:r>
          </a:p>
        </p:txBody>
      </p:sp>
    </p:spTree>
    <p:extLst>
      <p:ext uri="{BB962C8B-B14F-4D97-AF65-F5344CB8AC3E}">
        <p14:creationId xmlns:p14="http://schemas.microsoft.com/office/powerpoint/2010/main" val="1959243979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8D4EB89-4E9C-4E6D-A04D-0C1C325D1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1D2355E-2101-4C69-BF67-1184C1DB3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2d27434edf4a8b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BE8655-0CC8-4795-92EB-DABA4822C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Fieldlines diagnose topology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BCB5E6-9ED9-4581-94EF-7299BA3D9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737F49-CD77-4F58-BAE8-1BF7CAA01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495300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454D11-F22E-4481-85D7-6D64240BA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4953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380AEF-2913-4ABC-8184-444381552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38A97D-FC55-4EA1-A2ED-EF994FA92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686050"/>
            <a:ext cx="445770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Reveal islands, stochasticity, and topology changes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CE4F662-EAB9-441D-B0AB-4278A88DF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790700"/>
            <a:ext cx="495300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82FC41D-5A11-47C2-82C5-3E75D3B30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790700"/>
            <a:ext cx="4953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65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FDAB473-4F10-4E86-B809-4D70E4A58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14D6511-6729-43CB-BA14-F7256F41E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686050"/>
            <a:ext cx="445770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Fieldline plots are followed by particle diagnostics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E54A29D-190A-4C80-AF0F-82DA24652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3965B1B-97A6-435C-884D-673ED615A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Class use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6D1C2E5-59A4-4854-90D7-24396F05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Connect the concept to one objective, one plot, and one exercise.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2FDDCED-C570-418E-9841-7A9120B9C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663DADC-CEE2-4F35-A4F7-E6C9DE952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8619042-CF19-430F-AC23-8B2A93C45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2EF0B3E-D99C-4117-A79A-72AA4E18B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18</a:t>
            </a:r>
          </a:p>
        </p:txBody>
      </p:sp>
    </p:spTree>
    <p:extLst>
      <p:ext uri="{BB962C8B-B14F-4D97-AF65-F5344CB8AC3E}">
        <p14:creationId xmlns:p14="http://schemas.microsoft.com/office/powerpoint/2010/main" val="948578737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E8366CB-69AB-4986-94BB-4C1781CD0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E86712-E985-4733-8CEB-8170BE116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c0ec577971477c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24B81F-E0F1-48AE-9B2C-83370FC4B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Notebook project: ESSOS fieldlines and particles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CA32F0-825B-4AFD-AF4F-50ED3B049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25365A4-299C-4D7D-A456-1C4E101CB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0200"/>
            <a:ext cx="4476750" cy="438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9D4835-F071-46E1-9CBA-82A34B9CA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0200"/>
            <a:ext cx="44767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442B5C-1ACC-4508-82E6-ABBC61E14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038350"/>
            <a:ext cx="342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Computational project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0447B5B-4937-44B9-94C5-C137F6919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71750"/>
            <a:ext cx="3714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  <p:txBody>
          <a:bodyPr xmlns:a="http://schemas.openxmlformats.org/drawingml/2006/main" lIns="133350" tIns="76200" rIns="133350" bIns="76200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B2B2B"/>
                </a:solidFill>
                <a:latin typeface="Aptos Mono"/>
                <a:ea typeface="Aptos Mono"/>
                <a:cs typeface="Aptos Mono"/>
              </a:defRPr>
            </a:pPr>
            <a:r>
              <a:rPr sz="1425" b="0">
                <a:solidFill>
                  <a:srgbClr val="2B2B2B"/>
                </a:solidFill>
                <a:latin typeface="Aptos Mono"/>
                <a:ea typeface="Aptos Mono"/>
                <a:cs typeface="Aptos Mono"/>
              </a:rPr>
              <a:t>notebooks/06_essos_fieldlines_particles.ipynb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BD5F3EF-235A-4961-BCE0-E03801BEA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956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D45D308-8DF0-42C3-8FA9-B0E0EE4B8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39090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Plot cached fieldline and orbit diagnostics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930F0D-AED1-4D05-A8F7-D226BF282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1243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731FD74-270E-4FCC-824C-01ADC2917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01955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Use ESSOS in research mode only after timing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57D1C42-545D-4966-A1A0-968DDDC6C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7529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87B872E-90FD-4DF7-904E-611BE2898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64820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Discuss fast-particle relevance for reactors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F6E1ED6-43E0-4E1B-BBBD-61B9ED7BD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7907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C804E84-CC58-43BE-9372-EB6BF0556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914525"/>
            <a:ext cx="323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18464F0-72DA-42B4-A1EC-CFD9DFF65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9240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Open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52891DD-F86B-4E3E-AE72-119D3B7AF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6289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5910AA6-CFBF-434B-918E-4F7062777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752725"/>
            <a:ext cx="323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5803D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5803D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9BD06B2-7D1C-47A2-83BC-D5F7AF21F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7622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Run cached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47C4034-6629-4D51-B100-5B8E4BE04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4671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4D38677-BDE5-4AC8-98E2-E5BF280C3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590925"/>
            <a:ext cx="323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2059064-FD7A-478D-8AED-44B7F040F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6004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Change one knob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0B941F9-1ED4-4853-B4EF-CAA924286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3053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9706FBC-EB68-4F8A-90A7-DC3FB5DA7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429125"/>
            <a:ext cx="323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CF859C0-B418-45B7-8D75-39FBB9FFA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4386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Explain the plot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954A729-AAC8-492C-A3BA-62E883FB0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286375"/>
            <a:ext cx="41148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30BCE94-BBEF-4FD6-8521-94843777D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5410200"/>
            <a:ext cx="3714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Deliverable: one figure and one defensible sentence.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F64DAE4-052A-4D95-A0A7-61B65D1BD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CFF7F20-82B2-4EFC-83F5-3AD2D4A24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57F3110-BC2B-47C6-8A71-BFC457870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73958E9-51A9-4461-91BC-BB2AEA8C1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19</a:t>
            </a:r>
          </a:p>
        </p:txBody>
      </p:sp>
    </p:spTree>
    <p:extLst>
      <p:ext uri="{BB962C8B-B14F-4D97-AF65-F5344CB8AC3E}">
        <p14:creationId xmlns:p14="http://schemas.microsoft.com/office/powerpoint/2010/main" val="493276066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0151BBA-A858-4A11-BABD-620BAFC49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28437F8-44F9-46CF-8FDC-DD0BAE5F7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f355f3d423453c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DF5406-4AAA-40A3-8956-7DCB65627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Example: cached field-line diagnostic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931762-3BDC-4F6F-9994-DAF0FFFD0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A1284A-EFC9-4574-94CC-3CDCB43B8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600200"/>
            <a:ext cx="706755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de350fd6c64332"/>
          <a:stretch xmlns:a="http://schemas.openxmlformats.org/drawingml/2006/main"/>
        </p:blipFill>
        <p:spPr>
          <a:xfrm xmlns:a="http://schemas.openxmlformats.org/drawingml/2006/main">
            <a:off x="2209829" y="1790700"/>
            <a:ext cx="3486092" cy="36766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1491BD-1B5E-4C2A-AE64-3F34088FD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619250"/>
            <a:ext cx="304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DC7056-5727-4BE6-9D7D-391158DE6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181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B524326-34E5-4406-9894-FF3788145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076450"/>
            <a:ext cx="30670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Good fieldlines support the coil story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98AF883-5D58-4723-A2A8-2B711CEBD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1718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7DB201D-B7C5-4ABF-8E45-1E0C7EBB4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067050"/>
            <a:ext cx="30670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Bad topology catches failures a scalar map can miss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0C6DE62-6306-4F94-90D9-208300FCB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953000"/>
            <a:ext cx="33147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E80E19E-5AEA-475C-8184-C927D9737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5067300"/>
            <a:ext cx="29146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Use the figure to identify the design choice and the diagnostic that changes.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05DB7EF-4BA2-4CD8-8D51-E79512334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59A5EA8-7825-47D1-8D46-C1352375B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22AAA3E-FA6A-44A3-A033-B5C095A47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D6C50B8-016E-4BD2-9583-C8353BA75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20</a:t>
            </a:r>
          </a:p>
        </p:txBody>
      </p:sp>
    </p:spTree>
    <p:extLst>
      <p:ext uri="{BB962C8B-B14F-4D97-AF65-F5344CB8AC3E}">
        <p14:creationId xmlns:p14="http://schemas.microsoft.com/office/powerpoint/2010/main" val="219013201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0D6BC97-94BE-487D-B7EC-D9B9EA62F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E7F4C03-3BA6-4013-9E68-C1C24D6C0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6af94e036c497b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622161-D8F7-4FB2-86A0-6B108F9D7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Example: particle orbit cartoon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EDF75F-0A56-4631-8332-4D8B43694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B39E7C-90B9-4DB1-A1FD-190D04252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600200"/>
            <a:ext cx="706755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66cd1b018e4a9e"/>
          <a:stretch xmlns:a="http://schemas.openxmlformats.org/drawingml/2006/main"/>
        </p:blipFill>
        <p:spPr>
          <a:xfrm xmlns:a="http://schemas.openxmlformats.org/drawingml/2006/main">
            <a:off x="1602941" y="1790700"/>
            <a:ext cx="4699869" cy="36766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A06FEE-5FDE-43A4-8E40-93F9718DB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619250"/>
            <a:ext cx="304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9196D8D-C046-45F0-954F-FAD850E48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181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F7056F8-28D2-4531-B87C-836DC77F1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076450"/>
            <a:ext cx="30670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Fast-ion and alpha-particle losses are reactor gates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2EC8806-6DC0-4C84-AB91-FBD0D7990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1718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57C8FD-7BCF-4BAF-9110-30477F4C2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067050"/>
            <a:ext cx="30670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Guiding-center and full-orbit fidelity should be chosen deliberately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0681F07-4A81-403D-9037-B79658C69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953000"/>
            <a:ext cx="33147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5DA719D-2355-48E5-B083-C076E8FED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5067300"/>
            <a:ext cx="29146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Use the figure to identify the design choice and the diagnostic that changes.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C0E26FD-71AD-490D-8339-ABF899F6C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5588C2C-7B4D-4E7A-B3C7-988F57E70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9F26185-02DC-4BA3-BD2F-328DCEC18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0473B14-34F4-413E-8F9D-3CD935BB6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21</a:t>
            </a:r>
          </a:p>
        </p:txBody>
      </p:sp>
    </p:spTree>
    <p:extLst>
      <p:ext uri="{BB962C8B-B14F-4D97-AF65-F5344CB8AC3E}">
        <p14:creationId xmlns:p14="http://schemas.microsoft.com/office/powerpoint/2010/main" val="2103192281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FB01818-1B9E-44FF-B38F-639EEF277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883454-C827-4651-B7BE-21E6B662B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d2869fa5b54927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C0F0CE-F12E-4158-B682-6EED97262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Two-stage optimization can change the plasma target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EEBA20-7764-4E8F-9371-CCE65FC61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DE230E-3030-4A37-B544-84A617D94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971550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ED7A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8E95E2-9647-4144-BBD6-5415DE5D9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1714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4306A7-B3DE-4851-8007-5CA52F141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019300"/>
            <a:ext cx="400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9A3412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9A3412"/>
                </a:solidFill>
                <a:latin typeface="Aptos Display"/>
                <a:ea typeface="Aptos Display"/>
                <a:cs typeface="Aptos Display"/>
              </a:rPr>
              <a:t>Validation check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B549C5B-1A2A-463C-A5ED-19BD33708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7336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CE33A5C-82A6-4998-A523-343777302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628900"/>
            <a:ext cx="8191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Stage 1 may find a boundary that no reasonable coil set can make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A3B308A-D1CE-45C7-BC52-425519A58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3432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9C954CF-C874-40A3-BA69-2B79C90ED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238500"/>
            <a:ext cx="8191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Stage 2 may return coils that damage the original objective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EB56E20-DAF3-43FB-AA78-8849EFF2A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876800"/>
            <a:ext cx="8286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D7A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91831F1-6685-4CDF-9A15-EEE819D86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5029200"/>
            <a:ext cx="8096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A341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9A3412"/>
                </a:solidFill>
                <a:latin typeface="Aptos"/>
                <a:ea typeface="Aptos"/>
                <a:cs typeface="Aptos"/>
              </a:rPr>
              <a:t>Classroom rule: label approximations, keep cached mode ready, and write down what was actually computed.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1278316-DBD8-488B-9CF4-8ECB72C76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A076833-7E22-445F-80DB-0EC14ADF6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90E822F-9196-4E73-9976-26C5573B6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74A566B-B80D-4A65-840B-F374F91ED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22</a:t>
            </a:r>
          </a:p>
        </p:txBody>
      </p:sp>
    </p:spTree>
    <p:extLst>
      <p:ext uri="{BB962C8B-B14F-4D97-AF65-F5344CB8AC3E}">
        <p14:creationId xmlns:p14="http://schemas.microsoft.com/office/powerpoint/2010/main" val="1413529927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0490BAC-0B75-4B75-81E7-4E8F951CE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610AFB-B86A-4442-975F-77C92C732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123950"/>
            <a:ext cx="9334500" cy="487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22B35A0-B994-4744-88AF-C53A0B4F2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123950"/>
            <a:ext cx="9334500" cy="487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000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66A797-E9D7-4197-8C78-830D53CDD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eb4ef1bdfa4520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2449FC-34DC-4BFB-A6BA-801486CD7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1600200"/>
            <a:ext cx="2095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Lecture 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18FA28-3108-4CDE-8CE5-62E0E47CD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2266950"/>
            <a:ext cx="78105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PART 3. Single-stage optimization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D2E70B3-96B5-4A66-BEF2-DD7DE5F2A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3657600"/>
            <a:ext cx="8382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3FD5255-13C0-42F1-A136-9C18F0853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41814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828FD41-A876-4FFB-8119-03CC4449A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4076700"/>
            <a:ext cx="6953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F8FAFC"/>
                </a:solidFill>
                <a:latin typeface="Aptos"/>
                <a:ea typeface="Aptos"/>
                <a:cs typeface="Aptos"/>
              </a:rPr>
              <a:t>Move plasma and coil variables together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14006E-107F-478D-9DD4-550FE789C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48101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5E7B031-11AD-4A67-934A-4CEEE7045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4705350"/>
            <a:ext cx="6953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F8FAFC"/>
                </a:solidFill>
                <a:latin typeface="Aptos"/>
                <a:ea typeface="Aptos"/>
                <a:cs typeface="Aptos"/>
              </a:rPr>
              <a:t>Use continuation to keep the problem teachable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2C61FC4-91C3-4E8F-BAA1-48F29D455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C645E91-AD87-464C-98A2-5B75DEDCB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0740169-DF52-429A-A116-07F3FA705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4A78B99-F349-482A-B0C6-4230691B6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23</a:t>
            </a:r>
          </a:p>
        </p:txBody>
      </p:sp>
    </p:spTree>
    <p:extLst>
      <p:ext uri="{BB962C8B-B14F-4D97-AF65-F5344CB8AC3E}">
        <p14:creationId xmlns:p14="http://schemas.microsoft.com/office/powerpoint/2010/main" val="1760771971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A33D40D-E6D0-428E-878F-D15878A36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31D7300-153A-4DC6-8C9F-A0CC15201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2fe94a4d8a74a54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A289E1-6443-4832-9391-3370F65C5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Single-stage design keeps coils in the loop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FD2D38-DD76-470F-824D-7E700160A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711931-F34F-47E9-A695-6383C3A41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47875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9525">
            <a:solidFill>
              <a:srgbClr val="C5050C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6C5901-E71A-43E6-AADE-2BEF436B3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71700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Equilibrium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B762846-09FD-4247-B94D-F7C96A6E7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2286000"/>
            <a:ext cx="247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A1CB769-633C-4CBB-8918-0F74D0226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3048000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DBD768-EA72-4008-B911-F5035FE9A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1725" y="3171825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Boozer spectrum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5C82CD5-C953-45C8-8AAF-A38897455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3286125"/>
            <a:ext cx="247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148B37E-80EF-457E-B536-F5B921C04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047875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1E1189-7BD5-4175-93CC-EB4EF15F9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2171700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Neoclassical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41BA7C5-93E4-4994-BAF0-1AD4F4ED7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286000"/>
            <a:ext cx="247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2039F43-83CA-4887-B57B-5CD4DD752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3048000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9525">
            <a:solidFill>
              <a:srgbClr val="C5050C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CF10366-BCC9-4CDE-9061-5ECF4502C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4975" y="3171825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Coils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372BEFB-3890-4DF4-860F-425F8E5E9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4175" y="3286125"/>
            <a:ext cx="247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C2B6348-5030-481A-B86F-6BE54C554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047875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01DA8A4-EAEE-49F7-891C-D482A6C90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171700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Turbulence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DF0B7F2-7995-4DF5-9844-8B2FEFCDD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286000"/>
            <a:ext cx="247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D57E16F-30FF-4B66-B2BF-705CCB290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3048000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B62D1F9-0800-4849-B5D1-238660F40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8225" y="3171825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Profiles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A6F640C-0028-4897-9732-0341DCD3E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7425" y="3286125"/>
            <a:ext cx="247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A984C85-4890-4EB0-9C0D-3053A3617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2047875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208A8DD-BFC5-4BC5-BED4-32ADBF638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2171700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Pareto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3766AC6-7F3B-4FD8-A7C2-4E3E4AFD6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5434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BBABED5-9746-478E-AE88-9B23DC937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438650"/>
            <a:ext cx="9048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Boundary variables and coil variables move together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474BEBA-C3FA-4D7E-9CCB-5557CB9B2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1149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675F1A6-AD7A-4702-A670-BABBF1388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010150"/>
            <a:ext cx="9048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The objective includes plasma metrics, flux error, and coil metrics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88FD21F-2858-4CDE-B9B2-35DB5CF72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A7A5CFA-369B-4878-AABD-51ABA70EA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90D924C-59F8-4D83-8CDF-BDE967E43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B915489-35A4-4085-8C82-5F8C4B235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24</a:t>
            </a:r>
          </a:p>
        </p:txBody>
      </p:sp>
    </p:spTree>
    <p:extLst>
      <p:ext uri="{BB962C8B-B14F-4D97-AF65-F5344CB8AC3E}">
        <p14:creationId xmlns:p14="http://schemas.microsoft.com/office/powerpoint/2010/main" val="970274314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4689543-A55D-41D0-9C98-F9685E640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8871C6-BE6D-4F71-B080-02CC33D0D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ff96b492b64373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6ECD7D-3954-403A-865F-505476532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Notebook project: single-stage toy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06D726-2F38-4818-9A22-17D82EBEA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2F6C00-6679-4397-BA36-93E7F619F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0200"/>
            <a:ext cx="4476750" cy="438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C8F0FE-2B24-483F-9958-890FDB695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0200"/>
            <a:ext cx="44767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76EF38-DB26-418A-A04A-A91378F87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038350"/>
            <a:ext cx="342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Computational project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CA767D-4AE5-4B90-A100-1E20DEA0E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71750"/>
            <a:ext cx="3714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  <p:txBody>
          <a:bodyPr xmlns:a="http://schemas.openxmlformats.org/drawingml/2006/main" lIns="133350" tIns="76200" rIns="133350" bIns="76200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B2B2B"/>
                </a:solidFill>
                <a:latin typeface="Aptos Mono"/>
                <a:ea typeface="Aptos Mono"/>
                <a:cs typeface="Aptos Mono"/>
              </a:defRPr>
            </a:pPr>
            <a:r>
              <a:rPr sz="1425" b="0">
                <a:solidFill>
                  <a:srgbClr val="2B2B2B"/>
                </a:solidFill>
                <a:latin typeface="Aptos Mono"/>
                <a:ea typeface="Aptos Mono"/>
                <a:cs typeface="Aptos Mono"/>
              </a:rPr>
              <a:t>notebooks/05_single_stage_toy.ipynb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5A2B80E-C7F7-4509-956A-BD1D55EFD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956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07C0635-19AE-41B4-A5FB-5B56F57DE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39090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Plot objective pieces separately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EF6E97E-0006-4A37-8C1B-30C559064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1243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0349BF2-AE2A-4F7C-B8A3-4919289D2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01955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Vary the flux penalty weight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FF81C07-F108-4B70-8D3B-88FAE4038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7529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AFBFAFD-7922-490C-AC6E-39A89E049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64820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Identify the penalty that prevents unbuildable solutions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1791ACA-D81C-4D1A-9212-66290EFBE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7907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48848D4-65B3-463A-B1EA-0D12F70B9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914525"/>
            <a:ext cx="323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5A31E19-38F8-462F-85D6-62E8D6FED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9240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Open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696A8F9-960C-4461-A73D-463238EA9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6289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A7D20D7-1E9D-4C95-B498-82BD5657E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752725"/>
            <a:ext cx="323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5803D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5803D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698E3BE-1F9C-4946-A794-D71E70C74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7622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Run cached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9C41884-5E64-4459-A05F-896F541BA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4671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373C44B-4A30-4EC0-83C2-0D5E68634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590925"/>
            <a:ext cx="323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F55F1E1-DE9F-4897-AF3E-F1F9639D8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6004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Change one knob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7E06077-B873-4000-BF2B-C5F2A6CAD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3053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D6B0365-92B1-4D7A-8EB9-90D7A3EB9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429125"/>
            <a:ext cx="323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31126F2-1192-49EB-98EB-48C1A7EAC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4386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Explain the plot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A87EBFA-29A1-4816-845B-F20F53AB0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286375"/>
            <a:ext cx="41148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DEDB932-A4AC-46D5-B39A-A003DD20D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5410200"/>
            <a:ext cx="3714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Deliverable: one figure and one defensible sentence.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E80DC39-C42D-4E6A-90E6-60698B40A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FBFB25D-9CED-47B3-8441-39A0BBEA3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2FEFC13-19A1-42DD-9F49-AEA247B6A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92ED7AD-B75A-436B-A0A7-FC538A2F9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25</a:t>
            </a:r>
          </a:p>
        </p:txBody>
      </p:sp>
    </p:spTree>
    <p:extLst>
      <p:ext uri="{BB962C8B-B14F-4D97-AF65-F5344CB8AC3E}">
        <p14:creationId xmlns:p14="http://schemas.microsoft.com/office/powerpoint/2010/main" val="827077824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8273A2A-9DB4-4865-B8AA-346C676CA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328003E-0C5A-487F-880B-91B9C12DF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8406a1ee034eaa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11C3F8-0039-46AB-881A-705FD35C4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Example: single-stage objective history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A581C7-F966-445D-ABA7-64C3EC3C8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984775-CCF1-496B-B363-BCC520EA5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600200"/>
            <a:ext cx="706755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e1f5ae496e4873"/>
          <a:stretch xmlns:a="http://schemas.openxmlformats.org/drawingml/2006/main"/>
        </p:blipFill>
        <p:spPr>
          <a:xfrm xmlns:a="http://schemas.openxmlformats.org/drawingml/2006/main">
            <a:off x="918229" y="1790700"/>
            <a:ext cx="6069291" cy="36766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713858-4C98-4EC2-9A16-2409CE3CA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619250"/>
            <a:ext cx="304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E0D622-2D47-4B87-BFB5-7BE73577D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181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3C63040-FD40-4D75-9533-AC0FF73E4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076450"/>
            <a:ext cx="30670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The total objective can decrease while one term stalls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530ADE3-271C-4E7A-8473-F772DDBB2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1718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CD34906-F9BD-4518-A91B-9E9CB0715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067050"/>
            <a:ext cx="30670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Plot terms together with the sum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EDF44C6-A623-4369-BA18-688ABF26B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953000"/>
            <a:ext cx="33147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4424DC9-7C0D-46B3-979C-0DFB63E73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5067300"/>
            <a:ext cx="29146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Use the figure to identify the design choice and the diagnostic that changes.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5D4E971-43CF-4A4D-A729-CDDDFF07F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646E0CC-1979-4033-BAFE-FB551777D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B5A8529-6C13-4FE9-AD77-8BFCA78E2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5CB7B54-31EB-4639-B198-CF238637A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26</a:t>
            </a:r>
          </a:p>
        </p:txBody>
      </p:sp>
    </p:spTree>
    <p:extLst>
      <p:ext uri="{BB962C8B-B14F-4D97-AF65-F5344CB8AC3E}">
        <p14:creationId xmlns:p14="http://schemas.microsoft.com/office/powerpoint/2010/main" val="1944510966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D45C0F1-01EA-4369-82FD-BC3DEEBC4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60B808-3886-4959-BC37-B9D1A1624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14000142d9418b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D02AE5-D8AC-4AC0-A3A6-490F58D03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Example: weight continuation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4D2C04-38D7-4BF2-8892-194255FDF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ACD2EA9-86FF-4053-B685-91EE50C07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600200"/>
            <a:ext cx="706755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8a3e0a853c4cee"/>
          <a:stretch xmlns:a="http://schemas.openxmlformats.org/drawingml/2006/main"/>
        </p:blipFill>
        <p:spPr>
          <a:xfrm xmlns:a="http://schemas.openxmlformats.org/drawingml/2006/main">
            <a:off x="908834" y="1790700"/>
            <a:ext cx="6088081" cy="36766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CB1CDD4-8EF8-470D-9697-B563AEB76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619250"/>
            <a:ext cx="304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266DAD-33D7-4612-9936-3F316F3F3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181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B8EC3C7-0868-4DF0-8748-D0BAF461A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076450"/>
            <a:ext cx="3067050" cy="79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Start from an easier problem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FD21EF5-5E75-42EB-A0C2-3EA485D44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0892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5A7198A-1B64-483F-AC6B-61B34B9CB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984500"/>
            <a:ext cx="3067050" cy="79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Increase coupling or constraint weight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BF3089E-17ED-4144-9F72-C215EDF95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9973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32EBFD2-C4A0-4928-AEED-927228B52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892550"/>
            <a:ext cx="3067050" cy="79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Watch which term starts controlling the solution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8B20F5-A328-4F7B-990D-72DB8977F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953000"/>
            <a:ext cx="33147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7089DE6-B1AF-4A95-8948-54D4E41B3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5067300"/>
            <a:ext cx="29146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Use the figure to identify the design choice and the diagnostic that changes.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991C578-077C-4B6D-A940-A90A9B4C6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27B23EE-82B0-4FC1-9E9B-E79ADA5D2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2D97299-64D3-44FA-AC55-663AC6D42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691728D-3B8E-483D-A587-DB34DB25D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27</a:t>
            </a:r>
          </a:p>
        </p:txBody>
      </p:sp>
    </p:spTree>
    <p:extLst>
      <p:ext uri="{BB962C8B-B14F-4D97-AF65-F5344CB8AC3E}">
        <p14:creationId xmlns:p14="http://schemas.microsoft.com/office/powerpoint/2010/main" val="1129809155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9BD19E1-A14B-4973-BF19-5B62EEB4C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909B31-0AA4-4DBE-90C5-D8011E4FD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0d2ec332e947f0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45CC65-FABA-4A4E-8D54-93DFD5C52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Direct coil optimization changes the gradient story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4D289B-FE26-4CA4-8A90-3CD1FEBCD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9C13C5-3F60-4ED4-B849-964E147EE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41FB45-48DA-47D3-94D5-CC8473E5C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51B8D4-ED16-43E9-9399-0C5816A5D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1CD7022-8902-4A52-AABD-17ECAE31C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Biot-Savart fields are differentiable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90CEE6E-46FC-4542-A296-09E031946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B840B0-74ED-48A7-9FAA-3A723190A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65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9B3F6EC-99F1-4986-B662-9BD95BFC3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129E5DD-27E0-4971-BAD7-826071F4C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Fieldline and particle objectives can be differentiated in JAX workflows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3DB8A97-446E-4DC7-9463-1D312E9B7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32EEE8A-0234-4FF9-A82C-9171BCB54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B2D897A-6858-4DF4-AB90-30DE25A90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07203DE-8A3A-4ECF-A046-8DAE625E1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Gradient accuracy still needs validation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D6675DC-17F9-47D8-898E-69FCE1198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32C5E2D-175B-452D-8CAF-19BFFED07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Class use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3107EF2-551D-48FC-967A-5C3A825FE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Connect the concept to one objective, one plot, and one exercise.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192F77F-B93E-4D3F-AFBC-E884A5F75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DD8AD32-93CA-43C6-988C-A08455490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0B1DD99-CEBD-4DD8-8BA9-E72871907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B514DA8-79DA-4C3F-81F5-9F2A91529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28</a:t>
            </a:r>
          </a:p>
        </p:txBody>
      </p:sp>
    </p:spTree>
    <p:extLst>
      <p:ext uri="{BB962C8B-B14F-4D97-AF65-F5344CB8AC3E}">
        <p14:creationId xmlns:p14="http://schemas.microsoft.com/office/powerpoint/2010/main" val="333034822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3DD22B9-6F61-41D3-8196-C5098746B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18D7C4F-1297-4740-899C-3FE4E43D2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1cdd0e8c1e44a59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D531219-7699-4E7B-AA39-A17E9BEBD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Autodiff still needs validation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C556F6-2AA2-4977-A807-4CCA1BC10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5E052F-07B3-4740-8C26-A425A8885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971550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ED7A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1AEB3E-6CDE-4C1A-9976-E4A9E6751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1714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78B9853-0A3C-4896-8FBF-7F47A94A6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019300"/>
            <a:ext cx="400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9A3412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9A3412"/>
                </a:solidFill>
                <a:latin typeface="Aptos Display"/>
                <a:ea typeface="Aptos Display"/>
                <a:cs typeface="Aptos Display"/>
              </a:rPr>
              <a:t>Validation check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3DD581-CB0E-4A39-839A-CC2914C9C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7336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B92E058-972D-4C18-A095-47D135F32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628900"/>
            <a:ext cx="8191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Autodiff gives derivatives of the implemented model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C19BCC6-9C18-4E2F-AD27-6D1B8CDD8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3432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2644AC8-6587-4844-9177-F88D99184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238500"/>
            <a:ext cx="8191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The implemented model still has a validity domain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240A6F7-9A44-4AE4-8089-3C19412B1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876800"/>
            <a:ext cx="8286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D7A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EBEC982-465F-40D7-9E6D-69135F17F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5029200"/>
            <a:ext cx="8096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A341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9A3412"/>
                </a:solidFill>
                <a:latin typeface="Aptos"/>
                <a:ea typeface="Aptos"/>
                <a:cs typeface="Aptos"/>
              </a:rPr>
              <a:t>Classroom rule: label approximations, keep cached mode ready, and write down what was actually computed.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690E308-94AB-4687-BFEA-B82077671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69B108E-5B39-4F4C-8CEC-3C82A7CE3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988B58-7798-4427-85D0-53120881C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C67C7B3-D77F-4175-B44C-074477ED0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29</a:t>
            </a:r>
          </a:p>
        </p:txBody>
      </p:sp>
    </p:spTree>
    <p:extLst>
      <p:ext uri="{BB962C8B-B14F-4D97-AF65-F5344CB8AC3E}">
        <p14:creationId xmlns:p14="http://schemas.microsoft.com/office/powerpoint/2010/main" val="509523869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47FF135-DB57-450C-AE9F-2F2C1A45B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B8B8A6-61C5-44A6-A760-4FC4F2A5B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e1a9b791e5249b1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935812-8B83-440F-9304-5E0E298AE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Robustness is a stage-2 metric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177B89-CABF-444E-9F14-8D0965520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5CDE91-15DD-4E70-9C03-990F3AFAE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287F983-9B82-42F0-836E-B4A6211D0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Design question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70D3A96-95B9-4ED8-9758-023EC3342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56BC1E3-9EF8-4D38-A392-56296D388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Optimization interpretation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F5E34A2-D3FC-4CCA-8B63-F5A43C6E4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F9A190F-716E-4EC7-BA6B-509B4E853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539DF18-3E17-4C1D-9679-02C57D7D0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Manufacturing errors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59FC608-CBE1-421A-86AE-1CCB14002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Use it as a metric, constraint, or validation gate.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6873E41-9B52-4F7A-AC87-08BA107D1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521B9F9-B476-4CA2-8ADD-6518F99BD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E950D35-4951-4883-8F20-87FD2BBFC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Current perturbations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8F4BC22-6B9D-4781-8EB8-8BB3078DD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Use it as a metric, constraint, or validation gate.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7D2C45B-0AFC-4164-805C-87986D2DB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5F603C3-8EB2-45B8-BAF2-84ED88CC6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6C2A8AE-5D1C-419B-BA3C-893DDC629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Coil misalignment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03B0968-D16F-4F6E-8780-53F03A8CA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Use it as a metric, constraint, or validation gate.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E29E0A2-373C-432F-A3E7-AB1609674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2B0BA79-DB09-43EE-A868-92FCE2406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43053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CE51208-9905-4DEA-86DB-5FF68D043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4196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Maintenance tolerances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8E36388-1C18-4E23-83EC-52AE21A5E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4196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Use it as a metric, constraint, or validation gate.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F3408A6-EEA9-48BE-B032-E8DE12C8A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86ADC6F-EA6B-47EE-BC39-F6DE094ED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1AA19FA-0A85-4BB2-93C7-471BEFD63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ADD0642-8977-45FE-9545-A9EDDA376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30</a:t>
            </a:r>
          </a:p>
        </p:txBody>
      </p:sp>
    </p:spTree>
    <p:extLst>
      <p:ext uri="{BB962C8B-B14F-4D97-AF65-F5344CB8AC3E}">
        <p14:creationId xmlns:p14="http://schemas.microsoft.com/office/powerpoint/2010/main" val="656790356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94489F4-CC39-42B2-8FF6-8DB090ADB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3F42AC-B7C3-436C-BF64-D5ADD43DD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aaa698c20f4578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7AFD0D-994C-44E1-B12C-6F9663E44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A coil objective needs units and scales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CFAB55-82A0-47CD-B1C5-0B2265B69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ABD970C-CDFA-456A-90A6-DC95FFC7F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971550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ED7A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0EAADE-AE31-473C-80B7-E071FA9E3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1714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469256-4648-4783-A4F1-2459F01F5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019300"/>
            <a:ext cx="400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9A3412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9A3412"/>
                </a:solidFill>
                <a:latin typeface="Aptos Display"/>
                <a:ea typeface="Aptos Display"/>
                <a:cs typeface="Aptos Display"/>
              </a:rPr>
              <a:t>Validation check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9837B1-0069-40AA-8AA8-94EF11E7E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7336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DCD3665-D4B5-42CC-AC24-3C49E616C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628900"/>
            <a:ext cx="8191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Length in meters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13501D5-1A2E-4144-AE4D-C4E9D4079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2861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500094B-9D9B-451F-A869-0B0215484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181350"/>
            <a:ext cx="8191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Curvature in inverse meters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3386493-30C6-4939-9E02-63AA4FBE5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8385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8146160-F499-42DA-AC0F-B3C7E1DF0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733800"/>
            <a:ext cx="8191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Flux error normalized to field scale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6D28B50-CF63-4546-B379-D5435761E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3910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EB6D610-0E7D-4D0A-A933-15F69726F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286250"/>
            <a:ext cx="8191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Separation in centimeters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CCD0961-B2CA-4D61-A535-AF191F4DF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876800"/>
            <a:ext cx="8286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D7A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228A99A-FE6C-4EEA-94A6-4C57C0D3B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5029200"/>
            <a:ext cx="8096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A341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9A3412"/>
                </a:solidFill>
                <a:latin typeface="Aptos"/>
                <a:ea typeface="Aptos"/>
                <a:cs typeface="Aptos"/>
              </a:rPr>
              <a:t>Classroom rule: label approximations, keep cached mode ready, and write down what was actually computed.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AFE37B2-DAE4-4C8A-9AA1-FD29584A6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A1D9CC5-1204-494D-BBD6-8325E69AB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7F93AE1-C95B-458D-838B-074FEB115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0018DEE-7E3E-4FC0-AF22-BE89F7BBA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31</a:t>
            </a:r>
          </a:p>
        </p:txBody>
      </p:sp>
    </p:spTree>
    <p:extLst>
      <p:ext uri="{BB962C8B-B14F-4D97-AF65-F5344CB8AC3E}">
        <p14:creationId xmlns:p14="http://schemas.microsoft.com/office/powerpoint/2010/main" val="1224263138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E51CDA1-0E76-4EA2-8D2F-0FCA5DBC2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3869E5-8B52-4483-82F5-7018D0E27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c434d190d44d1e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146DEE-7233-4FE6-AB3D-C38A59C3D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Computational checkpoint for lecture 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5922C9-3863-4DB9-935A-490B49623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87D3C8-20E0-4919-B3CD-651C1055D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0200"/>
            <a:ext cx="4476750" cy="438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2EFCC4-8A9C-48D1-82B6-22F0D9EB3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0200"/>
            <a:ext cx="44767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F371BD-FEA0-49FE-9913-5C7B3F699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038350"/>
            <a:ext cx="342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Computational project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F6A13D-F60F-4C08-9B85-CDC8054D9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71750"/>
            <a:ext cx="3714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  <p:txBody>
          <a:bodyPr xmlns:a="http://schemas.openxmlformats.org/drawingml/2006/main" lIns="133350" tIns="76200" rIns="133350" bIns="76200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B2B2B"/>
                </a:solidFill>
                <a:latin typeface="Aptos Mono"/>
                <a:ea typeface="Aptos Mono"/>
                <a:cs typeface="Aptos Mono"/>
              </a:defRPr>
            </a:pPr>
            <a:r>
              <a:rPr sz="1425" b="0">
                <a:solidFill>
                  <a:srgbClr val="2B2B2B"/>
                </a:solidFill>
                <a:latin typeface="Aptos Mono"/>
                <a:ea typeface="Aptos Mono"/>
                <a:cs typeface="Aptos Mono"/>
              </a:rPr>
              <a:t>scripts/generate_all_figures.py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2E618C9-3317-4CD2-A6B5-3C6C50D6C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956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BEA6A51-3B11-4EFC-A294-A9596312F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39090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Run notebooks 04, 05, 06 in cached mode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A0E593D-CF0D-44FB-95FA-98CD0D711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1243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22A8D24-0E53-4A60-B78D-79BFBCB9D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01955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Regenerate coil and fieldline figures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0C06FD2-352D-4CA0-8447-586D4CB5C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7529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4D138D7-1DAE-4F65-9BAD-FC798E163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64820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Record which paths are cached and which are live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C81159D-7946-4ECF-99E8-D98C2F90B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7907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5FEAA59-3F08-4A3A-B66D-C96664DE9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914525"/>
            <a:ext cx="323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ECC4702-4970-4CC5-9966-4A5793265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9240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Open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5CD51D5-82E0-4646-9163-905FBC79B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6289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10F2B7A-3D42-415B-9787-76E6A8DDB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752725"/>
            <a:ext cx="323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5803D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5803D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84AFED8-9F22-452F-A77A-1E0909E25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7622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Run cached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5C65DB0-3BA2-4533-B4BE-F5CB4390A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4671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5FC457B-E804-4346-8221-AEBEDD0A4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590925"/>
            <a:ext cx="323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8DB534A-E186-4091-970E-48A498270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6004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Change one knob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6E236D1-2AA1-42BB-AE14-0C3EBE044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3053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AF8F8A3-D00F-4A5B-B8D6-66C0DBF6F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429125"/>
            <a:ext cx="323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0F32421-71A0-46B5-AE8C-6D8608A42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4386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Explain the plot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A4046D0-4FDD-47F7-8708-AA8BB016D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286375"/>
            <a:ext cx="41148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5541971-AE77-42FA-AD64-866FA672E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5410200"/>
            <a:ext cx="3714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Deliverable: one figure and one defensible sentence.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B9F8219-3038-432E-92CA-A72C224C2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12D55CD-241C-4D6A-9B8E-9C68A9583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A426D5E-AF78-4342-B18B-B9B44AA85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BC96ACD-F795-4A0B-8C5B-4674A7B96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32</a:t>
            </a:r>
          </a:p>
        </p:txBody>
      </p:sp>
    </p:spTree>
    <p:extLst>
      <p:ext uri="{BB962C8B-B14F-4D97-AF65-F5344CB8AC3E}">
        <p14:creationId xmlns:p14="http://schemas.microsoft.com/office/powerpoint/2010/main" val="600326551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DCC7CFC-EDB4-4E9E-9DBA-AF34B9AEA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F9A014-663B-486A-A8B1-44DF8A315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9083552de746ea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43B3F2-7244-4BA4-8272-27DB2DD1C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Exercise: increase the length penalty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AD98EE-B346-49EA-AD25-C40679B8C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D26F5E-663E-4296-8115-F6D040771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00200"/>
            <a:ext cx="323850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2EC1CC-9B41-44ED-B1D6-860D8F142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019300"/>
            <a:ext cx="2381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Try this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715069-2D1C-4028-AB4E-E535E5E56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781300"/>
            <a:ext cx="2238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E5E7E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5E7EB"/>
                </a:solidFill>
                <a:latin typeface="Aptos"/>
                <a:ea typeface="Aptos"/>
                <a:cs typeface="Aptos"/>
              </a:rPr>
              <a:t>5-10 minute classroom exercise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407E39-1833-4B68-8534-EBFE5BC4B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714750"/>
            <a:ext cx="2190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65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4EF54BD-C3C5-4C71-AD8F-CD06886FE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9907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4ACF96-86C5-4D4E-82D3-90B428D17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885950"/>
            <a:ext cx="5524500" cy="635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What improves?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C83D260-FFF5-4D50-AAA5-77F1567DB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7400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6ECADE3-D342-4C38-AA22-028C115BB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635250"/>
            <a:ext cx="5524500" cy="635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What worsens?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DDD24F0-66D4-46AC-8CB5-909B9220D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4893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DB38B04-81EC-4747-A3CE-B3B28D80F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384550"/>
            <a:ext cx="5524500" cy="635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Which metric would you plot before choosing?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CF7E63D-9919-4B1A-9407-5EFEC6BBD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400550"/>
            <a:ext cx="58102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3AE742A-2A41-4B73-B4E6-638AD2D9B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4533900"/>
            <a:ext cx="5391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Expected answer is qualitative: identify the tradeoff, not a magic optimum.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396DAD0-05A2-417E-BDF2-A02B205BD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368CC23-A0DE-4151-AF8B-59B1DE73F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51CA823-5EB7-4DCD-B967-FAEDE4947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2279D38-9AB3-4A43-9114-729A101D2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33</a:t>
            </a:r>
          </a:p>
        </p:txBody>
      </p:sp>
    </p:spTree>
    <p:extLst>
      <p:ext uri="{BB962C8B-B14F-4D97-AF65-F5344CB8AC3E}">
        <p14:creationId xmlns:p14="http://schemas.microsoft.com/office/powerpoint/2010/main" val="1362263667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4D4928C-9381-4EC3-B005-210E02168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E1CA03-4E95-44CD-8D5E-CBAAD1672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5b72ffa74e43e7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44A5A5-25D0-40D8-835D-F84BC91A4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Exercise: choose a coil set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3419D74-041D-436B-87D4-B1460C9C3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C2B542-1100-4EC4-AF90-2DFFE6C07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00200"/>
            <a:ext cx="323850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959B26-C0F4-4156-B293-30CA5EDCC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019300"/>
            <a:ext cx="2381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Try this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B38CF51-0587-4A12-8187-FBE75F85D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781300"/>
            <a:ext cx="2238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E5E7E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5E7EB"/>
                </a:solidFill>
                <a:latin typeface="Aptos"/>
                <a:ea typeface="Aptos"/>
                <a:cs typeface="Aptos"/>
              </a:rPr>
              <a:t>5-10 minute classroom exercise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893235D-CF07-4069-88A6-0DF47BF4B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714750"/>
            <a:ext cx="2190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65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FDFC34F-A00D-4B1D-A43C-A38FD7C5C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9907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76B9B49-15BD-4D7F-BD1B-1E407CB8B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885950"/>
            <a:ext cx="5524500" cy="635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Design A: lower B dot n, higher curvature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E8B966A-0DA0-4AE6-B021-05CFAE4CF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7400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E9F1F69-FF4E-4744-8D68-A8E7AA632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635250"/>
            <a:ext cx="5524500" cy="635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Design B: smoother, worse flux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98C038D-CC3F-49CD-A676-5BB8A93A1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4893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FC9E53E-584E-49BD-A30B-CD8D0F763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384550"/>
            <a:ext cx="5524500" cy="635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Which one survives a first experiment?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A3E5B4E-A346-4355-A077-85565BDA1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400550"/>
            <a:ext cx="58102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7823522-52FA-470E-980A-FABC8F595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4533900"/>
            <a:ext cx="5391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Expected answer is qualitative: identify the tradeoff, not a magic optimum.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9ECC7FD-398D-4AD6-97E9-86C60A96A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EE89FD6-F977-456C-8781-771A3BF4F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5E0C8C9-5C20-4985-8E34-E1EFE55EE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66AD905-4762-4343-8ED6-0E24F0F73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34</a:t>
            </a:r>
          </a:p>
        </p:txBody>
      </p:sp>
    </p:spTree>
    <p:extLst>
      <p:ext uri="{BB962C8B-B14F-4D97-AF65-F5344CB8AC3E}">
        <p14:creationId xmlns:p14="http://schemas.microsoft.com/office/powerpoint/2010/main" val="1572357981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1F23481-7A6F-4B63-9A22-DBC38E28E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30F3D17-B07F-47C1-B65F-C6FF29514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f02d7ab505457b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061907-0B1D-49CF-A769-72005AEC4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Lecture 2 notebook map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BAECE4-9681-41DE-90AA-4F5B10428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6DEB39-EDE3-4103-9FD1-308B25761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372635-6F1A-4626-9532-B9008107A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Design question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B84EBEA-8CB4-484C-BD18-3D5582B5F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A0CDDF-1FE2-4205-90C2-7B0FBF06F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Optimization interpretation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C44637-8753-42BD-90FF-5F5ADEB58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91C0C43-D59E-487A-A7B0-792641B4B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132F182-7A29-4406-A483-6ABF56883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04 stage-2 coils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1A30CE2-0377-408B-BB20-31FF1892D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Use it as a metric, constraint, or validation gate.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1028526-35E7-4E7E-BC8D-A535E6283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C8CBBA0-590C-490F-8A1C-E85B29C5B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12062AD-1EA5-44C8-AD29-ACC8A2BAA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05 single-stage toy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22779D8-8DFD-414D-A6F1-BA56DE329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Use it as a metric, constraint, or validation gate.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EFBBA83-90FF-46D5-9CEC-3B20A24AB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42A92C3-14E7-4D24-A7BE-870BF1B83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6FDE705-4A31-4A9A-9CBB-2AF2AA9A5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06 fieldlines and particles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858B9BE-71D6-4AB2-BE9C-3C61B5506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Use it as a metric, constraint, or validation gate.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7989A35-7688-47EE-8447-77B0722C6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2835ABD-C0B2-4102-9A70-29F8BB661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43053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C803362-0BE1-4AB1-AAE8-8092CAC57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4196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11 Pareto preview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217AAA0-55F7-4B58-ACAF-DEFD25C0E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4196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Use it as a metric, constraint, or validation gate.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12C58D7-DF98-4D54-8BD5-7A1F7E51D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926F063-7534-4A66-B8EF-4322BA8FF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DAD7E6A-D748-4419-A1FB-A15233618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8A1E46A-D9D8-4FB7-87E2-073837155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35</a:t>
            </a:r>
          </a:p>
        </p:txBody>
      </p:sp>
    </p:spTree>
    <p:extLst>
      <p:ext uri="{BB962C8B-B14F-4D97-AF65-F5344CB8AC3E}">
        <p14:creationId xmlns:p14="http://schemas.microsoft.com/office/powerpoint/2010/main" val="202947016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E82B162-2F63-4021-B82B-035B9E4A1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20A349-2065-490D-8680-F3F8E7996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b137b96ca94646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0DBB97-9706-4497-AF63-05191DC74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Five rules from lecture 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60B7B5-0738-46D4-B2B7-4DC056A7E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09A8696-CD7B-473D-852D-8E02CF489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9145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E05CFE-8987-4DAC-A191-1E984D651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809750"/>
            <a:ext cx="8667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Pair every boundary with coils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A8BE835-EDF7-47AC-AE23-B167FCE40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5431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F3A7E96-0526-476D-A01B-DB80116A8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438400"/>
            <a:ext cx="8667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Plot B dot n maps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1D99409-30D0-4B7F-A999-734A37CBF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1718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130D0EF-FB63-4FB2-998E-2EEE68D8D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067050"/>
            <a:ext cx="8667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Keep coil complexity explicit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E57A7B7-F9A2-46D0-94A4-5862FC3A0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8004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EA4A3B8-B144-4122-8991-24DA05A8E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695700"/>
            <a:ext cx="8667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Use continuation for coupled objectives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A95D424-533F-44D5-852B-FD33B9597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4291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7CB22EF-ACB3-40E9-BDF2-04FDE6C5F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324350"/>
            <a:ext cx="8667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Treat engineering as a gate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5C3F0BB-D7AD-417B-904A-545C48C8B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838700"/>
            <a:ext cx="8001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EA3BCFC-1714-4AD0-90C5-C66665F3C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4962525"/>
            <a:ext cx="7524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A good optimization result is a design argument that survives new metrics.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0C8E10B-5CA3-45C1-9064-2936A5A87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FB5E82E-9651-4486-B111-7855149FC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CF4B091-970B-4CA8-B26C-E18D5BC53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AB4909B-8F5F-4D39-B8EF-B3397A5C2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36</a:t>
            </a:r>
          </a:p>
        </p:txBody>
      </p:sp>
    </p:spTree>
    <p:extLst>
      <p:ext uri="{BB962C8B-B14F-4D97-AF65-F5344CB8AC3E}">
        <p14:creationId xmlns:p14="http://schemas.microsoft.com/office/powerpoint/2010/main" val="1964065615"/>
      </p:ext>
    </p:extLst>
  </p:cSld>
</p:sld>
</file>

<file path=ppt/slides/slide3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9B1BD3D-6B95-4A8D-8933-65AD9ACC8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ABEE3C-156B-4B53-9055-7F0AA11E3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6ae542de784bc3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C0E3E0-F4EF-485B-9DEB-E48659CF7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Extra slide 2.37: stage-2 objective terms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2D90DB-3407-4332-B91B-B88AC0603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6A9D0F-7F79-4873-A70B-588C77805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375719-FF72-45CD-83BA-86C958176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19EDFC1-9514-4D7C-ABC7-BB3B8CAD8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27780B5-86C9-4A5D-88E5-093623012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What would you trust in cached mode?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B18E1CD-B7EE-47B2-8BD8-C6C08BB3A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85B2D1E-16E9-42AB-B3F2-CE82F6967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65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1297298-41EA-4075-804A-E8CE573F9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8376E61-0EB6-4A76-BF0E-E081BFD39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What would require a real-code run?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8E5ED4D-5274-4A20-9A67-A31F3C573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27C12DF-6053-4A0F-BD8A-B163F560E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3D37CCF-647D-45F6-9158-5748F260F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1EB86A7-E3A7-4FCE-AC2A-BE20E62F5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Which diagnostic should be recorded in STATUS.md?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BD3FC0C-D2C9-42FF-9A0D-23FC19681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FBA436B-3566-4621-B1BB-98D7C7466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Class use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114B7EA-4345-4976-9956-908195660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Connect the concept to one objective, one plot, and one exercise.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CAE260A-929E-4C2B-AD4F-34F5B542C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94ACC40-5E3F-40C5-8CA8-C1FE7643A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C533234-45E3-44AB-A0AB-9592B23FA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972A816-C5A6-4054-BDDB-E11D485E3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37</a:t>
            </a:r>
          </a:p>
        </p:txBody>
      </p:sp>
    </p:spTree>
    <p:extLst>
      <p:ext uri="{BB962C8B-B14F-4D97-AF65-F5344CB8AC3E}">
        <p14:creationId xmlns:p14="http://schemas.microsoft.com/office/powerpoint/2010/main" val="1287550338"/>
      </p:ext>
    </p:extLst>
  </p:cSld>
</p:sld>
</file>

<file path=ppt/slides/slide3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E97B783-BB5C-4E2C-B717-771E0A091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6644F93-0D8A-4AE7-8B51-95C32838C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44a7d60c5542ef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3A6CA1-7820-4249-84CB-573536A2D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Extra slide 2.38: SIMSOPT research path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5C2046-9A29-4839-8D74-5EFC3F7CA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C8F546-0562-4557-9BC0-431A2D4AA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B849ACC-5BEE-4528-A1F4-D6A97748E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D7314A-4F95-4BA5-A3E5-C97F0A103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060DCF9-CC69-41D9-9F59-DBDF4F500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What would you trust in cached mode?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CEA93A-D9CA-479B-9A39-E51868C0A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2591AD8-380B-4D8A-AC23-B769FB64F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65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091C35-F2B1-4E58-99B6-8E9833F84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F6CA8FA-A2CF-405D-94B7-A162C2BEE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What would require a real-code run?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45A43A6-9794-442A-B166-4940F69FE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754180E-226A-4349-B4A4-18217151B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1842188-3E70-47D9-B5A9-5D6DD612C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7259866-F549-45F3-8215-6EF3AC402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Which diagnostic should be recorded in STATUS.md?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A1ED878-DEC0-4714-96BF-56D96ACC7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4ECE156-24F5-4E7B-B341-B9FC879D8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Class use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95A65B0-914B-4E4E-8465-0A27C4222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Connect the concept to one objective, one plot, and one exercise.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FB10D3B-0D37-4E5E-8756-251D055B8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B2B59E7-CF15-42A7-B549-23E866DE1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C51AE29-D3D9-402E-A385-B4C4DBB6F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2A45EDE-5DF6-4F45-BA0C-5FC2C6C29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38</a:t>
            </a:r>
          </a:p>
        </p:txBody>
      </p:sp>
    </p:spTree>
    <p:extLst>
      <p:ext uri="{BB962C8B-B14F-4D97-AF65-F5344CB8AC3E}">
        <p14:creationId xmlns:p14="http://schemas.microsoft.com/office/powerpoint/2010/main" val="201029988"/>
      </p:ext>
    </p:extLst>
  </p:cSld>
</p:sld>
</file>

<file path=ppt/slides/slide3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3960027-0986-4233-A81A-D5B1AA3CA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761E06-3299-4D8A-B7DD-0F81CC15F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a206f9e73148bf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8AD16B-9F52-428D-8438-CFDC2EA76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Extra slide 2.39: fieldline vs particle metrics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E61A6E-88BD-445F-AC54-72F98C08F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0900B1-BE6B-4B6B-AD1E-C9156528D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7DED80-681B-40D1-BE56-2498FDB5A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821F298-F01D-4484-A551-522AACC63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7B00F2-82C6-48C1-8D63-F3DB6A12D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What would you trust in cached mode?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2E84598-F302-4D4D-A5ED-1845270A0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FE67B37-B0AF-4B00-9FFD-5AA0D47F6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65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FBBE978-966F-45C3-8719-7E299DBBD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4762A65-9D71-42FE-9A98-0D168DA59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What would require a real-code run?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F7A714D-DB23-4013-9555-535E77D6C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5C5F83F-A98E-4A27-833C-3ACCB0142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C44268B-1A30-44B7-B0EA-3E476AF8A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1A6D7FD-F8A3-47DA-9456-DCBAD5719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Which diagnostic should be recorded in STATUS.md?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3340A68-F74F-4671-A180-9DA705150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BA928DA-0779-49C1-BFC1-BCBAADBAD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Class use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525C55D-AE94-46FB-B999-1DE83654F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Connect the concept to one objective, one plot, and one exercise.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AB16D9E-7182-4216-AE48-8394A4BCD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D447B81-E419-4BA8-9991-B31341516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4671FAE-6132-4DEC-848A-2E8CD01A9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E9B9553-235D-418D-B5C1-8B1FB2970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39</a:t>
            </a:r>
          </a:p>
        </p:txBody>
      </p:sp>
    </p:spTree>
    <p:extLst>
      <p:ext uri="{BB962C8B-B14F-4D97-AF65-F5344CB8AC3E}">
        <p14:creationId xmlns:p14="http://schemas.microsoft.com/office/powerpoint/2010/main" val="1945047912"/>
      </p:ext>
    </p:extLst>
  </p:cSld>
</p:sld>
</file>

<file path=ppt/slides/slide4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11AE6DF-1F52-4FB4-A00B-FA24E2232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08CA41-A955-4736-A526-0C4DD29DE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73fbf085ec4438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DC8939-8550-40B1-A0C4-422834C93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Extra slide 2.40: single-stage acceptance checks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EB5DCE-4A59-4A6F-A333-E82F9744E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6A3AFC6-2C7D-46AE-A656-D695E6578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D56927-2584-4266-989C-DF2E02479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7E297A7-2BD2-4D6E-A183-4D7CDDE7B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FFA873-9A5A-4597-8A0A-CC9F29823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What would you trust in cached mode?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10F0FD-5E17-4659-A3DA-FB9867C78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339074-1EEB-433C-9B4A-148985D58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65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4883E08-A372-43FA-954A-2C332291B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145DE30-6C19-4412-86F6-3D0806587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What would require a real-code run?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38CB1AC-BD8A-4883-9D4F-1E42A40E8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0BF08CC-85F7-472D-9E1B-F9B522BD9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CA0F48D-C273-4062-BD17-E865BA289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EAC5207-05D6-4CCF-B0DC-BE119FAFD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Which diagnostic should be recorded in STATUS.md?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FA2BE16-6A47-4556-ABD5-9BFEB13F7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C183EA0-D430-49BD-BC83-718D78A7B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Class use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03AA69F-72F0-449C-97E9-0BECC6B1A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Connect the concept to one objective, one plot, and one exercise.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5E4D66A-0C2D-4246-9B64-EB4F432C8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05C4A3D-E93F-4399-967C-1196317AE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284F85F-CC99-4948-A8F2-38C857026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D056FCB-71C5-4181-938F-88481235B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40</a:t>
            </a:r>
          </a:p>
        </p:txBody>
      </p:sp>
    </p:spTree>
    <p:extLst>
      <p:ext uri="{BB962C8B-B14F-4D97-AF65-F5344CB8AC3E}">
        <p14:creationId xmlns:p14="http://schemas.microsoft.com/office/powerpoint/2010/main" val="140959200"/>
      </p:ext>
    </p:extLst>
  </p:cSld>
</p:sld>
</file>

<file path=ppt/slides/slide4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2868EFA-2B85-4B06-A901-DAA92A606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BC3BF4-93CB-47C0-B576-AF827C13F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25928687c0541b5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0EE13DC-749F-4F50-9A0A-3621A3AAB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Extra slide 2.41: coil robustness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4728DB-7621-48B3-8FC2-8F6AEE574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B3AE16-664A-41A8-A081-C9F025D13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23C33E-4F70-402D-B544-3540EA9AF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A0FC95-8A6E-4E52-961B-55D41FC26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8BB566A-E720-4F6C-A67D-EC5667ECC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What would you trust in cached mode?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88E37BF-64A1-4CEA-B75D-6EE881BF2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9D382B8-9A1C-4F6B-9BCF-76BDC72A8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65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4ADA35-F2B1-4D1F-BAFE-95A980BAF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31C66D2-D77C-4685-AEE7-AB2665254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What would require a real-code run?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63E5BE3-595B-4F37-9051-0B6AC6418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025A527-34D6-4BCF-A1DE-F647E5685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E0246FA-CE84-439F-9050-B6DDC18F1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9921327-04CF-481F-9FCA-A39F5B6CE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Which diagnostic should be recorded in STATUS.md?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3380C24-7E46-4A9B-B13F-770CA2933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51D8CC9-B02F-4BA8-9AC9-ED0825550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Class use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AA78B06-4BE7-421E-A927-B67DBBD20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Connect the concept to one objective, one plot, and one exercise.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1A8C230-0F11-47FC-BBD9-173C5A196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A8DEA06-33A4-471D-87C6-D8E007F19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4E75D29-CED4-4955-A450-CF514A1D0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96E3C50-A414-4465-A980-4FBD2C20E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41</a:t>
            </a:r>
          </a:p>
        </p:txBody>
      </p:sp>
    </p:spTree>
    <p:extLst>
      <p:ext uri="{BB962C8B-B14F-4D97-AF65-F5344CB8AC3E}">
        <p14:creationId xmlns:p14="http://schemas.microsoft.com/office/powerpoint/2010/main" val="41340147"/>
      </p:ext>
    </p:extLst>
  </p:cSld>
</p:sld>
</file>

<file path=ppt/slides/slide4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3EC1CAC-3F2E-4066-9049-C0DF16FB8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B74E5B7-5AC5-4BBB-8FE8-E8BC3F0DF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6053082d194bd3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030C07-1D49-4EE4-8723-24D8020AB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Extra slide 2.42: stage-2 objective terms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A58C75-70DC-4EAE-8C66-993DB4806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F95A474-E027-4C77-8C40-8CCC2A484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AA0FEA-6F4B-4772-80BB-511C462A4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8A8736E-7B6C-490C-B8E0-ED1A12C6A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9E6938-51BB-494B-B7CE-2BC988661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What would you trust in cached mode?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04AA21F-A03C-4CF1-8814-FF17D9620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E6DD35E-375D-4EC7-8533-DF5FDDF94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65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0DFE1CC-52C7-4A8D-AEFB-885D4B336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FE27BF4-B3A8-44EE-A290-41789CAA1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What would require a real-code run?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3B60DC2-1770-4D38-84E3-675DD3BFA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C2DDCCD-4683-446D-B66C-F2555889C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B6AB16D-D1C6-45B9-92C5-17CC95DE5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E50B587-55DB-4A2F-913F-D35520598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Which diagnostic should be recorded in STATUS.md?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82D211D-836A-4757-B23A-26150C44A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294EE1E-43C1-4261-9FE2-02D5B6994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Class use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DB64E76-028C-493C-B7FD-2906C43D2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Connect the concept to one objective, one plot, and one exercise.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FBE86CF-403E-4E09-8DF5-055487752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8E1B1F3-57CB-44C3-860C-7D1648199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028E418-955F-4354-8F31-40BD7F767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AE99E9D-9264-4E40-B11E-FB65435F2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42</a:t>
            </a:r>
          </a:p>
        </p:txBody>
      </p:sp>
    </p:spTree>
    <p:extLst>
      <p:ext uri="{BB962C8B-B14F-4D97-AF65-F5344CB8AC3E}">
        <p14:creationId xmlns:p14="http://schemas.microsoft.com/office/powerpoint/2010/main" val="448814881"/>
      </p:ext>
    </p:extLst>
  </p:cSld>
</p:sld>
</file>

<file path=ppt/slides/slide4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DC8F3CD-03F7-4BF6-8DEC-078087255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A26797-C885-43EC-925C-792BA5E96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42720e96e549ab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378647-AAAE-441C-8471-FF44E847B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Extra slide 2.43: SIMSOPT research path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EA136F-E689-41AE-A331-529766CF8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7EB494-74C0-4843-BCF9-C2621C974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772D03-5D60-45F2-8EE1-2A3FD9B28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910A77D-62E6-4459-BB13-CDF4ECE7D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E9F19C-7560-471B-9963-DD16FAC8E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What would you trust in cached mode?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BD95093-7BC0-48D1-BE92-069DE591F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3FE0979-90B8-4CD1-88DE-CEC2AAACA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65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8D67550-5860-4419-A6C9-2C883567F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4BE0B6C-15EE-4383-A97D-549A7C6D2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What would require a real-code run?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B8F2CCB-0188-4F9F-ADEE-D51D5EC0C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1FF6CC8-7999-4D1A-BFF6-D03B51993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A80D034-F931-44AA-A274-2F9AA0B40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A10575A-48FD-4685-AA6E-6D68D53B9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Which diagnostic should be recorded in STATUS.md?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0235873-378D-481A-B462-E2F331CE3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834C8D2-96E0-4CD6-90A3-F0F5D7A16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Class use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69740D9-389F-4B7C-B6D1-31051E50E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Connect the concept to one objective, one plot, and one exercise.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0276720-BB92-46C3-B412-E8D93823D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E46A02F-A803-4F25-89D4-ACC44A173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2849EF2-DE0C-4564-95C3-DAF2BD297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2B6A2BF-B928-4F4D-B1BF-E6190F66A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43</a:t>
            </a:r>
          </a:p>
        </p:txBody>
      </p:sp>
    </p:spTree>
    <p:extLst>
      <p:ext uri="{BB962C8B-B14F-4D97-AF65-F5344CB8AC3E}">
        <p14:creationId xmlns:p14="http://schemas.microsoft.com/office/powerpoint/2010/main" val="437945093"/>
      </p:ext>
    </p:extLst>
  </p:cSld>
</p:sld>
</file>

<file path=ppt/slides/slide4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7319DF3-B200-4A1B-B25E-6207DBFDC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619D37-73BD-459E-BB58-5235539CE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37941ee2424409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39E9AE3-DED9-4534-9ADA-A3B90E674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Extra slide 2.44: fieldline vs particle metrics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0FB84E-454D-4733-95F7-FEC088A68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9733DA-B999-4C44-9877-24C1BB5D3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C284FA-161D-45A6-9B77-92B7461FE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617534E-0905-4BF4-9BD8-9CDF1252E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B3D3E64-FC40-4FAD-BEF6-06CAD875C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What would you trust in cached mode?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D716714-CFFC-46BC-8633-E4EAA3955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1AA345-C83B-40B5-864B-FF5D3C15C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65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A885724-ECBF-4837-B715-DB0D60FE0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4542C91-6F61-4F8C-AE8E-99D312234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What would require a real-code run?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975B646-19F5-4D0C-A9DD-5815CD668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DBCDFB3-C08B-4201-814F-22179E5F6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692CD98-448B-4630-848B-096042086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73064CD-2AF0-40F1-B948-32245E8C8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Which diagnostic should be recorded in STATUS.md?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5FB3491-5484-4BCC-8BD7-BE3B24396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2190712-4434-4592-BB16-A636D92B0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Class use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D80E016-F5BE-4B1A-8AE5-882A828D8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Connect the concept to one objective, one plot, and one exercise.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76AB022-5680-485D-A036-66A3DAF0B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EF0F28D-AF1B-4600-A6E5-B6D26B94C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0D62690-5C89-4D18-835E-8AEDAD572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1167377-1576-4C3A-80ED-A9F5DF54A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44</a:t>
            </a:r>
          </a:p>
        </p:txBody>
      </p:sp>
    </p:spTree>
    <p:extLst>
      <p:ext uri="{BB962C8B-B14F-4D97-AF65-F5344CB8AC3E}">
        <p14:creationId xmlns:p14="http://schemas.microsoft.com/office/powerpoint/2010/main" val="761849947"/>
      </p:ext>
    </p:extLst>
  </p:cSld>
</p:sld>
</file>

<file path=ppt/slides/slide4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DA77FEA-232B-486E-8ADC-D1B6BE29E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4B08BE-97C5-481B-89B6-1FBB5C68B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F732D7-F9A8-4EE3-A0E2-7CD751288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63e50977694982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1A7D56-7835-428F-843F-E31F41DB8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714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Lecture 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F0085E-C9C0-413B-A3C8-0C29568D3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78105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40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Lecture 2 close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8F489C-3CF6-4A34-9793-5BBD0CFF5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2890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6A421CE-B94A-48DD-BB7C-8805E5B98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3623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37F5B2-B711-42A9-B8FB-3EF03C37F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257550"/>
            <a:ext cx="7810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Keep the scientific object and the computed artifact together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C77CC54-1520-43A1-BCCB-D8D79D267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86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3417FB4-A2D2-4D34-8A9B-8DE50B34B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981450"/>
            <a:ext cx="7810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Use the notebooks to rerun, perturb, compare, and explain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9434482-73DC-44AD-813D-D6E75847A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829300"/>
            <a:ext cx="7734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B7DA2E4-89D0-40C4-84D1-EEEEE3F92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57900"/>
            <a:ext cx="7810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Repo lab handoff: rerun, perturb, compare, explain.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DF50D17-310B-47C9-B65D-A4CB77A6B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45</a:t>
            </a:r>
          </a:p>
        </p:txBody>
      </p:sp>
    </p:spTree>
    <p:extLst>
      <p:ext uri="{BB962C8B-B14F-4D97-AF65-F5344CB8AC3E}">
        <p14:creationId xmlns:p14="http://schemas.microsoft.com/office/powerpoint/2010/main" val="722494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2026-05-23T14:08:57.5120000Z</dcterms:created>
  <dcterms:modified xsi:type="dcterms:W3CDTF">2026-05-23T14:08:57.5120000Z</dcterms:modified>
</coreProperties>
</file>