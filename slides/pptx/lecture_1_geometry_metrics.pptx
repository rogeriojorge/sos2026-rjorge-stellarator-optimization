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41130f2ea54349" /><Relationship Type="http://schemas.openxmlformats.org/officeDocument/2006/relationships/extended-properties" Target="/docProps/app.xml" Id="Rf5cc32c330274e62" /><Relationship Type="http://schemas.openxmlformats.org/officeDocument/2006/relationships/officeDocument" Target="/ppt/presentation.xml" Id="Ra08804ce0a4640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23da63e00446d2"/>
  </p:sldMasterIdLst>
  <p:notesMasterIdLst>
    <p:notesMasterId xmlns:r="http://schemas.openxmlformats.org/officeDocument/2006/relationships" r:id="Rf12b43ced0c34ff7"/>
  </p:notesMasterIdLst>
  <p:sldIdLst>
    <p:sldId xmlns:r="http://schemas.openxmlformats.org/officeDocument/2006/relationships" id="256" r:id="Rfd397d483b2f4a28"/>
    <p:sldId xmlns:r="http://schemas.openxmlformats.org/officeDocument/2006/relationships" id="257" r:id="Rfe6b6ffd34a54f85"/>
    <p:sldId xmlns:r="http://schemas.openxmlformats.org/officeDocument/2006/relationships" id="258" r:id="R83d8913577244bb0"/>
    <p:sldId xmlns:r="http://schemas.openxmlformats.org/officeDocument/2006/relationships" id="259" r:id="Rffacf5ac9ee44f7a"/>
    <p:sldId xmlns:r="http://schemas.openxmlformats.org/officeDocument/2006/relationships" id="260" r:id="Rf9a1b40b1cbe4415"/>
    <p:sldId xmlns:r="http://schemas.openxmlformats.org/officeDocument/2006/relationships" id="261" r:id="R460bdfd47f9d4c4f"/>
    <p:sldId xmlns:r="http://schemas.openxmlformats.org/officeDocument/2006/relationships" id="262" r:id="R6604b123ebfc4155"/>
    <p:sldId xmlns:r="http://schemas.openxmlformats.org/officeDocument/2006/relationships" id="263" r:id="Reb2dfb9e5f474c13"/>
    <p:sldId xmlns:r="http://schemas.openxmlformats.org/officeDocument/2006/relationships" id="264" r:id="R4d3055473a774cac"/>
    <p:sldId xmlns:r="http://schemas.openxmlformats.org/officeDocument/2006/relationships" id="265" r:id="R0a1926bbe80a4be3"/>
    <p:sldId xmlns:r="http://schemas.openxmlformats.org/officeDocument/2006/relationships" id="266" r:id="R8d76d14c1a6b40d9"/>
    <p:sldId xmlns:r="http://schemas.openxmlformats.org/officeDocument/2006/relationships" id="267" r:id="R45c858c2f0094fd5"/>
    <p:sldId xmlns:r="http://schemas.openxmlformats.org/officeDocument/2006/relationships" id="268" r:id="R9c47d161308d424d"/>
    <p:sldId xmlns:r="http://schemas.openxmlformats.org/officeDocument/2006/relationships" id="269" r:id="R03b3bae664454a5f"/>
    <p:sldId xmlns:r="http://schemas.openxmlformats.org/officeDocument/2006/relationships" id="270" r:id="R0c1e5aba6f974334"/>
    <p:sldId xmlns:r="http://schemas.openxmlformats.org/officeDocument/2006/relationships" id="271" r:id="R7c8c1888dee24bb9"/>
    <p:sldId xmlns:r="http://schemas.openxmlformats.org/officeDocument/2006/relationships" id="272" r:id="R1126f44763914841"/>
    <p:sldId xmlns:r="http://schemas.openxmlformats.org/officeDocument/2006/relationships" id="273" r:id="R0725c3ffb1a6448f"/>
    <p:sldId xmlns:r="http://schemas.openxmlformats.org/officeDocument/2006/relationships" id="274" r:id="Ra84a886a39e648af"/>
    <p:sldId xmlns:r="http://schemas.openxmlformats.org/officeDocument/2006/relationships" id="275" r:id="R2d156b8e673f49fb"/>
    <p:sldId xmlns:r="http://schemas.openxmlformats.org/officeDocument/2006/relationships" id="276" r:id="R49eefb5c5fbc4d7e"/>
    <p:sldId xmlns:r="http://schemas.openxmlformats.org/officeDocument/2006/relationships" id="277" r:id="R37e12a93c4234a6f"/>
    <p:sldId xmlns:r="http://schemas.openxmlformats.org/officeDocument/2006/relationships" id="278" r:id="R12e043bc02534685"/>
    <p:sldId xmlns:r="http://schemas.openxmlformats.org/officeDocument/2006/relationships" id="279" r:id="Rd899c1238f2942b7"/>
    <p:sldId xmlns:r="http://schemas.openxmlformats.org/officeDocument/2006/relationships" id="280" r:id="Rb818f1b0c9724ca8"/>
    <p:sldId xmlns:r="http://schemas.openxmlformats.org/officeDocument/2006/relationships" id="281" r:id="Rc19405b951b24e6c"/>
    <p:sldId xmlns:r="http://schemas.openxmlformats.org/officeDocument/2006/relationships" id="282" r:id="Rf20f761ddea04962"/>
    <p:sldId xmlns:r="http://schemas.openxmlformats.org/officeDocument/2006/relationships" id="283" r:id="R8b0c1208649742b1"/>
    <p:sldId xmlns:r="http://schemas.openxmlformats.org/officeDocument/2006/relationships" id="284" r:id="R81b308d60a344a76"/>
    <p:sldId xmlns:r="http://schemas.openxmlformats.org/officeDocument/2006/relationships" id="285" r:id="Rc874e9b6f7b54680"/>
    <p:sldId xmlns:r="http://schemas.openxmlformats.org/officeDocument/2006/relationships" id="286" r:id="R2dfe0e529b874c0c"/>
    <p:sldId xmlns:r="http://schemas.openxmlformats.org/officeDocument/2006/relationships" id="287" r:id="R61171077abcb454b"/>
    <p:sldId xmlns:r="http://schemas.openxmlformats.org/officeDocument/2006/relationships" id="288" r:id="R26c04d775c9244cf"/>
    <p:sldId xmlns:r="http://schemas.openxmlformats.org/officeDocument/2006/relationships" id="289" r:id="Rc77863142580438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23da63e00446d2" /><Relationship Type="http://schemas.openxmlformats.org/officeDocument/2006/relationships/theme" Target="/ppt/theme/theme1.xml" Id="R065ed76c5bcc4213" /><Relationship Type="http://schemas.openxmlformats.org/officeDocument/2006/relationships/notesMaster" Target="/ppt/notesMasters/notesMaster1.xml" Id="Rf12b43ced0c34ff7" /><Relationship Type="http://schemas.openxmlformats.org/officeDocument/2006/relationships/presProps" Target="/ppt/presProps.xml" Id="R13fb171848aa42e7" /><Relationship Type="http://schemas.openxmlformats.org/officeDocument/2006/relationships/viewProps" Target="/ppt/viewProps.xml" Id="R3bae4db5cd97486e" /><Relationship Type="http://schemas.openxmlformats.org/officeDocument/2006/relationships/tableStyles" Target="/ppt/tableStyles.xml" Id="R67321090f68e4389" /><Relationship Type="http://schemas.openxmlformats.org/officeDocument/2006/relationships/slide" Target="/ppt/slides/slide1.xml" Id="Rfd397d483b2f4a28" /><Relationship Type="http://schemas.openxmlformats.org/officeDocument/2006/relationships/slide" Target="/ppt/slides/slide2.xml" Id="Rfe6b6ffd34a54f85" /><Relationship Type="http://schemas.openxmlformats.org/officeDocument/2006/relationships/slide" Target="/ppt/slides/slide3.xml" Id="R83d8913577244bb0" /><Relationship Type="http://schemas.openxmlformats.org/officeDocument/2006/relationships/slide" Target="/ppt/slides/slide4.xml" Id="Rffacf5ac9ee44f7a" /><Relationship Type="http://schemas.openxmlformats.org/officeDocument/2006/relationships/slide" Target="/ppt/slides/slide5.xml" Id="Rf9a1b40b1cbe4415" /><Relationship Type="http://schemas.openxmlformats.org/officeDocument/2006/relationships/slide" Target="/ppt/slides/slide6.xml" Id="R460bdfd47f9d4c4f" /><Relationship Type="http://schemas.openxmlformats.org/officeDocument/2006/relationships/slide" Target="/ppt/slides/slide7.xml" Id="R6604b123ebfc4155" /><Relationship Type="http://schemas.openxmlformats.org/officeDocument/2006/relationships/slide" Target="/ppt/slides/slide8.xml" Id="Reb2dfb9e5f474c13" /><Relationship Type="http://schemas.openxmlformats.org/officeDocument/2006/relationships/slide" Target="/ppt/slides/slide9.xml" Id="R4d3055473a774cac" /><Relationship Type="http://schemas.openxmlformats.org/officeDocument/2006/relationships/slide" Target="/ppt/slides/slide10.xml" Id="R0a1926bbe80a4be3" /><Relationship Type="http://schemas.openxmlformats.org/officeDocument/2006/relationships/slide" Target="/ppt/slides/slide11.xml" Id="R8d76d14c1a6b40d9" /><Relationship Type="http://schemas.openxmlformats.org/officeDocument/2006/relationships/slide" Target="/ppt/slides/slide12.xml" Id="R45c858c2f0094fd5" /><Relationship Type="http://schemas.openxmlformats.org/officeDocument/2006/relationships/slide" Target="/ppt/slides/slide13.xml" Id="R9c47d161308d424d" /><Relationship Type="http://schemas.openxmlformats.org/officeDocument/2006/relationships/slide" Target="/ppt/slides/slide14.xml" Id="R03b3bae664454a5f" /><Relationship Type="http://schemas.openxmlformats.org/officeDocument/2006/relationships/slide" Target="/ppt/slides/slide15.xml" Id="R0c1e5aba6f974334" /><Relationship Type="http://schemas.openxmlformats.org/officeDocument/2006/relationships/slide" Target="/ppt/slides/slide16.xml" Id="R7c8c1888dee24bb9" /><Relationship Type="http://schemas.openxmlformats.org/officeDocument/2006/relationships/slide" Target="/ppt/slides/slide17.xml" Id="R1126f44763914841" /><Relationship Type="http://schemas.openxmlformats.org/officeDocument/2006/relationships/slide" Target="/ppt/slides/slide18.xml" Id="R0725c3ffb1a6448f" /><Relationship Type="http://schemas.openxmlformats.org/officeDocument/2006/relationships/slide" Target="/ppt/slides/slide19.xml" Id="Ra84a886a39e648af" /><Relationship Type="http://schemas.openxmlformats.org/officeDocument/2006/relationships/slide" Target="/ppt/slides/slide20.xml" Id="R2d156b8e673f49fb" /><Relationship Type="http://schemas.openxmlformats.org/officeDocument/2006/relationships/slide" Target="/ppt/slides/slide21.xml" Id="R49eefb5c5fbc4d7e" /><Relationship Type="http://schemas.openxmlformats.org/officeDocument/2006/relationships/slide" Target="/ppt/slides/slide22.xml" Id="R37e12a93c4234a6f" /><Relationship Type="http://schemas.openxmlformats.org/officeDocument/2006/relationships/slide" Target="/ppt/slides/slide23.xml" Id="R12e043bc02534685" /><Relationship Type="http://schemas.openxmlformats.org/officeDocument/2006/relationships/slide" Target="/ppt/slides/slide24.xml" Id="Rd899c1238f2942b7" /><Relationship Type="http://schemas.openxmlformats.org/officeDocument/2006/relationships/slide" Target="/ppt/slides/slide25.xml" Id="Rb818f1b0c9724ca8" /><Relationship Type="http://schemas.openxmlformats.org/officeDocument/2006/relationships/slide" Target="/ppt/slides/slide26.xml" Id="Rc19405b951b24e6c" /><Relationship Type="http://schemas.openxmlformats.org/officeDocument/2006/relationships/slide" Target="/ppt/slides/slide27.xml" Id="Rf20f761ddea04962" /><Relationship Type="http://schemas.openxmlformats.org/officeDocument/2006/relationships/slide" Target="/ppt/slides/slide28.xml" Id="R8b0c1208649742b1" /><Relationship Type="http://schemas.openxmlformats.org/officeDocument/2006/relationships/slide" Target="/ppt/slides/slide29.xml" Id="R81b308d60a344a76" /><Relationship Type="http://schemas.openxmlformats.org/officeDocument/2006/relationships/slide" Target="/ppt/slides/slide30.xml" Id="Rc874e9b6f7b54680" /><Relationship Type="http://schemas.openxmlformats.org/officeDocument/2006/relationships/slide" Target="/ppt/slides/slide31.xml" Id="R2dfe0e529b874c0c" /><Relationship Type="http://schemas.openxmlformats.org/officeDocument/2006/relationships/slide" Target="/ppt/slides/slide32.xml" Id="R61171077abcb454b" /><Relationship Type="http://schemas.openxmlformats.org/officeDocument/2006/relationships/slide" Target="/ppt/slides/slide33.xml" Id="R26c04d775c9244cf" /><Relationship Type="http://schemas.openxmlformats.org/officeDocument/2006/relationships/slide" Target="/ppt/slides/slide34.xml" Id="Rc7786314258043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cec5a3320e741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81c8e88d9240b8" /><Relationship Type="http://schemas.openxmlformats.org/officeDocument/2006/relationships/notesMaster" Target="/ppt/notesMasters/notesMaster1.xml" Id="R28c423c911b94a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06fe38c8124d95" /><Relationship Type="http://schemas.openxmlformats.org/officeDocument/2006/relationships/notesMaster" Target="/ppt/notesMasters/notesMaster1.xml" Id="R34c0ffe0adef4d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f4dc420ce64bf8" /><Relationship Type="http://schemas.openxmlformats.org/officeDocument/2006/relationships/notesMaster" Target="/ppt/notesMasters/notesMaster1.xml" Id="R244b99c11eb647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adf4afa6274db3" /><Relationship Type="http://schemas.openxmlformats.org/officeDocument/2006/relationships/notesMaster" Target="/ppt/notesMasters/notesMaster1.xml" Id="R587d88b647d54f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280d1a8627478d" /><Relationship Type="http://schemas.openxmlformats.org/officeDocument/2006/relationships/notesMaster" Target="/ppt/notesMasters/notesMaster1.xml" Id="Red81e86b588b43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f599b9893b4252" /><Relationship Type="http://schemas.openxmlformats.org/officeDocument/2006/relationships/notesMaster" Target="/ppt/notesMasters/notesMaster1.xml" Id="Rc7ca68a2cf9245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df8d2babb94496" /><Relationship Type="http://schemas.openxmlformats.org/officeDocument/2006/relationships/notesMaster" Target="/ppt/notesMasters/notesMaster1.xml" Id="R7b95cc1bb90048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349119ab3f4b5f" /><Relationship Type="http://schemas.openxmlformats.org/officeDocument/2006/relationships/notesMaster" Target="/ppt/notesMasters/notesMaster1.xml" Id="Ra34a50bdaa5a4e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6e7d005a74497b" /><Relationship Type="http://schemas.openxmlformats.org/officeDocument/2006/relationships/notesMaster" Target="/ppt/notesMasters/notesMaster1.xml" Id="Rc585849c9a6645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b480b78e024306" /><Relationship Type="http://schemas.openxmlformats.org/officeDocument/2006/relationships/notesMaster" Target="/ppt/notesMasters/notesMaster1.xml" Id="R115299df7abf47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06c630ba904cfa" /><Relationship Type="http://schemas.openxmlformats.org/officeDocument/2006/relationships/notesMaster" Target="/ppt/notesMasters/notesMaster1.xml" Id="Re91b7af6f29141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3377df701f412a" /><Relationship Type="http://schemas.openxmlformats.org/officeDocument/2006/relationships/notesMaster" Target="/ppt/notesMasters/notesMaster1.xml" Id="R3da15cb8fcd542f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54af5be4eb4bca" /><Relationship Type="http://schemas.openxmlformats.org/officeDocument/2006/relationships/notesMaster" Target="/ppt/notesMasters/notesMaster1.xml" Id="Rafb59634220240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2caf8c6a5944df" /><Relationship Type="http://schemas.openxmlformats.org/officeDocument/2006/relationships/notesMaster" Target="/ppt/notesMasters/notesMaster1.xml" Id="R4d69031b4dfa4b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79d299d05f494e" /><Relationship Type="http://schemas.openxmlformats.org/officeDocument/2006/relationships/notesMaster" Target="/ppt/notesMasters/notesMaster1.xml" Id="Rabdbd963abf0450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60fed6a50f740c0" /><Relationship Type="http://schemas.openxmlformats.org/officeDocument/2006/relationships/notesMaster" Target="/ppt/notesMasters/notesMaster1.xml" Id="Reedcc69c2b3b492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095598335544eb" /><Relationship Type="http://schemas.openxmlformats.org/officeDocument/2006/relationships/notesMaster" Target="/ppt/notesMasters/notesMaster1.xml" Id="Re4f3e5b97bbd4fa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fd2c865e254f83" /><Relationship Type="http://schemas.openxmlformats.org/officeDocument/2006/relationships/notesMaster" Target="/ppt/notesMasters/notesMaster1.xml" Id="R1292181aec7d480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121558862d54cb8" /><Relationship Type="http://schemas.openxmlformats.org/officeDocument/2006/relationships/notesMaster" Target="/ppt/notesMasters/notesMaster1.xml" Id="R56bd80954bf34b3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d89eb19cfd849a4" /><Relationship Type="http://schemas.openxmlformats.org/officeDocument/2006/relationships/notesMaster" Target="/ppt/notesMasters/notesMaster1.xml" Id="Rcda345ada6774cc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f7dcc44828e40d5" /><Relationship Type="http://schemas.openxmlformats.org/officeDocument/2006/relationships/notesMaster" Target="/ppt/notesMasters/notesMaster1.xml" Id="Rf3ab3c2ecc4f417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07ab31212184786" /><Relationship Type="http://schemas.openxmlformats.org/officeDocument/2006/relationships/notesMaster" Target="/ppt/notesMasters/notesMaster1.xml" Id="R0949a748947546c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60e7b0760db41a3" /><Relationship Type="http://schemas.openxmlformats.org/officeDocument/2006/relationships/notesMaster" Target="/ppt/notesMasters/notesMaster1.xml" Id="R3f46919adfb94f4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0849bf68ecb45b2" /><Relationship Type="http://schemas.openxmlformats.org/officeDocument/2006/relationships/notesMaster" Target="/ppt/notesMasters/notesMaster1.xml" Id="R505404cb7d3247f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3b67028e2814e8c" /><Relationship Type="http://schemas.openxmlformats.org/officeDocument/2006/relationships/notesMaster" Target="/ppt/notesMasters/notesMaster1.xml" Id="Ra9cc1e1b7fe14ff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94ad3082f62451c" /><Relationship Type="http://schemas.openxmlformats.org/officeDocument/2006/relationships/notesMaster" Target="/ppt/notesMasters/notesMaster1.xml" Id="Rb9e6e8b1a5fc4a0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2dffdee8da04f5f" /><Relationship Type="http://schemas.openxmlformats.org/officeDocument/2006/relationships/notesMaster" Target="/ppt/notesMasters/notesMaster1.xml" Id="R70c02d6ed14743a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111eb799a864b40" /><Relationship Type="http://schemas.openxmlformats.org/officeDocument/2006/relationships/notesMaster" Target="/ppt/notesMasters/notesMaster1.xml" Id="Rb763ff058477415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2bba0279b654b0e" /><Relationship Type="http://schemas.openxmlformats.org/officeDocument/2006/relationships/notesMaster" Target="/ppt/notesMasters/notesMaster1.xml" Id="Re2854b5f571d4f4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764dc9e1a274fd3" /><Relationship Type="http://schemas.openxmlformats.org/officeDocument/2006/relationships/notesMaster" Target="/ppt/notesMasters/notesMaster1.xml" Id="Rff96576fd6744e8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8b26b76b8554145" /><Relationship Type="http://schemas.openxmlformats.org/officeDocument/2006/relationships/notesMaster" Target="/ppt/notesMasters/notesMaster1.xml" Id="R9887a4a6e20f4c8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917a12d91364591" /><Relationship Type="http://schemas.openxmlformats.org/officeDocument/2006/relationships/notesMaster" Target="/ppt/notesMasters/notesMaster1.xml" Id="R20778da11d914fa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a2aa3d673694078" /><Relationship Type="http://schemas.openxmlformats.org/officeDocument/2006/relationships/notesMaster" Target="/ppt/notesMasters/notesMaster1.xml" Id="R3dc48d3b49e44ca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68f5849cf61426b" /><Relationship Type="http://schemas.openxmlformats.org/officeDocument/2006/relationships/notesMaster" Target="/ppt/notesMasters/notesMaster1.xml" Id="R61d409dda86945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309be5915484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511279e7ae14ec7" /><Relationship Type="http://schemas.openxmlformats.org/officeDocument/2006/relationships/slideLayout" Target="/ppt/slideLayouts/slideLayout2.xml" Id="R7d3bd5aeafc54b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3bd5aeafc54b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d1fd490c5e41c7" /><Relationship Type="http://schemas.openxmlformats.org/officeDocument/2006/relationships/image" Target="/ppt/media/image.png" Id="R8f7574a057cb4158" /><Relationship Type="http://schemas.openxmlformats.org/officeDocument/2006/relationships/image" Target="/ppt/media/image2.png" Id="Red657ca2958a4526" /><Relationship Type="http://schemas.openxmlformats.org/officeDocument/2006/relationships/notesSlide" Target="/ppt/notesSlides/notesSlide1.xml" Id="Ra2c2550861cc43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6e85408b65466f" /><Relationship Type="http://schemas.openxmlformats.org/officeDocument/2006/relationships/image" Target="/ppt/media/image3.png" Id="R8516ea8e6a584c82" /><Relationship Type="http://schemas.openxmlformats.org/officeDocument/2006/relationships/notesSlide" Target="/ppt/notesSlides/notesSlide2.xml" Id="Rd43887d0481a49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09dd7623134c4b" /><Relationship Type="http://schemas.openxmlformats.org/officeDocument/2006/relationships/image" Target="/ppt/media/image4.png" Id="Ra87478b94af043a2" /><Relationship Type="http://schemas.openxmlformats.org/officeDocument/2006/relationships/notesSlide" Target="/ppt/notesSlides/notesSlide3.xml" Id="R45accf8d3c854a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01f4efd9ad4285" /><Relationship Type="http://schemas.openxmlformats.org/officeDocument/2006/relationships/image" Target="/ppt/media/image5.png" Id="R3de9a2984ee9499f" /><Relationship Type="http://schemas.openxmlformats.org/officeDocument/2006/relationships/notesSlide" Target="/ppt/notesSlides/notesSlide4.xml" Id="R2c77e71549184d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a93c6c13d94021" /><Relationship Type="http://schemas.openxmlformats.org/officeDocument/2006/relationships/image" Target="/ppt/media/image6.png" Id="Rc803d7392ee64284" /><Relationship Type="http://schemas.openxmlformats.org/officeDocument/2006/relationships/image" Target="/ppt/media/image7.png" Id="R5261c70671c34d29" /><Relationship Type="http://schemas.openxmlformats.org/officeDocument/2006/relationships/notesSlide" Target="/ppt/notesSlides/notesSlide5.xml" Id="Rcc1c55e0c0374d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26c8edf4a049db" /><Relationship Type="http://schemas.openxmlformats.org/officeDocument/2006/relationships/image" Target="/ppt/media/image8.png" Id="Rf6171b37202f4da0" /><Relationship Type="http://schemas.openxmlformats.org/officeDocument/2006/relationships/image" Target="/ppt/media/image9.png" Id="R7fde8578bcba405f" /><Relationship Type="http://schemas.openxmlformats.org/officeDocument/2006/relationships/notesSlide" Target="/ppt/notesSlides/notesSlide6.xml" Id="Rb894581fd8cb48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40951d6ac94f9e" /><Relationship Type="http://schemas.openxmlformats.org/officeDocument/2006/relationships/image" Target="/ppt/media/image10.png" Id="R4b1a32cc22204515" /><Relationship Type="http://schemas.openxmlformats.org/officeDocument/2006/relationships/image" Target="/ppt/media/image11.png" Id="R9e523c61b8bc4748" /><Relationship Type="http://schemas.openxmlformats.org/officeDocument/2006/relationships/notesSlide" Target="/ppt/notesSlides/notesSlide7.xml" Id="R4bc3ea00b3e24c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d770f67f864035" /><Relationship Type="http://schemas.openxmlformats.org/officeDocument/2006/relationships/image" Target="/ppt/media/image12.png" Id="Rbf297c2a1343497d" /><Relationship Type="http://schemas.openxmlformats.org/officeDocument/2006/relationships/image" Target="/ppt/media/image13.png" Id="R1e391c50307a494b" /><Relationship Type="http://schemas.openxmlformats.org/officeDocument/2006/relationships/notesSlide" Target="/ppt/notesSlides/notesSlide8.xml" Id="R7b89a2be1dc343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399d1b3c95475b" /><Relationship Type="http://schemas.openxmlformats.org/officeDocument/2006/relationships/image" Target="/ppt/media/image14.png" Id="R990f06e8531c4a9b" /><Relationship Type="http://schemas.openxmlformats.org/officeDocument/2006/relationships/notesSlide" Target="/ppt/notesSlides/notesSlide9.xml" Id="R6019e2343c5f41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5324af815845de" /><Relationship Type="http://schemas.openxmlformats.org/officeDocument/2006/relationships/image" Target="/ppt/media/image15.png" Id="R5a06e0dcd55d4f96" /><Relationship Type="http://schemas.openxmlformats.org/officeDocument/2006/relationships/notesSlide" Target="/ppt/notesSlides/notesSlide10.xml" Id="Rb4d23c0fd7564f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ad263de77947c2" /><Relationship Type="http://schemas.openxmlformats.org/officeDocument/2006/relationships/image" Target="/ppt/media/image16.png" Id="R945f7fe3b79a46dd" /><Relationship Type="http://schemas.openxmlformats.org/officeDocument/2006/relationships/image" Target="/ppt/media/image17.png" Id="Redc5a84fa972440e" /><Relationship Type="http://schemas.openxmlformats.org/officeDocument/2006/relationships/notesSlide" Target="/ppt/notesSlides/notesSlide11.xml" Id="Rf2a2c26847314b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ebd50540ca41a2" /><Relationship Type="http://schemas.openxmlformats.org/officeDocument/2006/relationships/image" Target="/ppt/media/image18.png" Id="R41ea0a2fbf114b63" /><Relationship Type="http://schemas.openxmlformats.org/officeDocument/2006/relationships/notesSlide" Target="/ppt/notesSlides/notesSlide12.xml" Id="Rdf4f80813a2b4f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b95cf615074ea4" /><Relationship Type="http://schemas.openxmlformats.org/officeDocument/2006/relationships/image" Target="/ppt/media/image19.png" Id="Rdf80c49e13d94b7b" /><Relationship Type="http://schemas.openxmlformats.org/officeDocument/2006/relationships/image" Target="/ppt/media/image20.png" Id="R04c7e02b21214ea7" /><Relationship Type="http://schemas.openxmlformats.org/officeDocument/2006/relationships/notesSlide" Target="/ppt/notesSlides/notesSlide13.xml" Id="R49f77171be6340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99bbba8a2142ad" /><Relationship Type="http://schemas.openxmlformats.org/officeDocument/2006/relationships/image" Target="/ppt/media/image21.png" Id="R8686c1cd07c74ae4" /><Relationship Type="http://schemas.openxmlformats.org/officeDocument/2006/relationships/image" Target="/ppt/media/image22.png" Id="Rde43a65f4d7049fb" /><Relationship Type="http://schemas.openxmlformats.org/officeDocument/2006/relationships/notesSlide" Target="/ppt/notesSlides/notesSlide14.xml" Id="R3a92ce8e3c8744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ce563420da4b34" /><Relationship Type="http://schemas.openxmlformats.org/officeDocument/2006/relationships/image" Target="/ppt/media/image23.png" Id="R3eda799143374b6c" /><Relationship Type="http://schemas.openxmlformats.org/officeDocument/2006/relationships/image" Target="/ppt/media/image24.png" Id="R5c3213279f754f88" /><Relationship Type="http://schemas.openxmlformats.org/officeDocument/2006/relationships/notesSlide" Target="/ppt/notesSlides/notesSlide15.xml" Id="Rd7fe7223626c4fa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d08dba1a354396" /><Relationship Type="http://schemas.openxmlformats.org/officeDocument/2006/relationships/image" Target="/ppt/media/image25.png" Id="Ra7d977aa4003425c" /><Relationship Type="http://schemas.openxmlformats.org/officeDocument/2006/relationships/notesSlide" Target="/ppt/notesSlides/notesSlide16.xml" Id="R436c2f1634d2426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9882b76cb84329" /><Relationship Type="http://schemas.openxmlformats.org/officeDocument/2006/relationships/image" Target="/ppt/media/image26.png" Id="R75322b0e59974ea4" /><Relationship Type="http://schemas.openxmlformats.org/officeDocument/2006/relationships/image" Target="/ppt/media/image27.png" Id="Rc7a83ea53bf44a3b" /><Relationship Type="http://schemas.openxmlformats.org/officeDocument/2006/relationships/notesSlide" Target="/ppt/notesSlides/notesSlide17.xml" Id="R6bfd8b2f5eec4ac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f6d1cf72be43cf" /><Relationship Type="http://schemas.openxmlformats.org/officeDocument/2006/relationships/image" Target="/ppt/media/image28.png" Id="R0bcbecb295214a43" /><Relationship Type="http://schemas.openxmlformats.org/officeDocument/2006/relationships/image" Target="/ppt/media/image29.png" Id="Rfc2dcf7b15f14943" /><Relationship Type="http://schemas.openxmlformats.org/officeDocument/2006/relationships/notesSlide" Target="/ppt/notesSlides/notesSlide18.xml" Id="R8d4f4e1c925c459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fb822498a443ff" /><Relationship Type="http://schemas.openxmlformats.org/officeDocument/2006/relationships/image" Target="/ppt/media/image30.png" Id="R06e6d02feb3a4862" /><Relationship Type="http://schemas.openxmlformats.org/officeDocument/2006/relationships/notesSlide" Target="/ppt/notesSlides/notesSlide19.xml" Id="Ra77e72bf40694f6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c3d99d96b44164" /><Relationship Type="http://schemas.openxmlformats.org/officeDocument/2006/relationships/image" Target="/ppt/media/image31.png" Id="Rc4022b544a744df5" /><Relationship Type="http://schemas.openxmlformats.org/officeDocument/2006/relationships/image" Target="/ppt/media/image32.png" Id="R5376cc43d1d54424" /><Relationship Type="http://schemas.openxmlformats.org/officeDocument/2006/relationships/notesSlide" Target="/ppt/notesSlides/notesSlide20.xml" Id="R807b5880713d49e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419da29f07405a" /><Relationship Type="http://schemas.openxmlformats.org/officeDocument/2006/relationships/image" Target="/ppt/media/image33.png" Id="R6e7a2138984a4a8a" /><Relationship Type="http://schemas.openxmlformats.org/officeDocument/2006/relationships/notesSlide" Target="/ppt/notesSlides/notesSlide21.xml" Id="R0096c22c1bf147a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b1f7dd65204fc4" /><Relationship Type="http://schemas.openxmlformats.org/officeDocument/2006/relationships/image" Target="/ppt/media/image34.png" Id="R9e12f6b8befc4b3f" /><Relationship Type="http://schemas.openxmlformats.org/officeDocument/2006/relationships/notesSlide" Target="/ppt/notesSlides/notesSlide22.xml" Id="R44825bab9fd7401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6311b3f9944776" /><Relationship Type="http://schemas.openxmlformats.org/officeDocument/2006/relationships/image" Target="/ppt/media/image35.png" Id="R090a258e5ca74733" /><Relationship Type="http://schemas.openxmlformats.org/officeDocument/2006/relationships/notesSlide" Target="/ppt/notesSlides/notesSlide23.xml" Id="Ra6de044232904b0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11227fb1714d90" /><Relationship Type="http://schemas.openxmlformats.org/officeDocument/2006/relationships/image" Target="/ppt/media/image36.png" Id="R563086da4f0a46cc" /><Relationship Type="http://schemas.openxmlformats.org/officeDocument/2006/relationships/notesSlide" Target="/ppt/notesSlides/notesSlide24.xml" Id="Reda4aa065277406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0cb10dcbe84d55" /><Relationship Type="http://schemas.openxmlformats.org/officeDocument/2006/relationships/image" Target="/ppt/media/image37.png" Id="Ra60f5f5b1c94490d" /><Relationship Type="http://schemas.openxmlformats.org/officeDocument/2006/relationships/notesSlide" Target="/ppt/notesSlides/notesSlide25.xml" Id="Rbb7c5ea2707d486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5596fbc5ea4f7d" /><Relationship Type="http://schemas.openxmlformats.org/officeDocument/2006/relationships/image" Target="/ppt/media/image38.png" Id="R49dc38ef129946ba" /><Relationship Type="http://schemas.openxmlformats.org/officeDocument/2006/relationships/notesSlide" Target="/ppt/notesSlides/notesSlide26.xml" Id="Rc7e041f7d94d4db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858c99858242ef" /><Relationship Type="http://schemas.openxmlformats.org/officeDocument/2006/relationships/image" Target="/ppt/media/image39.png" Id="R0e297597a0264f95" /><Relationship Type="http://schemas.openxmlformats.org/officeDocument/2006/relationships/notesSlide" Target="/ppt/notesSlides/notesSlide27.xml" Id="R2b46bbb291c848a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3a61e361ff43d6" /><Relationship Type="http://schemas.openxmlformats.org/officeDocument/2006/relationships/image" Target="/ppt/media/image40.png" Id="R2105a009a5a2471d" /><Relationship Type="http://schemas.openxmlformats.org/officeDocument/2006/relationships/notesSlide" Target="/ppt/notesSlides/notesSlide28.xml" Id="R0009eec48ca3438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4979342fc14df2" /><Relationship Type="http://schemas.openxmlformats.org/officeDocument/2006/relationships/image" Target="/ppt/media/image41.png" Id="R50d02c7c516541a0" /><Relationship Type="http://schemas.openxmlformats.org/officeDocument/2006/relationships/notesSlide" Target="/ppt/notesSlides/notesSlide29.xml" Id="R673c5dd043da4c0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bb2bbc154e411a" /><Relationship Type="http://schemas.openxmlformats.org/officeDocument/2006/relationships/image" Target="/ppt/media/image42.png" Id="Re9cce6979e6941a5" /><Relationship Type="http://schemas.openxmlformats.org/officeDocument/2006/relationships/notesSlide" Target="/ppt/notesSlides/notesSlide30.xml" Id="R1d8003b4e1c1417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e209a830c44f8a" /><Relationship Type="http://schemas.openxmlformats.org/officeDocument/2006/relationships/image" Target="/ppt/media/image43.png" Id="R936094361c6f44f5" /><Relationship Type="http://schemas.openxmlformats.org/officeDocument/2006/relationships/image" Target="/ppt/media/image44.png" Id="R881b81de3fa7498e" /><Relationship Type="http://schemas.openxmlformats.org/officeDocument/2006/relationships/notesSlide" Target="/ppt/notesSlides/notesSlide31.xml" Id="Rf16d5a7702cf498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61b9baa4ea475d" /><Relationship Type="http://schemas.openxmlformats.org/officeDocument/2006/relationships/image" Target="/ppt/media/image45.png" Id="R5c66796781c84a0a" /><Relationship Type="http://schemas.openxmlformats.org/officeDocument/2006/relationships/image" Target="/ppt/media/image46.png" Id="Raf85556a728b4fa6" /><Relationship Type="http://schemas.openxmlformats.org/officeDocument/2006/relationships/notesSlide" Target="/ppt/notesSlides/notesSlide32.xml" Id="R9940f2c567fc49f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d918153c324f73" /><Relationship Type="http://schemas.openxmlformats.org/officeDocument/2006/relationships/image" Target="/ppt/media/image47.png" Id="R646b8ad502774feb" /><Relationship Type="http://schemas.openxmlformats.org/officeDocument/2006/relationships/notesSlide" Target="/ppt/notesSlides/notesSlide33.xml" Id="Rd3f0811556c0411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98e99c2fb04dcb" /><Relationship Type="http://schemas.openxmlformats.org/officeDocument/2006/relationships/image" Target="/ppt/media/image48.png" Id="Rd29d9c6caf424a4a" /><Relationship Type="http://schemas.openxmlformats.org/officeDocument/2006/relationships/notesSlide" Target="/ppt/notesSlides/notesSlide34.xml" Id="R884ad5eb60744c2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3FECA4-845F-419E-99CC-0FE533C8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95CD8-5B59-4EE1-8432-CEDF1469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574a057cb4158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02FAC-7C60-4A27-BDE3-338DD44D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6858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Can we design a stellarator by following gradients?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78A67-2D32-4B91-B512-81699AAD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527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73A45-B1FE-4E86-B2EE-C5DA7382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1940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Lecture 1: what the optimizer actually sees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37E9B-548D-48BE-BE3D-89CDF352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3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6C0A1-B7BF-4623-90DC-527FAFDD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542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Equilibrium, Boozer spectrum, and metrics become the design language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4FE4D-F901-48F8-915E-FFA9D1B8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73424-994D-4B30-8A8A-2AF797A5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542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Docs: https://sos2026-rjorge-stellarator-optimization.readthedocs.io/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55BD1-8CFE-4D9E-ADF3-F47D7FA6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066800"/>
            <a:ext cx="41719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57ca2958a4526"/>
          <a:stretch xmlns:a="http://schemas.openxmlformats.org/drawingml/2006/main"/>
        </p:blipFill>
        <p:spPr>
          <a:xfrm xmlns:a="http://schemas.openxmlformats.org/drawingml/2006/main">
            <a:off x="7848203" y="1257300"/>
            <a:ext cx="2610644" cy="27241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78289-B517-4F07-BD83-805E4318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7690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586C2-E703-42B7-84BC-1A3487DB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542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CEA-IRFM / Renaissance Fusion School on Stellarators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534A4-9357-414C-81A6-91DEBF8F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Aix-en-Provence,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13BB3-B015-4C0B-814B-156E958E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0388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Rogerio Jorge, University of Wisconsin-Madison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6A00B-94B6-4689-BA0F-45ABC52B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Repo: github.com/rogeriojorge/sos2026-rjorge-stellarator-optimization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DA0EE9-5789-4F31-82B2-EBF65E71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28650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Docs: sos2026-rjorge-stellarator-optimization.readthedocs.io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D52AF3-1FF1-4D78-B993-14A75560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Slide 01</a:t>
            </a:r>
          </a:p>
        </p:txBody>
      </p:sp>
    </p:spTree>
    <p:extLst>
      <p:ext uri="{BB962C8B-B14F-4D97-AF65-F5344CB8AC3E}">
        <p14:creationId xmlns:p14="http://schemas.microsoft.com/office/powerpoint/2010/main" val="5608301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2C2444-F737-4124-9956-B3CA4DED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8FAB0-7DA9-4F30-88B0-58B64279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6ea8e6a584c82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6D7C0-A1B1-4488-8C2D-5C67B5E0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Lecture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1525F-4BEA-409F-851E-9CE2B0AB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726EC-CD7C-45BF-976E-C91032B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857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PART 1. From field lines to hidden symmetry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074F9-6335-4418-8111-97383DD1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3855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24091-0680-4ECE-ADE5-B3F0C1A0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0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5DEF9-C0FD-4743-B768-3516F7D7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Goal: turn confinement physics into computable objectives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AD5E6-DD52-427C-AB48-CF90BC9E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29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CC001-7155-4E70-BF94-1179B469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244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Caveat: geometry freedom creates an inverse problem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AECBD-25E4-40EF-95CA-256239EB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E6C26-3531-46C3-879F-E10F69EE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BC45CA-58A7-4779-A47C-A9D12B94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A665F6-B66E-4258-9FBB-0CECF0B8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FC085-ED2F-4697-95E2-7C7BAAF9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02</a:t>
            </a:r>
          </a:p>
        </p:txBody>
      </p:sp>
    </p:spTree>
    <p:extLst>
      <p:ext uri="{BB962C8B-B14F-4D97-AF65-F5344CB8AC3E}">
        <p14:creationId xmlns:p14="http://schemas.microsoft.com/office/powerpoint/2010/main" val="9306996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E0D963-699F-4185-AE2A-433A9088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49DD9-4E66-4BD9-BC56-9B13597C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478b94af043a2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7B990-F325-4460-A454-C5F60256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8953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Metrics are compressed physics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75519-AEA7-41BD-9C22-7946EBAA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C296F-9A09-4F6D-8D66-6FEC5E0C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4E13B-9B40-4D6E-ADB7-313FE9FD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695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They are useful only when we know what was compressed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C4127-73D8-4A27-86BE-BDB67CD3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6A466-DA48-411B-85A9-BAC8D65D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F9054-FB01-4719-A275-26132278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D0AB4-B8D0-4A25-8130-58D58791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3ABE3-C386-489E-B7F1-9897BCD9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03</a:t>
            </a:r>
          </a:p>
        </p:txBody>
      </p:sp>
    </p:spTree>
    <p:extLst>
      <p:ext uri="{BB962C8B-B14F-4D97-AF65-F5344CB8AC3E}">
        <p14:creationId xmlns:p14="http://schemas.microsoft.com/office/powerpoint/2010/main" val="13015059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B680F4-25A6-4AC7-88BD-12EDA74A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439D9-9DCC-4709-97F5-3F764FAF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9a2984ee9499f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B8FA5-C94C-4850-B8F7-F24367D3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The optimizer sees artifacts, not intuition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CF1AE-B5A9-4328-B29D-8AAAE09F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40A88-623E-42F7-A271-410B948A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9525">
            <a:solidFill>
              <a:srgbClr val="C5050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F69CB-9175-4859-961F-0C3E99F4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Equilibrium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F5CE6-81ED-4178-87B7-3C0C1F39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860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E5413-7032-4999-B907-30F136C0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048000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8F0C9-DB8E-439A-81D7-7B3120B6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171825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Boozer spectrum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F2EAF-3354-491B-B439-8875F637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8612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DE2B04-069D-4684-8487-1DD658A4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47875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5102CB-A0D5-4501-8AC1-EAD6193E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71700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Neoclassical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F5BA6-21B3-4D59-9BF6-23912405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860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F1661-86AF-41B1-BB6B-63F562C5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48000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2E6C60-3999-461A-AD97-C11165EB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171825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CD42AB-1D1B-4B07-B6C4-5FA5C91D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8612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FA751-60BC-4A7C-BFE6-645046D8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47875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1D71D1-C4EC-4FB9-9A7B-7FFCDE3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71700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Turbulence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2DB2B1-2843-4F3D-85AE-B395A780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860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C451A6-0471-46E2-AF3B-1D1EA58B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48000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269E0B-F960-4672-A3FC-937E3B56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171825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Profiles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6E7E16-535A-45FB-9E4A-545A8F94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286125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B0AD25-C929-4AD5-993C-4E781838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47875"/>
            <a:ext cx="1276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28739F-DC8A-4B57-8932-BA700969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171700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Pareto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541142-8BDC-4DD9-A79B-A418D1FD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95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8C1AD3-BD0B-4C01-8EAA-42B8C48F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904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Boundary and profiles create an equilibrium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ECF75E-E23A-446E-A569-638C5BA9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A7BB27-0D73-438F-8425-CF969C47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04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Spectra and scalars turn physics into objectives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4099A1-88FC-4FC5-9643-DCBF6F16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E153FA-D8B6-470D-AD34-38961B90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81600"/>
            <a:ext cx="904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Every scalar needs a validation gate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3A2ED7-B20C-4A24-8046-69CD98A9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9BF919-A1A8-4701-90F7-D7387580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B11D5A-E507-4DA1-83FB-BAC43D74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3A03AA-FAA1-4B70-8BED-6CA48E0F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87C199-C451-41CC-9428-CDAC077F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04</a:t>
            </a:r>
          </a:p>
        </p:txBody>
      </p:sp>
    </p:spTree>
    <p:extLst>
      <p:ext uri="{BB962C8B-B14F-4D97-AF65-F5344CB8AC3E}">
        <p14:creationId xmlns:p14="http://schemas.microsoft.com/office/powerpoint/2010/main" val="10817186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68B118-3F73-40A0-BFE1-C2694F76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43AF8-8E06-4F57-B94A-AA8A62D3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3914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3d7392ee64284"/>
          <a:stretch xmlns:a="http://schemas.openxmlformats.org/drawingml/2006/main"/>
        </p:blipFill>
        <p:spPr>
          <a:xfrm xmlns:a="http://schemas.openxmlformats.org/drawingml/2006/main">
            <a:off x="2401888" y="1695450"/>
            <a:ext cx="3578225" cy="3733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46C93-7A9E-4006-BE05-969FACC7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BB3EB-ABD0-4FA1-93EE-FDC1F96E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4F4C1-E83E-4EDF-B32E-54530C56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Read the shape as a parameterized 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E5B2B-D761-4B92-AAC9-A7F94B68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5028E-4AFA-45EA-A3C7-E2906AB0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This is a cached educational surface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83D35-387A-4652-BCB1-929EE826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201C9-067F-4CA5-87A2-8AD4F8F1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7205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A visible surface is a design variable, not yet a validated device.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7B23B-E6D3-4E43-BCFC-A93D4428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1c70671c34d29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2B6E2-E2F8-4EB2-A85E-277B99EA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The first object is a surface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E4098-C619-4BF1-80EB-78CD716B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F3FB6-7055-4A75-A923-1D6333C3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D05825-F1F8-4583-A2FE-5232557E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3EBF70-5120-46D0-BCF0-F73D5CCF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49673-F947-4CA8-AD03-36F5E324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43F7DF-0577-487D-AAFA-2C8DB357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05</a:t>
            </a:r>
          </a:p>
        </p:txBody>
      </p:sp>
    </p:spTree>
    <p:extLst>
      <p:ext uri="{BB962C8B-B14F-4D97-AF65-F5344CB8AC3E}">
        <p14:creationId xmlns:p14="http://schemas.microsoft.com/office/powerpoint/2010/main" val="17090229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372073-17AB-43E9-8FFC-0D65D59F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B18D8-0922-486C-8EBC-F89F0C07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3914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71b37202f4da0"/>
          <a:stretch xmlns:a="http://schemas.openxmlformats.org/drawingml/2006/main"/>
        </p:blipFill>
        <p:spPr>
          <a:xfrm xmlns:a="http://schemas.openxmlformats.org/drawingml/2006/main">
            <a:off x="2399878" y="1695450"/>
            <a:ext cx="3582244" cy="3733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E7BDC-092A-439C-9584-338860FD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65085-B750-4C19-8122-A361950C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C68A3-3921-4305-9BBF-513568C5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as experimental motivation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2D321-3E55-44C6-8C63-5E41B9C4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41BE4-CCC4-4006-B85E-8D2FBFD6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Do not treat the fallback surface as a new W7-X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783CA-81DF-4125-A6FA-9AA4D69D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916A9-88A1-41B2-A12E-E3AAE985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7205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The reference case anchors the design discussion without duplicating geometry lectures.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48405-EDD3-4401-9BD6-14FFBE56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e8578bcba405f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6FC53-C44E-4E57-9AA9-C3FF1265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W7-X is the reference case to keep in mind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BB9B0-6F29-4BD5-A97E-108E8AD7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CB50B-028D-4E04-BCB5-87D85D0F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FC4F95-FFA5-4A05-A15F-3C6CEC6B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F2FCD-335C-49D2-9C4C-4C06D3AB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9DE5E3-9568-47BE-8934-9A600E4F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9EC84F-E5EC-41BD-8519-C1BFBA5B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06</a:t>
            </a:r>
          </a:p>
        </p:txBody>
      </p:sp>
    </p:spTree>
    <p:extLst>
      <p:ext uri="{BB962C8B-B14F-4D97-AF65-F5344CB8AC3E}">
        <p14:creationId xmlns:p14="http://schemas.microsoft.com/office/powerpoint/2010/main" val="11618508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CC3A08-85F1-4702-9A6D-383DAA2F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09D81-A399-4F24-8430-989DB4AD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3914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a32cc22204515"/>
          <a:stretch xmlns:a="http://schemas.openxmlformats.org/drawingml/2006/main"/>
        </p:blipFill>
        <p:spPr>
          <a:xfrm xmlns:a="http://schemas.openxmlformats.org/drawingml/2006/main">
            <a:off x="1202150" y="1695450"/>
            <a:ext cx="5977699" cy="3733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97CB1-FA77-4105-8AE3-B90870ED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D012C-AA1C-4B5A-917B-C572F987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131AD-BCCB-49E3-86AC-0EB681D9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Plot pitch before optimizing spectra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DDE61-82C2-456E-8174-7E744A99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A5FE3-45CB-42B8-81F8-DCE08312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Watch low-order rational surfaces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DD146-D591-4723-8296-12A06F43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871C0-E9C5-4296-95E4-469EE44B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7205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A profile can be a constraint, an objective, or a diagnostic.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4958D-0636-4013-8A97-F11EF7F5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23c61b8bc4748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B09FA-BD44-43FA-A967-7FC65BBB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Rotational transform is a target, not a decoration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75E27-E5D0-43C4-9CDF-24D1766E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A6758-AB48-4590-8EB3-0D422610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35C44-BFDD-40A7-B761-E217F67B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8AFE0A-5BE0-4D1D-B1B2-484082B0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C837C6-030A-4E19-869D-2BC96B0C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046457-8D1E-4A65-B2A1-52F200B2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07</a:t>
            </a:r>
          </a:p>
        </p:txBody>
      </p:sp>
    </p:spTree>
    <p:extLst>
      <p:ext uri="{BB962C8B-B14F-4D97-AF65-F5344CB8AC3E}">
        <p14:creationId xmlns:p14="http://schemas.microsoft.com/office/powerpoint/2010/main" val="3899728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D76142-0E20-4E41-8F2D-207716BD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85AB4-6FDE-4231-A012-07327049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3914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97c2a1343497d"/>
          <a:stretch xmlns:a="http://schemas.openxmlformats.org/drawingml/2006/main"/>
        </p:blipFill>
        <p:spPr>
          <a:xfrm xmlns:a="http://schemas.openxmlformats.org/drawingml/2006/main">
            <a:off x="1023212" y="1695450"/>
            <a:ext cx="6335577" cy="3733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8E416-097F-4574-8AE3-A8C08829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4066C-699E-4DE5-9775-FDF5758D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42519-FF0A-467C-B16D-1DFBEC87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One knob changes QS residual and aspect ratio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41955-AC32-4E68-8362-A07B70E6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CC345-3762-4B11-A069-CA63CDE9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This is the gradient intuition for stage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D28F4-F3F7-4586-8CDD-51C7BC60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F560E-1AB5-4791-85DD-582125E1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7205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The optimizer needs knobs whose effects can be measured.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84B5E-9BFB-449F-8D98-9749B9B0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91c50307a494b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751C1-C3D1-46CB-80A7-2FEE6379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A small boundary mode can move the objective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F5AC1-728A-4679-B451-990D3648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E074B-8A24-4CD1-82AF-72CD17E6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3F73B-3DC5-42F7-AE1E-D7FC8D43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CD454-4D1A-431A-BB99-B8F622E6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596223-DEFB-4D62-9111-7A0199B8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9261D3-6DD6-4869-AF8F-0F8F095B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08</a:t>
            </a:r>
          </a:p>
        </p:txBody>
      </p:sp>
    </p:spTree>
    <p:extLst>
      <p:ext uri="{BB962C8B-B14F-4D97-AF65-F5344CB8AC3E}">
        <p14:creationId xmlns:p14="http://schemas.microsoft.com/office/powerpoint/2010/main" val="18401296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A9590F-E408-4D53-A2D3-C5141248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CA0BB-1714-43AD-B7B6-6F16A2FC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9715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ED7A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C1A28-E7FA-4385-AB84-2819FEAF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714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1DEE5-D8C2-4DA4-AEC7-18A245AD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rPr>
              <a:t>Validation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70FA2-BDD4-475C-A700-6327ECA6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33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2D007-FB91-4B43-9816-302373CE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289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Record resolution and residuals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46095-580D-4020-8E2C-CCC8527C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24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8B8BB-A4F8-4EBA-836E-B36B02B1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1945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Do not compare designs before the solve is trustworthy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4670A-599F-49DE-A650-05BAC6B3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14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4DA8F-7348-4C3F-97A5-6DE37A84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Cached mode keeps the teaching path alive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FFC93-D4A3-4B25-A88F-9214D563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828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7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CCD5B-0D7F-4756-B080-F70AAA21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2920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3412"/>
                </a:solidFill>
                <a:latin typeface="Aptos"/>
                <a:ea typeface="Aptos"/>
                <a:cs typeface="Aptos"/>
              </a:rPr>
              <a:t>Classroom rule: label approximations, keep cached mode ready, and write down what was actually computed.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B47AA-3161-49EA-8F23-24433179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f06e8531c4a9b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C2272-9C30-4534-8B72-BA821C9C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Equilibrium convergence is part of the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CFBF0-B2BA-494F-BDD1-F8A124C6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C0A96-78CB-4062-80F2-C84850AA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41CFF-CC9B-447C-A059-5ECEFFB1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72C5BE-B7D1-4F43-A7F0-2E1463FB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A4E29-482F-4FF3-BEB1-E3A5BE87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E47F8F-3DE6-4924-B0AE-92E82A13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09</a:t>
            </a:r>
          </a:p>
        </p:txBody>
      </p:sp>
    </p:spTree>
    <p:extLst>
      <p:ext uri="{BB962C8B-B14F-4D97-AF65-F5344CB8AC3E}">
        <p14:creationId xmlns:p14="http://schemas.microsoft.com/office/powerpoint/2010/main" val="5703551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BAB004-A8FD-44CA-AB34-67109197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DE01C-9E33-43D3-8FC1-4A6945C2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6e0dcd55d4f96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9F4F2-4120-44AD-93CD-38E9DD24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The wout file is the first checked artifact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73C68-029A-4CAF-AE03-3E642236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01BFF-3CB9-4E6D-BE8F-C27F1B40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666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1AC94-A010-431D-94E9-0977A159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74EDA-A318-45C3-BFFA-4DF9AEBF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cached-mode command surface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FF7A7-6FDD-44E0-ACE5-7A81D14E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05050"/>
            <a:ext cx="5905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$ python scripts/run_smoke_tests.py</a:t>
            </a:r>
          </a:p>
          <a:p xmlns:a="http://schemas.openxmlformats.org/drawingml/2006/main">
            <a:pPr algn="l">
              <a:def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$ python scripts/execute_all_notebooks.py</a:t>
            </a:r>
          </a:p>
          <a:p xmlns:a="http://schemas.openxmlformats.org/drawingml/2006/main">
            <a:pPr algn="l">
              <a:def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$ python scripts/build_powerpoint_decks.mjs</a:t>
            </a:r>
          </a:p>
          <a:p xmlns:a="http://schemas.openxmlformats.org/drawingml/2006/main">
            <a:pPr algn="l">
              <a:def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$ python scripts/check_release_ready.py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739AD-5327-4A7D-B5F2-69947FEA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90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5B3C6-8A23-4628-AB84-0A6E0D88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2571750" cy="67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Inspect dimensions, surfaces, and mode counts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850A9-8AD3-4794-9377-5D25C33B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4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394C8-7953-4201-A7C4-BD665DE7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79700"/>
            <a:ext cx="2571750" cy="67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public HSX/W7-X files when present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A7313-AC21-4598-A05D-549CE515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78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CB580-6E4F-4DBA-BAA4-927B683A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3450"/>
            <a:ext cx="2571750" cy="67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Record what was actually 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2833BB-8C84-4B8B-82DC-0B62FB39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279FF6-78A4-4586-9A3E-647D4378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D375A-A1EF-4054-AE9E-54B71034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6F4EE7-FC0B-47B3-A3F1-E00FF4E3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EA9DE6-87A2-4855-B5A5-80103DAB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10</a:t>
            </a:r>
          </a:p>
        </p:txBody>
      </p:sp>
    </p:spTree>
    <p:extLst>
      <p:ext uri="{BB962C8B-B14F-4D97-AF65-F5344CB8AC3E}">
        <p14:creationId xmlns:p14="http://schemas.microsoft.com/office/powerpoint/2010/main" val="111176809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7B63C4-27AF-4939-91DE-CE4BF7E7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32190-59C4-4D06-9D60-4F4C0ABA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f7fe3b79a46dd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30655-F1E3-4E3C-AC42-08A16537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Demo break: first equilibrium object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DB06D-7BA2-4591-9C89-E073C527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44BBB-EECC-4B50-8B83-271394A4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0005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70D9E-D5FC-4C75-AE8A-5495E04F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E020B-D633-438C-8F2C-3B28CBA0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Notebook break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794DF-28A5-4F03-9A0C-BADB7065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2B2B2B"/>
                </a:solidFill>
                <a:latin typeface="Aptos Mono"/>
                <a:ea typeface="Aptos Mono"/>
                <a:cs typeface="Aptos Mono"/>
              </a:rPr>
              <a:t>notebooks/01_vmec_jax_first_equilibrium.ipynb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A2936C-4145-4C23-BDCD-86BEB648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8C547-DAC3-4F23-8CF3-636F16CF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718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Locate the HSX wout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732B33-0463-4D12-B211-DC39BED4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86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22303-9297-4A3B-8134-452F4507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Plot surface and iota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C1EFB-EC07-48CA-810F-D5FEE482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95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F5809-8CDC-4D60-803E-DCF5A92A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Change one boundary-mode proxy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5a84fa972440e"/>
          <a:stretch xmlns:a="http://schemas.openxmlformats.org/drawingml/2006/main"/>
        </p:blipFill>
        <p:spPr>
          <a:xfrm xmlns:a="http://schemas.openxmlformats.org/drawingml/2006/main">
            <a:off x="5770627" y="1657350"/>
            <a:ext cx="5032247" cy="31432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06CC3C-7E55-40EC-A2EC-EDE28B72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4350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BF09C2-A3B8-40B0-AD5C-43D05ADB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67325"/>
            <a:ext cx="491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Cached mode first. Repo: https://github.com/rogeriojorge/sos2026-rjorge-stellarator-optimization | Docs: https://sos2026-rjorge-stellarator-optimization.readthedocs.io/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222D5-C2BD-4B1E-A85A-CD63E6E4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F3FC54-BF6A-49F8-A2B6-7519C57F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C8762-1C68-4FC8-BE71-56644123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7DEDA0-B78C-403C-99E1-62ECF5B0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24A53B-515E-4686-A7A6-965B1069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11</a:t>
            </a:r>
          </a:p>
        </p:txBody>
      </p:sp>
    </p:spTree>
    <p:extLst>
      <p:ext uri="{BB962C8B-B14F-4D97-AF65-F5344CB8AC3E}">
        <p14:creationId xmlns:p14="http://schemas.microsoft.com/office/powerpoint/2010/main" val="193541584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8DED43-04B5-46C8-A455-459CCAC3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3DB10-EC25-455C-A962-99EB94CF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a0a2fbf114b63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AE552-17D7-4A9B-8DDB-3F96A1EB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Lecture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A311D-F421-4EA4-890B-B75C0FAF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D881F-AD01-4F7F-A30B-448E4A30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857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PART 2. Boozer coordinates make symmetry measurable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992C6-8996-47F3-BFB0-3C31584A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3855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3CCD1-A445-4DA7-88A7-66A9C37F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0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858D3-B8A7-4801-9F34-220F8AC5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The spectrum turns geometry into a table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86452-6148-45A3-A0AE-6362703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29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265FD-06FC-472C-B6D8-8C3C03A7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244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Bad modes become penalties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57051-7003-41BE-A959-353CE6B6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FD22C-EB02-4194-B073-3EF4E890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CBB3D-B6EB-4CB8-AE7A-3B2F9FAC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57F5C-A585-4177-8F59-D873418F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83770-534A-4426-9956-A84252DB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12</a:t>
            </a:r>
          </a:p>
        </p:txBody>
      </p:sp>
    </p:spTree>
    <p:extLst>
      <p:ext uri="{BB962C8B-B14F-4D97-AF65-F5344CB8AC3E}">
        <p14:creationId xmlns:p14="http://schemas.microsoft.com/office/powerpoint/2010/main" val="96994843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49AB3F-6D3E-46A7-9CC5-B0DBE907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1942A-05D1-49AA-A3B6-C780D3EB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3914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0c49e13d94b7b"/>
          <a:stretch xmlns:a="http://schemas.openxmlformats.org/drawingml/2006/main"/>
        </p:blipFill>
        <p:spPr>
          <a:xfrm xmlns:a="http://schemas.openxmlformats.org/drawingml/2006/main">
            <a:off x="1404624" y="1695450"/>
            <a:ext cx="5572752" cy="3733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59E5A-3FE2-4076-A207-C77538CC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E1DEC-D7A7-4C00-A7B7-521F65AF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1628A-83BB-48C0-B6AF-E875A4D4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Clean bands suggest the intended symmetry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0C655-8A90-4A62-80C6-454C236F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B49C6-89C1-4A9F-A24C-9AF8A98E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Broken bands warn before the scalar 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1FEA9-8FAF-47AC-93CF-10E2F916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380B4-E610-49F9-8159-C6975E3D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7205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This contour is a teaching diagnostic, not a fresh Boozer transform.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610E7-1359-4CBC-9910-E29FFF80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7e02b21214ea7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228E8-7D09-4BB3-9DBD-C797F6DB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Boozer coordinates make symmetry visible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D3127-C088-42DB-9F02-26C75192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1460A-CAE6-491D-A77C-6F568ABB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08D0DA-8F43-412C-9277-9F60BE01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83CD4-8802-43F5-912C-07C15E85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EDC69-4082-483C-9786-46A0445B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E67D2C-03BD-4136-95EA-B1EE1F2A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13</a:t>
            </a:r>
          </a:p>
        </p:txBody>
      </p:sp>
    </p:spTree>
    <p:extLst>
      <p:ext uri="{BB962C8B-B14F-4D97-AF65-F5344CB8AC3E}">
        <p14:creationId xmlns:p14="http://schemas.microsoft.com/office/powerpoint/2010/main" val="16050836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6BB2CD-AF2A-43CF-BF87-18E6249F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DDBEF-161D-4360-8ED6-5DF0D43D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3914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86c1cd07c74ae4"/>
          <a:stretch xmlns:a="http://schemas.openxmlformats.org/drawingml/2006/main"/>
        </p:blipFill>
        <p:spPr>
          <a:xfrm xmlns:a="http://schemas.openxmlformats.org/drawingml/2006/main">
            <a:off x="812255" y="1695450"/>
            <a:ext cx="6757491" cy="3733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A1FF0-C6F4-42F4-8B86-42FBE480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0D477-BE79-4F2E-B736-E2732729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C371B-AEF0-4DD9-8559-D448794F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Green modes preserve the intended 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C8AA4-DDEC-4B1B-B12E-2B63EE01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CE9F2-2ED4-4A30-8963-AF1D9A3E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Red modes are symmetry-breaking targets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AC0BE-C917-4D74-83E5-4245E1F5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364B2-8161-4272-A275-27A58C1A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7205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Good and bad modes are marked explicitly for the classroom scan.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B3D9B-2007-4E7B-A80E-97434CA2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3a65f4d7049fb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611B4-AF83-4048-8DF0-3608BDDE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The spectrum tells the optimizer what to penalize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4A4EF-1096-40B0-90DB-6AF66CDB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968B8-E8FA-4CAC-B71B-10794112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9B35E-3451-4738-997F-D062341F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7312AE-F693-4675-9131-33569A8A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0E4ECB-9B1D-4B2B-80A4-14A8792C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50D38-90B3-4FCD-A027-C475B781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14</a:t>
            </a:r>
          </a:p>
        </p:txBody>
      </p:sp>
    </p:spTree>
    <p:extLst>
      <p:ext uri="{BB962C8B-B14F-4D97-AF65-F5344CB8AC3E}">
        <p14:creationId xmlns:p14="http://schemas.microsoft.com/office/powerpoint/2010/main" val="12109408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BFF1B1-4B7C-4D97-AC82-8C181CBD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A8400-E421-4E7A-9784-E0C39DDB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3914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a799143374b6c"/>
          <a:stretch xmlns:a="http://schemas.openxmlformats.org/drawingml/2006/main"/>
        </p:blipFill>
        <p:spPr>
          <a:xfrm xmlns:a="http://schemas.openxmlformats.org/drawingml/2006/main">
            <a:off x="666750" y="1809036"/>
            <a:ext cx="7048500" cy="350662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DBA26-AEC3-4389-88BB-80E92427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1C30B-739A-412C-9BAC-F85313F2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B795A-8B70-4AB8-B950-7DF8E0BE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Perturb one coefficient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14805-09E7-4D1B-A4E5-32F6A1F6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18733-16E7-4373-AD4A-996862E7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Regenerate contour and residual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2B408-9EFC-42B8-81A2-91C3D4CB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6A346-A80A-4DD7-B614-EE54C897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7205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The exercise is to connect a table entry to a visible field-strength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498EE-0F45-4229-8D8D-C79265D1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213279f754f88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7663A5-7CCE-4816-8647-87686F3B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A bad mode changes the picture immediately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41882-3ED8-4DA2-AD4A-4F30F390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314BC-6D12-4809-A9F2-27CD8FE3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C7FC5-DAEF-40ED-B005-2DADC9A2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058A5C-B1EF-4BA9-9373-4CF7D3F9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5AEBD8-0723-44A9-9B19-49887FD2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277C99-BDBD-457C-BCD1-DFD49EAE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15</a:t>
            </a:r>
          </a:p>
        </p:txBody>
      </p:sp>
    </p:spTree>
    <p:extLst>
      <p:ext uri="{BB962C8B-B14F-4D97-AF65-F5344CB8AC3E}">
        <p14:creationId xmlns:p14="http://schemas.microsoft.com/office/powerpoint/2010/main" val="147547651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3B7C29-F0D5-469D-BDFD-236AE7C9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95E42-8950-46FC-B0AD-79720903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977aa4003425c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3463C-A45E-41CD-9C61-55934657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Several symmetry targets use the same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3A4DD-EF79-4161-A77F-9E950EC9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1107B-9F8A-40B3-9C2B-071ED539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22EB9-F056-4E40-8F84-ACC7FC73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BA8C1-E295-4BBF-AE01-24212474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62966-2245-4D73-AE66-41CE7C97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74660-DD04-4614-AE5F-BF307257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091BD-0627-4F9F-8F86-DE77B489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70561-75BD-4ECC-93D2-E9A11E91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Quasi-axisymmetry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76E23-4975-4FAB-A082-C9C0A81F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penalize modes off the QA 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83A124-4CE5-4110-B0CC-64AEBFD6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60AEE-2CAA-4E4C-AF99-2227F101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860969-6C61-4D37-8AA0-83A24830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Quasi-helical symmetry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2CF8E-BEED-4871-B58B-E516900D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keep the QH ridge clean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705B6-7DA1-4D64-9B4C-805F8539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4A6CD-021F-4A6E-A6C2-3DF10B7F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5498E5-144D-4814-A2D7-D76982FF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Quasi-isodynamic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E00CF-545B-4697-BD67-04DEF961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different metrics but the same artifact discipline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2D09B-8C56-4BCE-B3E3-4788C613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BA61AD-5AEC-465D-A3FE-AD25331A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B11E7B-325E-4F84-ADF0-67DECD84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235444-392D-4724-8CA7-3CB0BC51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986F9E-F042-44AD-AEB7-3E478708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16</a:t>
            </a:r>
          </a:p>
        </p:txBody>
      </p:sp>
    </p:spTree>
    <p:extLst>
      <p:ext uri="{BB962C8B-B14F-4D97-AF65-F5344CB8AC3E}">
        <p14:creationId xmlns:p14="http://schemas.microsoft.com/office/powerpoint/2010/main" val="175636190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21715E-442A-4FCF-B632-398FE69D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B26BD-8074-422B-AAC7-BB67FFD3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3914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22b0e59974ea4"/>
          <a:stretch xmlns:a="http://schemas.openxmlformats.org/drawingml/2006/main"/>
        </p:blipFill>
        <p:spPr>
          <a:xfrm xmlns:a="http://schemas.openxmlformats.org/drawingml/2006/main">
            <a:off x="825626" y="1695450"/>
            <a:ext cx="6730747" cy="3733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EAB7F-EDE8-4E78-8D6B-BADA2B61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B9A69-7F82-4830-9446-796537FF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5673F-8F28-492C-A37B-9680094A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Lower is better for this screen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8AFC2-8694-4CBE-9712-E1CBB7E8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021AC-D487-4AA2-8711-AFF3F62F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it before expensive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E1467-803C-478E-A350-1D20BA60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E9312-4541-4709-B76D-43D055DA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7205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This cached curve teaches how to read a metric; it is not a new NEO result.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EB444-C098-4C6D-AFDA-F2AF8F83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83ea53bf44a3b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C7416-12A0-427E-8B1B-4D6321A6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Effective ripple is an early transport warning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3A4A3-9E2C-43A6-82D0-DDB6B65A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18C17-8E11-4977-AC95-678C41B5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A193D3-0675-4F58-B2ED-9C844711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25E25-CDA6-4D93-BE4B-9A6E2C13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FF72CE-F098-46E8-904A-DD07295C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46C811-742A-4ACE-B847-F56F74AD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17</a:t>
            </a:r>
          </a:p>
        </p:txBody>
      </p:sp>
    </p:spTree>
    <p:extLst>
      <p:ext uri="{BB962C8B-B14F-4D97-AF65-F5344CB8AC3E}">
        <p14:creationId xmlns:p14="http://schemas.microsoft.com/office/powerpoint/2010/main" val="23585362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5ACF45-CE46-4B14-AC95-A4606DCE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F862E-CDD9-45C0-A89F-DE2D92D3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3914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becb295214a43"/>
          <a:stretch xmlns:a="http://schemas.openxmlformats.org/drawingml/2006/main"/>
        </p:blipFill>
        <p:spPr>
          <a:xfrm xmlns:a="http://schemas.openxmlformats.org/drawingml/2006/main">
            <a:off x="1007444" y="1695450"/>
            <a:ext cx="6367112" cy="3733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E7C5B-12AD-45CF-9457-A4F42003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CEFF7-36A0-488A-BA42-546F8365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B7A83-A0B2-4C10-A5B4-FEDBF769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Finite differences are robust for teaching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F7A9C-2C95-43F1-8BD4-C756D8A1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F6CA0-E0FE-4E96-A4B4-B1229D47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Autodiff becomes important at scale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D3429-EAB4-4E56-8FA4-AA073414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42E19-E5C0-4985-B6D4-EAF34989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7205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The point is sensitivity ranking, not a production derivative.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B0A87-C07B-443E-86D0-F34F95B7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dcf7b15f14943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EED73-FA49-4089-812B-81864CF9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Gradients tell us which knobs matter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4627A-93C4-4EB9-A2CD-F1768516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DECDCF-9625-4A7A-A3FE-D99362C3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9CEBC-1174-4D67-932F-24F8754F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22C174-BB63-4CFA-ACBC-581648F3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026128-43F9-4969-95C4-91AA02B9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C7EE80-7EF7-4689-BC6D-242EAC00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18</a:t>
            </a:r>
          </a:p>
        </p:txBody>
      </p:sp>
    </p:spTree>
    <p:extLst>
      <p:ext uri="{BB962C8B-B14F-4D97-AF65-F5344CB8AC3E}">
        <p14:creationId xmlns:p14="http://schemas.microsoft.com/office/powerpoint/2010/main" val="76099778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D8E85C-8DD5-4CFC-9532-820423E3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C5814-9BBA-4DAE-A54A-2BCEDAE5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6d02feb3a4862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35961-814E-408C-A87C-419DBF17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8953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The scalar objective is a negotiation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63894-96F2-4C82-958C-3448AF84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11E6C-8B8A-4489-80F8-869CA63D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A83A0-171B-4301-85CA-75D27818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695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Weights encode scientific and engineering priorities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A1805-2FD0-4554-9AEC-8ED35807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32182-ACE4-4930-A66C-ED1F5B31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10B3E-14E7-4483-AF45-BE49CEF7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DEBF7-8B65-4F63-9B91-BF4F2B36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B6980-DC11-4FE6-97FD-9107EF3E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19</a:t>
            </a:r>
          </a:p>
        </p:txBody>
      </p:sp>
    </p:spTree>
    <p:extLst>
      <p:ext uri="{BB962C8B-B14F-4D97-AF65-F5344CB8AC3E}">
        <p14:creationId xmlns:p14="http://schemas.microsoft.com/office/powerpoint/2010/main" val="22602889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215EB2-8A57-4062-AC5B-B5B88810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700F4-8182-4E31-BED3-3C919E83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22b544a744df5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36EB2-F7CF-41E0-943E-345C499D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Demo break: spectrum and ripple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2A836-97C9-4D04-97AE-F1FD6761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F1478-1AC5-42D2-8F77-C833E84A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0005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EAD6E-BDC0-4E79-AABE-61A00AC5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00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C2C50-53C6-41B5-B102-3100192D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Notebook break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A3C5B-718D-461E-A64A-A0CA9EE1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2B2B2B"/>
                </a:solidFill>
                <a:latin typeface="Aptos Mono"/>
                <a:ea typeface="Aptos Mono"/>
                <a:cs typeface="Aptos Mono"/>
              </a:rPr>
              <a:t>notebooks/02_boozer_spectrum.ipynb + notebooks/03_effective_ripple_neo_jax.ipynb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1327B0-D98C-4602-B262-586FC596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E7628-BB3F-4C48-A1F8-6D23FD2F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718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Circle bad modes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02660-6E2A-453A-9170-7F953E17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86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067F1-1211-4F1F-88D5-D6C37E7D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Change one scalar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B17B5-0D06-4964-9BA7-E15580F6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95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60B8F-C645-4A26-88A9-4459103A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Explain what the plot proves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6cc43d1d54424"/>
          <a:stretch xmlns:a="http://schemas.openxmlformats.org/drawingml/2006/main"/>
        </p:blipFill>
        <p:spPr>
          <a:xfrm xmlns:a="http://schemas.openxmlformats.org/drawingml/2006/main">
            <a:off x="5619750" y="1755344"/>
            <a:ext cx="5334000" cy="2947261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8A308A-F88A-49D1-BCAC-2DACDDA2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4350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40B37-0C13-433A-ACCF-ADF5A8D8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67325"/>
            <a:ext cx="491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Cached mode first. Repo: https://github.com/rogeriojorge/sos2026-rjorge-stellarator-optimization | Docs: https://sos2026-rjorge-stellarator-optimization.readthedocs.io/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2B9DEF-CE85-4644-B9AE-840B19BA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BD6365-00E7-46F7-90B2-D2B3E019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63D6A4-C897-4499-A210-0DA89CE1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74A1F8-B7B0-4537-9493-A6145687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4C3BB4-1456-4F01-806E-4188B760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20</a:t>
            </a:r>
          </a:p>
        </p:txBody>
      </p:sp>
    </p:spTree>
    <p:extLst>
      <p:ext uri="{BB962C8B-B14F-4D97-AF65-F5344CB8AC3E}">
        <p14:creationId xmlns:p14="http://schemas.microsoft.com/office/powerpoint/2010/main" val="100193336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13E2F8-2845-42E0-8472-9B79445D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741FF-5C3C-451A-8BF3-97FF1FD7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9715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ED7A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B740F-BE12-4862-8FC6-07904A7B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714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3AFAF-A0CB-4E70-A549-19BD5D15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rPr>
              <a:t>Validation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489FF-D403-43BD-B366-6A5199A9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33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95604-A9B2-4AFB-B72C-0E869CC2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289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clean surface is not a validated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186F8-9673-4163-BEE7-DDE7D008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24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0F2B1-753C-4041-A7A7-6DE251AA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1945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scalar can hide the wrong physics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84637-B164-4BB3-9E88-27B6A0B6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14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B7F34-6476-4A76-8AB7-6A982976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cached figure must say what it 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039F6-9F71-47E6-AB65-E3ED5D5C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828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7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72D2A-00CF-4CC2-8BCE-01469A01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2920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3412"/>
                </a:solidFill>
                <a:latin typeface="Aptos"/>
                <a:ea typeface="Aptos"/>
                <a:cs typeface="Aptos"/>
              </a:rPr>
              <a:t>Classroom rule: label approximations, keep cached mode ready, and write down what was actually computed.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D2A74-5BF2-4568-9D30-33CFA560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a2138984a4a8a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1C63B-B718-42E6-ABB0-8780A827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Failure mode: optimizing a beautiful plot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97F3F-0467-4B5D-888E-B5FEB171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B1DD8-8E35-4532-9C4E-18AF63E8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EDB436-52D6-461A-B5C9-A8B62A9F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91AA4E-28EB-436F-876C-903B61D7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EF3339-6196-4D44-BA29-3B6E6597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4E6EBD-3090-4118-B71C-49B994A8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21</a:t>
            </a:r>
          </a:p>
        </p:txBody>
      </p:sp>
    </p:spTree>
    <p:extLst>
      <p:ext uri="{BB962C8B-B14F-4D97-AF65-F5344CB8AC3E}">
        <p14:creationId xmlns:p14="http://schemas.microsoft.com/office/powerpoint/2010/main" val="188099188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6A4695-CCFF-4EBE-901D-FB5C09CD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5DC00-6BB0-4722-A28C-C745622F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2f6b8befc4b3f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59B4B-5C42-42C4-8EB6-2AA2E75D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Lecture 1 what to remember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758CC-CE3E-4E80-ABEC-3BA01FE1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67457-CB56-4AD7-AE16-2EB5B22D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14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6D759-C137-4EA0-B365-8F748ED3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86677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Optimization starts with a parameterization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D0512-0D4E-4735-9CAA-B7597AFD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95563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693D3-722B-4671-8FB9-EE29D28E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90788"/>
            <a:ext cx="86677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A wout file is a scientific 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3DFFD-9F47-4F28-ABB7-AEB54973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6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C5BFE-6167-42CB-99A5-FDE96D19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71825"/>
            <a:ext cx="86677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Boozer spectra turn symmetry into penalties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0E7C8-AE2D-4D41-AE24-9D2BA734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57638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46509-A6A9-4744-8140-EED4B137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52863"/>
            <a:ext cx="86677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Metrics must stay connected to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010CC-D9BD-49D3-A0D1-00A8CAD2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3870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D5AE2-8FBC-40F1-9F5B-CA1899E2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62525"/>
            <a:ext cx="752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good optimization result is a design argument that survives new metrics.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8A272-832B-4B8F-8A5D-21553A75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8AA6F5-B779-4429-A84D-F26C39D8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1CA73-31B7-4EAF-9A37-872D6A23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C2F76-E95E-4FAC-9B56-49F795C4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470453-EC3D-413B-88CE-2AAE5ADD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22</a:t>
            </a:r>
          </a:p>
        </p:txBody>
      </p:sp>
    </p:spTree>
    <p:extLst>
      <p:ext uri="{BB962C8B-B14F-4D97-AF65-F5344CB8AC3E}">
        <p14:creationId xmlns:p14="http://schemas.microsoft.com/office/powerpoint/2010/main" val="119688680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710B84-6187-497A-8D39-1BA68DF8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BBAA3-64E6-4F8E-823D-A102174A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a258e5ca74733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A44C7-1652-418D-8B32-974AC850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8953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A design loop starts when the artifact can be rerun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9496E-E586-43A7-86B4-E52E6468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FC87D-F9FE-4521-9F64-4BFCFADF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07B1D-8688-4560-B17E-84C72054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695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Repo and docs are part of the scientific object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870B8-10E8-4244-9DF5-F222D64C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08EFC-2D2E-4D10-9156-058CF452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0E12F-02D4-4975-96F2-E450BF42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E8657-CC58-457D-84CF-7B9D7B06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37701-EACE-48ED-B48F-D6328067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23</a:t>
            </a:r>
          </a:p>
        </p:txBody>
      </p:sp>
    </p:spTree>
    <p:extLst>
      <p:ext uri="{BB962C8B-B14F-4D97-AF65-F5344CB8AC3E}">
        <p14:creationId xmlns:p14="http://schemas.microsoft.com/office/powerpoint/2010/main" val="212276264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B640E2-A779-40B1-95CB-3E1F0F12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1EC60-C99D-4BAE-B5C7-67C101BD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086da4f0a46cc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1A235-F324-4B5D-9D9F-DCB77149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Lecture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721EA-4F76-4AD5-A686-FFB748CD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82F8F-D008-4C5E-9B53-A595A62B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857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APPENDIX. Lecture 1 checks and replacements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32D98-68A8-4632-9F4A-C7234163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3855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79829-0185-4EC4-BAA2-615CEAA8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00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F33F1-8B6F-41F0-8270-840BD49A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this section when a live package succeeds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8CCD4-D12A-4582-A24E-C1110E91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29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0F4BD-BA35-4005-88B6-E3CCD57F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244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Keep cached mode as the classroom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2AC40-2563-4AE6-ADA1-9FE446BA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05B98-54D6-4343-A111-DD25BCD8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2FBF4-CE7C-4F7F-A919-E4D7359C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4ADE51-701D-454C-89F6-F438AC21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9B99D-B70C-4CED-88EC-56B89755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24</a:t>
            </a:r>
          </a:p>
        </p:txBody>
      </p:sp>
    </p:spTree>
    <p:extLst>
      <p:ext uri="{BB962C8B-B14F-4D97-AF65-F5344CB8AC3E}">
        <p14:creationId xmlns:p14="http://schemas.microsoft.com/office/powerpoint/2010/main" val="146688559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0B0610-9C42-4455-8015-E50E436C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D2259-6B8D-4ADD-A530-3A1F19CF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f5f5b1c94490d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BDEF8-663E-4598-9DC4-C085439A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VMEC file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77AF7-49B8-4EF8-A4DC-F9584F37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5A9BA-95B4-4B6F-89BA-1CE8F7CB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9C1C7-E143-4399-BE73-4FDA7CE9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A9F82-BEEF-408B-84D3-C061F00E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2482B-7ADA-4D3E-AF72-3907C006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1E4F9-E844-4395-9D84-F7AD9302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33407-8378-4CAF-A83C-B68E31EF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E34F9-7DFD-4E5E-B906-F3DA085B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Dimensions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60D1F-95B0-4598-BE68-9906E149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surfaces, modes, field periods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C3C0C-9BEC-4D18-AB17-1C356086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F11B88-9635-45FD-AEB4-CDFAA2C5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6FE2D-BE0A-42DD-8DAA-B5699344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Variables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27349D-127D-4848-8ABF-07C46ADB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iota, pressure, boundary coefficients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EBBEBD-E65A-490D-89DE-5672FE0A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D80F80-3A4B-4917-9CAF-4ADA94E3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C4A9D8-9C16-4153-8AA8-731972C9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Provenance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78A68A-3BC5-438B-9DC0-AADD4467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public repo path and hash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F8FB8-C534-4C2A-B1F3-2C7BD42C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1D280B-3068-4468-8F35-F951619D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6E1663-8AAC-44D2-AAC9-B4A53725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4A6BFD-F71D-43BD-B74D-5DAC7EA2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3400B9-70D5-4FE5-A277-BE8C2B56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25</a:t>
            </a:r>
          </a:p>
        </p:txBody>
      </p:sp>
    </p:spTree>
    <p:extLst>
      <p:ext uri="{BB962C8B-B14F-4D97-AF65-F5344CB8AC3E}">
        <p14:creationId xmlns:p14="http://schemas.microsoft.com/office/powerpoint/2010/main" val="130873083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D137A0-9309-4FF5-805D-2A2666C2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52CB5-B0EF-4F37-AAE4-0D56F464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c38ef129946ba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920F1-7563-4546-9C5F-89314806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Boozer file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01933-97F2-429F-AF9A-0D25A358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B3B3B-2E55-40F9-9EDD-717650BD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4BEBB-2465-4313-960B-C415E853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45D4F-C05A-4A56-AB10-505C05A9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3D707-E1FB-4F54-8AB3-7CA12252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C2F28-F795-4286-BA25-0E04DAB2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594BA-D122-42C2-8151-023B0626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291FA-A8A8-4097-9980-F2BAFBF5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Surface labels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D8440-6AD3-4DF8-B076-0E25D0E7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choose the same radial grid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5C2E4-1AA3-46C2-A74C-7D03BB25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510F9-5766-48F7-A856-8C368B66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86C96-9B12-43BF-A533-2887AC37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Mode truncation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0F64F-E126-4DF1-92E0-E7D8240C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report m/n limits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02363-F565-4D11-91E8-D8398A7C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FA1728-D0A9-4B75-BAAD-1969AF1B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8FCB17-4854-46B3-B72A-8A86CA3C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Residual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B033FE-2303-4B12-8E9D-189BD076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separate symmetry-preserving from breaking modes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31909B-FAA8-4885-A153-E0C69C97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F43ECC-532E-4F30-9399-FA0AB81F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862673-96A8-4C1B-BCD3-FC028A75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E7E18B-4D5F-40B8-9A0B-C4113CAC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80EB99-A359-4578-B4BC-2E443D9B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26</a:t>
            </a:r>
          </a:p>
        </p:txBody>
      </p:sp>
    </p:spTree>
    <p:extLst>
      <p:ext uri="{BB962C8B-B14F-4D97-AF65-F5344CB8AC3E}">
        <p14:creationId xmlns:p14="http://schemas.microsoft.com/office/powerpoint/2010/main" val="80372209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808252-8F0F-4914-9B33-EE6803AF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8769B-F343-401C-BA62-7570B676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9715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ED7A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6B088-F6D4-4FE4-9D5E-F0E72342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714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B4213-1978-4300-87B0-09D3DDC8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rPr>
              <a:t>Validation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4B5E6-0411-46E6-97A2-E3F4D02B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33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908EF-4A27-4100-8358-947A733C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289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Teaching the loop structure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2ED31-4DAA-4AA0-A5F1-69F9D62E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24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6B8F2-767B-4AAA-950A-1EAEF009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1945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Testing plotting and data plumbing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51620-62B6-4434-B641-19012628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14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58B9B7-EAB3-45DF-89DA-E6F7E561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Preparing exercises with qualitative answers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DFD06-76E7-48EA-9A81-CCC92925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828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7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74646-14FD-4344-AAE6-00AAF376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2920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3412"/>
                </a:solidFill>
                <a:latin typeface="Aptos"/>
                <a:ea typeface="Aptos"/>
                <a:cs typeface="Aptos"/>
              </a:rPr>
              <a:t>Classroom rule: label approximations, keep cached mode ready, and write down what was actually computed.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EAEF5-2339-44F2-85DA-EAA60977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97597a0264f95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47E5D-304D-4254-BB4E-1FB1D237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When cached mode is enough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97E19-544F-4504-B5AB-F70250FC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CA8060-D60B-42DE-ADC5-9427C374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B1D81A-5828-49C3-8718-4FFA4F5B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877CDB-AF15-4CA4-B68B-082358F5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F3CA06-E746-4856-8086-899F23A8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72B9C-1731-4406-BC82-C917E83E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27</a:t>
            </a:r>
          </a:p>
        </p:txBody>
      </p:sp>
    </p:spTree>
    <p:extLst>
      <p:ext uri="{BB962C8B-B14F-4D97-AF65-F5344CB8AC3E}">
        <p14:creationId xmlns:p14="http://schemas.microsoft.com/office/powerpoint/2010/main" val="168746394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325FDE-379E-48E8-84C4-DECC2514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21CCD-F511-4063-9E1C-AC423AB0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9715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ED7A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50494-2B62-45C8-B5E0-CAC7C3C2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714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02348-86B2-428F-A299-C30E3BDF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9A3412"/>
                </a:solidFill>
                <a:latin typeface="Aptos Display"/>
                <a:ea typeface="Aptos Display"/>
                <a:cs typeface="Aptos Display"/>
              </a:rPr>
              <a:t>Validation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B7FAE-2BC0-47C9-9ED7-B0355E07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33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5A257-04F1-47C9-ADCA-5612E368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289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Reporting a numerical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94699-5767-49A7-A617-F653ED4C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24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29AB1-6BC0-4D59-BA14-E2EF0A46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1945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Comparing HSX and W7-X quantitatively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64689-7530-4898-A126-466802BC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14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9CA20-3847-4322-B633-52011DB1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Changing VMEC or Boozer resolution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C15AE-11AA-482A-8206-B481C225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828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7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B7ADE-7B0F-4C15-915B-ECE7929F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2920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3412"/>
                </a:solidFill>
                <a:latin typeface="Aptos"/>
                <a:ea typeface="Aptos"/>
                <a:cs typeface="Aptos"/>
              </a:rPr>
              <a:t>Classroom rule: label approximations, keep cached mode ready, and write down what was actually computed.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B0D62-4F4A-40E5-815C-B4ECCB2C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5a009a5a2471d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D0316-5B6E-4E2A-BA23-DEFA0414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When research mode is needed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0D4E9-99C7-4923-B3A9-DE20A134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EAA96-A5AF-4F50-8875-4E2CD324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0E1F2-8E33-442C-9BD5-280F4C47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5F309F-D0CF-42B0-A605-904F0E31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38CE3B-56FF-45D0-AF65-4229AFEF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C8F27C-EF47-47BF-97B7-C38CFB49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28</a:t>
            </a:r>
          </a:p>
        </p:txBody>
      </p:sp>
    </p:spTree>
    <p:extLst>
      <p:ext uri="{BB962C8B-B14F-4D97-AF65-F5344CB8AC3E}">
        <p14:creationId xmlns:p14="http://schemas.microsoft.com/office/powerpoint/2010/main" val="3386049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D62ECE-F405-41B8-9F5F-A039497C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E2C8F-6C43-457D-B45A-6E43D8EC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02c7c516541a0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09402-2D58-4892-AFC7-56A15019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Research path: VMEC_JAX to Boozer transform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10E0C-8A69-4064-9E44-C8679CFA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CA9BE-3B8C-4453-8C38-33FE1EB6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666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4AA75-4A18-42FF-9A68-A147F9A2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A49CB-0931-41C8-8EC0-C3093F26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cached-mode command surface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3461C-00A8-4ED4-9467-0893F49F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05050"/>
            <a:ext cx="5905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$ python scripts/run_smoke_tests.py</a:t>
            </a:r>
          </a:p>
          <a:p xmlns:a="http://schemas.openxmlformats.org/drawingml/2006/main">
            <a:pPr algn="l">
              <a:def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$ python scripts/execute_all_notebooks.py</a:t>
            </a:r>
          </a:p>
          <a:p xmlns:a="http://schemas.openxmlformats.org/drawingml/2006/main">
            <a:pPr algn="l">
              <a:def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$ python scripts/build_powerpoint_decks.mjs</a:t>
            </a:r>
          </a:p>
          <a:p xmlns:a="http://schemas.openxmlformats.org/drawingml/2006/main">
            <a:pPr algn="l">
              <a:def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72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$ python scripts/check_release_ready.py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DD3F5-93C6-40CA-8BA4-B9BDA5F9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90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5FBCC-5C64-4A11-92DA-ECFE6D29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2571750" cy="67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Start from a verified input or wout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E3A10-A40B-4A58-A797-8F17A4C9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4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2834E-56EA-427E-8711-CE4A10FC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79700"/>
            <a:ext cx="2571750" cy="67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Run a tiny equilibrium on the lecture machine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AE163-C542-4B7D-8D9B-90C6C136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78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7AD4E-DFBF-4CD1-87D2-70CB036C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3450"/>
            <a:ext cx="2571750" cy="67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Replace cached arrays with documented 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44058-229E-4860-B567-33513D06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CEB2B-CC5F-4E87-AFCB-40FC915A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AF423D-FA4E-4C04-9F95-06F40D97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FF1DE1-0DB2-4E3A-8496-0EB6B58D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33E0B-40A1-4893-B593-2B84919B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29</a:t>
            </a:r>
          </a:p>
        </p:txBody>
      </p:sp>
    </p:spTree>
    <p:extLst>
      <p:ext uri="{BB962C8B-B14F-4D97-AF65-F5344CB8AC3E}">
        <p14:creationId xmlns:p14="http://schemas.microsoft.com/office/powerpoint/2010/main" val="657443459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1ECFAA-C9DB-4180-9608-5BB9B856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0ADED-D8E9-4173-A444-B2BED2B1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ce6979e6941a5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61D40-FCBD-4011-B74E-00D64C2E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Metric acceptance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A57DD-AF59-43E3-AFB4-AA6ABC94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E9C59-794D-46EB-B074-2F69D824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2257D-C563-48D4-9042-E71576F6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62CF6-9785-4D19-94F8-D5EC3CFD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57370-0E9E-4F1B-8BB7-22C1E06B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9BFF3-2E7E-46C0-89CF-2991596F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47FC8-F6BA-49B6-8D8C-3B559FCF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6C8E4B-D772-4B46-ABD2-44D4AD3C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Cached figure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9CA9C-C2EC-452A-836F-A92E795D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for trend and classroom discussion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3977A-5081-4749-8F73-50D79668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E9E1A-34B8-4C6E-8F8B-756B7559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30C4C-C37B-4C53-A86B-AEFC9921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Real-code run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C7B402-AE2E-4F3E-998A-095A47C6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for numerical claim after provenance 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3FFBEE-1978-463E-BC2E-E2702656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BA8055-B9EB-424F-86FD-989E3DB2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C7A1FB-9B60-482F-9397-01E8C661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STATUS.md record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C2456-4C25-43FA-B0DB-8F6081D1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package, data source, and validation domain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419638-8EED-4A5F-9976-D017FCA7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D20AA3-A8CE-4E78-A643-225228BD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402A32-35AD-4983-AB63-1D8D0AE8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13D3E1-D6A1-4579-8312-6DD4F56A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4E1EE1-C175-4B48-A2A6-204B1E4F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30</a:t>
            </a:r>
          </a:p>
        </p:txBody>
      </p:sp>
    </p:spTree>
    <p:extLst>
      <p:ext uri="{BB962C8B-B14F-4D97-AF65-F5344CB8AC3E}">
        <p14:creationId xmlns:p14="http://schemas.microsoft.com/office/powerpoint/2010/main" val="1955997346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817067-6F8E-4082-93FF-5D3864D1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E6C81-AE4D-470D-A4ED-F7E3FFC3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3914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094361c6f44f5"/>
          <a:stretch xmlns:a="http://schemas.openxmlformats.org/drawingml/2006/main"/>
        </p:blipFill>
        <p:spPr>
          <a:xfrm xmlns:a="http://schemas.openxmlformats.org/drawingml/2006/main">
            <a:off x="2401888" y="1695450"/>
            <a:ext cx="3578225" cy="3733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ACBA9-9C09-40F2-92F2-9DD792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52223-273D-42B3-A0CC-2BD51256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9E468-A33A-437C-AC60-ECC5A3AA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if the live surface plot fails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71DB8-11C6-4FE8-A3A4-9BA9DBD0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8B735-09A6-4C2F-98D2-99F5AFAE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Keep the cached label visible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75B73-319C-4E24-A1A2-13AD40F4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60992-6A85-4D14-A501-542E9B3F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7205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Fallback image for a short live-demo recovery.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96C57-27B5-4336-A4DC-3D74F1FE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b81de3fa7498e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09B0E-8B1D-4574-8F81-733161E1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Backup figure: HSX surface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207EF-795B-4F52-96FF-FC318BE6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921F1-A848-4DA4-AAF1-2649A9A4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7920C-3674-44C7-A64E-16F715FF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6D366A-DFEB-480C-97B8-207AEF46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7687D3-72A8-4283-918C-D3599B22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5830B-52FA-42FB-A944-514A3BE7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31</a:t>
            </a:r>
          </a:p>
        </p:txBody>
      </p:sp>
    </p:spTree>
    <p:extLst>
      <p:ext uri="{BB962C8B-B14F-4D97-AF65-F5344CB8AC3E}">
        <p14:creationId xmlns:p14="http://schemas.microsoft.com/office/powerpoint/2010/main" val="1334941239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95511B-BB75-4EC0-A807-59952E18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026F9-E478-4702-A436-88E8F8FB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3914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6796781c84a0a"/>
          <a:stretch xmlns:a="http://schemas.openxmlformats.org/drawingml/2006/main"/>
        </p:blipFill>
        <p:spPr>
          <a:xfrm xmlns:a="http://schemas.openxmlformats.org/drawingml/2006/main">
            <a:off x="1404624" y="1695450"/>
            <a:ext cx="5572752" cy="3733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6BA40-FFF5-4976-82EC-3136ED5C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292E6-20F1-47B7-9D0D-A361EEA5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81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38639-D8AF-462D-A88E-2B4DFE1E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Use if the transform is slow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3D0F7-7A77-4E5D-8AD9-B0F72AC8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70E85-1DB6-4B9F-9B93-D13597C0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Discuss the expected symmetry pattern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D7AA7-4AEE-4141-88C2-0E288752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3870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36B86-32C0-4309-9BD1-19AF3E90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7205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Fallback image for reading the contour before scalarizing.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FEDB1-9E5D-4885-BF31-233DE40A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5556a728b4fa6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6EB85-0055-4817-8203-BB952580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Backup figure: Boozer contour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007C8B-FE65-46B3-8FFA-80EA1AB7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31C6C-0F3C-4193-B139-C084195B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8345D-7C7D-44FB-AF27-226A7BFC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F2234-CB61-40A4-99CD-7E6AF148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68B25-C4F2-4272-8C48-089CEA7F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713556-4D3D-44D7-8CF6-36DD900B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32</a:t>
            </a:r>
          </a:p>
        </p:txBody>
      </p:sp>
    </p:spTree>
    <p:extLst>
      <p:ext uri="{BB962C8B-B14F-4D97-AF65-F5344CB8AC3E}">
        <p14:creationId xmlns:p14="http://schemas.microsoft.com/office/powerpoint/2010/main" val="1167490044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9595EC-AB39-4A27-84A1-B61B23C0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0F7F5-F63C-45F8-8725-857A687B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b8ad502774feb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91731-0833-4D30-A51F-9C2F9648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Discussion: what did the optimizer see?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7988F-B924-4C37-BACD-53E99A31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001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05D3E-EAD9-4811-9E0E-73852F8F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D0F47-4A18-446D-A26E-025C205A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887F8-2486-4CA4-94D5-B9E9445E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95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F4CA7-D410-4479-A0F5-C7113DCE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811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Optimization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0D76C-CA77-4594-B20A-D2BED797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CF768-54ED-469E-ADF8-297538FD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3B428-F879-4270-9245-B83407A4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Design variable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8E92F-312B-48B3-B9BF-03A9FC7B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boundary modes and profiles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89391-F342-4F0A-9B9F-B2049D4A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4055FB-10DD-49D7-ADE2-D90E8C9F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B78A0-6283-4B7A-8D73-AC8239A3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Computed object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0ED4C3-514A-4439-8526-2FA94742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equilibrium, spectra, scalar metrics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024941-FBED-453B-98D9-02B27A55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F2B8FB-A793-49E7-B0CF-88DD4782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8140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B39D87-2585-4844-8AC1-A4EDD2CB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5050C"/>
                </a:solidFill>
                <a:latin typeface="Aptos Display"/>
                <a:ea typeface="Aptos Display"/>
                <a:cs typeface="Aptos Display"/>
              </a:rPr>
              <a:t>Decision variable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346D43-7715-4B4D-B168-C48CC15D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461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which scalar deserves trust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E373ED-0B2B-43E1-A5C5-230DE3C2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86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74E15D-5698-4B32-A3D3-0E1852D9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293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 2026 Stellarator Optimization, Rogerio Jorge, UW-Madison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979BE0-9011-4307-BD1C-E42C1785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cached / tiny /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55244F-3640-4108-BF73-ABEA3E5F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293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65B4A0-94BF-4D84-8DBE-08B44ACB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33</a:t>
            </a:r>
          </a:p>
        </p:txBody>
      </p:sp>
    </p:spTree>
    <p:extLst>
      <p:ext uri="{BB962C8B-B14F-4D97-AF65-F5344CB8AC3E}">
        <p14:creationId xmlns:p14="http://schemas.microsoft.com/office/powerpoint/2010/main" val="900708222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1B825D-E457-4EBA-938F-D6375010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69B5B-65BA-4B3C-820A-1A177ADA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6EA15-2057-43CB-A31A-A32E83E7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0"/>
            <a:ext cx="457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d9c6caf424a4a"/>
          <a:stretch xmlns:a="http://schemas.openxmlformats.org/drawingml/2006/main"/>
        </p:blipFill>
        <p:spPr>
          <a:xfrm xmlns:a="http://schemas.openxmlformats.org/drawingml/2006/main">
            <a:off x="11487150" y="133196"/>
            <a:ext cx="266700" cy="41940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2BAD1-FFCE-4DF5-8BE9-075685B5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894CE-4562-4555-A9D3-D7AE0274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810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2B2B2B"/>
                </a:solidFill>
                <a:latin typeface="Aptos Display"/>
                <a:ea typeface="Aptos Display"/>
                <a:cs typeface="Aptos Display"/>
              </a:rPr>
              <a:t>What to remember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4EBE7-906C-40BD-9B5B-3A4C2287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AD815-3A08-4605-888D-7E0E6840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62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ACEE2-B9DC-4573-9CFA-485BC484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Keep the scientific object and the computed artifact together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DD7E4-B4C1-4DA1-98B5-780421D5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52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E401D-1E7A-4B90-9ABD-EAA3E18D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Rerun, perturb, compare, and explain before trusting the optimum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5CA9EE-BBDE-4DC8-AA3B-BDF9F775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43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AF153-8D5C-47F6-8E1D-16D7F6EB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7620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B2B2B"/>
                </a:solidFill>
                <a:latin typeface="Aptos"/>
                <a:ea typeface="Aptos"/>
                <a:cs typeface="Aptos"/>
              </a:rPr>
              <a:t>Docs: https://sos2026-rjorge-stellarator-optimization.readthedocs.io/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9C1FC-3737-4AF1-B107-2AF77E7A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773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05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EFFBA1-9AAB-4356-B1A3-69287EAB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Repo lab handoff: rerun, perturb, compare, explain.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8FF33-F0C9-44C3-98A9-69FC17F8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102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github.com/rogeriojorge/sos2026-rjorge-stellarator-optimization</a:t>
            </a:r>
          </a:p>
          <a:p xmlns:a="http://schemas.openxmlformats.org/drawingml/2006/main">
            <a:pPr algn="r">
              <a:defRPr sz="975" b="0">
                <a:solidFill>
                  <a:srgbClr val="646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6569"/>
                </a:solidFill>
                <a:latin typeface="Aptos"/>
                <a:ea typeface="Aptos"/>
                <a:cs typeface="Aptos"/>
              </a:rPr>
              <a:t>sos2026-rjorge-stellarator-optimization.readthedocs.io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153DEA-C50B-4BBB-B90E-41744809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F6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F6F6F"/>
                </a:solidFill>
                <a:latin typeface="Aptos"/>
                <a:ea typeface="Aptos"/>
                <a:cs typeface="Aptos"/>
              </a:rPr>
              <a:t>Slide 34</a:t>
            </a:r>
          </a:p>
        </p:txBody>
      </p:sp>
    </p:spTree>
    <p:extLst>
      <p:ext uri="{BB962C8B-B14F-4D97-AF65-F5344CB8AC3E}">
        <p14:creationId xmlns:p14="http://schemas.microsoft.com/office/powerpoint/2010/main" val="489680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2026-05-23T18:32:06.5620000Z</dcterms:created>
  <dcterms:modified xsi:type="dcterms:W3CDTF">2026-05-23T18:32:06.5620000Z</dcterms:modified>
</coreProperties>
</file>