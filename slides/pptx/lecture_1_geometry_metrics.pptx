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e9de08c1a4450d" /><Relationship Type="http://schemas.openxmlformats.org/officeDocument/2006/relationships/extended-properties" Target="/docProps/app.xml" Id="R6bb82433fa054c7d" /><Relationship Type="http://schemas.openxmlformats.org/officeDocument/2006/relationships/officeDocument" Target="/ppt/presentation.xml" Id="R3a787c7a62c949d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d7c67a94b14fa4"/>
  </p:sldMasterIdLst>
  <p:notesMasterIdLst>
    <p:notesMasterId xmlns:r="http://schemas.openxmlformats.org/officeDocument/2006/relationships" r:id="Re860be42c72d4ce6"/>
  </p:notesMasterIdLst>
  <p:sldIdLst>
    <p:sldId xmlns:r="http://schemas.openxmlformats.org/officeDocument/2006/relationships" id="256" r:id="R9696a8e51b594d72"/>
    <p:sldId xmlns:r="http://schemas.openxmlformats.org/officeDocument/2006/relationships" id="257" r:id="Rbd8cace621374959"/>
    <p:sldId xmlns:r="http://schemas.openxmlformats.org/officeDocument/2006/relationships" id="258" r:id="Rcf321955db7448ed"/>
    <p:sldId xmlns:r="http://schemas.openxmlformats.org/officeDocument/2006/relationships" id="259" r:id="Rbc4adbd536c54e86"/>
    <p:sldId xmlns:r="http://schemas.openxmlformats.org/officeDocument/2006/relationships" id="260" r:id="R57df2d4661034b9b"/>
    <p:sldId xmlns:r="http://schemas.openxmlformats.org/officeDocument/2006/relationships" id="261" r:id="R82b729ba36304279"/>
    <p:sldId xmlns:r="http://schemas.openxmlformats.org/officeDocument/2006/relationships" id="262" r:id="R71ce08eddc604839"/>
    <p:sldId xmlns:r="http://schemas.openxmlformats.org/officeDocument/2006/relationships" id="263" r:id="Ra4a47899bbd346e3"/>
    <p:sldId xmlns:r="http://schemas.openxmlformats.org/officeDocument/2006/relationships" id="264" r:id="Rab68368de13b456f"/>
    <p:sldId xmlns:r="http://schemas.openxmlformats.org/officeDocument/2006/relationships" id="265" r:id="Ra0d19a2d121a4092"/>
    <p:sldId xmlns:r="http://schemas.openxmlformats.org/officeDocument/2006/relationships" id="266" r:id="R9aa381c5fc4345b7"/>
    <p:sldId xmlns:r="http://schemas.openxmlformats.org/officeDocument/2006/relationships" id="267" r:id="R385addf31bc540d9"/>
    <p:sldId xmlns:r="http://schemas.openxmlformats.org/officeDocument/2006/relationships" id="268" r:id="Rc97f685880c84dcd"/>
    <p:sldId xmlns:r="http://schemas.openxmlformats.org/officeDocument/2006/relationships" id="269" r:id="R9a730af1802c4ae1"/>
    <p:sldId xmlns:r="http://schemas.openxmlformats.org/officeDocument/2006/relationships" id="270" r:id="Rafdfbeee739c4e5c"/>
    <p:sldId xmlns:r="http://schemas.openxmlformats.org/officeDocument/2006/relationships" id="271" r:id="R806ddaf731cc4ad6"/>
    <p:sldId xmlns:r="http://schemas.openxmlformats.org/officeDocument/2006/relationships" id="272" r:id="R902007df11874f4e"/>
    <p:sldId xmlns:r="http://schemas.openxmlformats.org/officeDocument/2006/relationships" id="273" r:id="R1c291e76743e42e6"/>
    <p:sldId xmlns:r="http://schemas.openxmlformats.org/officeDocument/2006/relationships" id="274" r:id="R0fdd879cfdd243c0"/>
    <p:sldId xmlns:r="http://schemas.openxmlformats.org/officeDocument/2006/relationships" id="275" r:id="R20364561222e4a50"/>
    <p:sldId xmlns:r="http://schemas.openxmlformats.org/officeDocument/2006/relationships" id="276" r:id="R201da8243fe14ceb"/>
    <p:sldId xmlns:r="http://schemas.openxmlformats.org/officeDocument/2006/relationships" id="277" r:id="R8b6736b33f7c4c68"/>
    <p:sldId xmlns:r="http://schemas.openxmlformats.org/officeDocument/2006/relationships" id="278" r:id="R73cb620dbb4a4262"/>
    <p:sldId xmlns:r="http://schemas.openxmlformats.org/officeDocument/2006/relationships" id="279" r:id="Rd1f22b14af6b4ffe"/>
    <p:sldId xmlns:r="http://schemas.openxmlformats.org/officeDocument/2006/relationships" id="280" r:id="Rfa69352078784639"/>
    <p:sldId xmlns:r="http://schemas.openxmlformats.org/officeDocument/2006/relationships" id="281" r:id="R689d7c124bec4022"/>
    <p:sldId xmlns:r="http://schemas.openxmlformats.org/officeDocument/2006/relationships" id="282" r:id="R6b0a5c2978c4403d"/>
    <p:sldId xmlns:r="http://schemas.openxmlformats.org/officeDocument/2006/relationships" id="283" r:id="R770b152e8b48421f"/>
    <p:sldId xmlns:r="http://schemas.openxmlformats.org/officeDocument/2006/relationships" id="284" r:id="R68e3ff1159d04cfc"/>
    <p:sldId xmlns:r="http://schemas.openxmlformats.org/officeDocument/2006/relationships" id="285" r:id="Rd0f7dd96fcea47cd"/>
    <p:sldId xmlns:r="http://schemas.openxmlformats.org/officeDocument/2006/relationships" id="286" r:id="Rd8ce299301834621"/>
    <p:sldId xmlns:r="http://schemas.openxmlformats.org/officeDocument/2006/relationships" id="287" r:id="R4c59cca9276242b9"/>
    <p:sldId xmlns:r="http://schemas.openxmlformats.org/officeDocument/2006/relationships" id="288" r:id="R83c173fdaba34fd9"/>
    <p:sldId xmlns:r="http://schemas.openxmlformats.org/officeDocument/2006/relationships" id="289" r:id="R0ae7564b0ebf423a"/>
    <p:sldId xmlns:r="http://schemas.openxmlformats.org/officeDocument/2006/relationships" id="290" r:id="Re5db10ab86964203"/>
    <p:sldId xmlns:r="http://schemas.openxmlformats.org/officeDocument/2006/relationships" id="291" r:id="Rae7f742e73f44771"/>
    <p:sldId xmlns:r="http://schemas.openxmlformats.org/officeDocument/2006/relationships" id="292" r:id="Raa98f533ee4c4e44"/>
    <p:sldId xmlns:r="http://schemas.openxmlformats.org/officeDocument/2006/relationships" id="293" r:id="R9957b04cff734a04"/>
    <p:sldId xmlns:r="http://schemas.openxmlformats.org/officeDocument/2006/relationships" id="294" r:id="R560d056c26d949d5"/>
    <p:sldId xmlns:r="http://schemas.openxmlformats.org/officeDocument/2006/relationships" id="295" r:id="Rd44cf4b467c4430e"/>
    <p:sldId xmlns:r="http://schemas.openxmlformats.org/officeDocument/2006/relationships" id="296" r:id="R7baccefadb1643a7"/>
    <p:sldId xmlns:r="http://schemas.openxmlformats.org/officeDocument/2006/relationships" id="297" r:id="R5507a14e35034402"/>
    <p:sldId xmlns:r="http://schemas.openxmlformats.org/officeDocument/2006/relationships" id="298" r:id="Rc29bd501849b4d58"/>
    <p:sldId xmlns:r="http://schemas.openxmlformats.org/officeDocument/2006/relationships" id="299" r:id="R436b431728de4582"/>
    <p:sldId xmlns:r="http://schemas.openxmlformats.org/officeDocument/2006/relationships" id="300" r:id="R5763befcad84455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d7c67a94b14fa4" /><Relationship Type="http://schemas.openxmlformats.org/officeDocument/2006/relationships/theme" Target="/ppt/theme/theme1.xml" Id="Rbfdaa65e3c264c61" /><Relationship Type="http://schemas.openxmlformats.org/officeDocument/2006/relationships/notesMaster" Target="/ppt/notesMasters/notesMaster1.xml" Id="Re860be42c72d4ce6" /><Relationship Type="http://schemas.openxmlformats.org/officeDocument/2006/relationships/presProps" Target="/ppt/presProps.xml" Id="Rb43e83943fd540ee" /><Relationship Type="http://schemas.openxmlformats.org/officeDocument/2006/relationships/viewProps" Target="/ppt/viewProps.xml" Id="Rb985cfcdced447b4" /><Relationship Type="http://schemas.openxmlformats.org/officeDocument/2006/relationships/tableStyles" Target="/ppt/tableStyles.xml" Id="R88cbb28d96354414" /><Relationship Type="http://schemas.openxmlformats.org/officeDocument/2006/relationships/slide" Target="/ppt/slides/slide1.xml" Id="R9696a8e51b594d72" /><Relationship Type="http://schemas.openxmlformats.org/officeDocument/2006/relationships/slide" Target="/ppt/slides/slide2.xml" Id="Rbd8cace621374959" /><Relationship Type="http://schemas.openxmlformats.org/officeDocument/2006/relationships/slide" Target="/ppt/slides/slide3.xml" Id="Rcf321955db7448ed" /><Relationship Type="http://schemas.openxmlformats.org/officeDocument/2006/relationships/slide" Target="/ppt/slides/slide4.xml" Id="Rbc4adbd536c54e86" /><Relationship Type="http://schemas.openxmlformats.org/officeDocument/2006/relationships/slide" Target="/ppt/slides/slide5.xml" Id="R57df2d4661034b9b" /><Relationship Type="http://schemas.openxmlformats.org/officeDocument/2006/relationships/slide" Target="/ppt/slides/slide6.xml" Id="R82b729ba36304279" /><Relationship Type="http://schemas.openxmlformats.org/officeDocument/2006/relationships/slide" Target="/ppt/slides/slide7.xml" Id="R71ce08eddc604839" /><Relationship Type="http://schemas.openxmlformats.org/officeDocument/2006/relationships/slide" Target="/ppt/slides/slide8.xml" Id="Ra4a47899bbd346e3" /><Relationship Type="http://schemas.openxmlformats.org/officeDocument/2006/relationships/slide" Target="/ppt/slides/slide9.xml" Id="Rab68368de13b456f" /><Relationship Type="http://schemas.openxmlformats.org/officeDocument/2006/relationships/slide" Target="/ppt/slides/slide10.xml" Id="Ra0d19a2d121a4092" /><Relationship Type="http://schemas.openxmlformats.org/officeDocument/2006/relationships/slide" Target="/ppt/slides/slide11.xml" Id="R9aa381c5fc4345b7" /><Relationship Type="http://schemas.openxmlformats.org/officeDocument/2006/relationships/slide" Target="/ppt/slides/slide12.xml" Id="R385addf31bc540d9" /><Relationship Type="http://schemas.openxmlformats.org/officeDocument/2006/relationships/slide" Target="/ppt/slides/slide13.xml" Id="Rc97f685880c84dcd" /><Relationship Type="http://schemas.openxmlformats.org/officeDocument/2006/relationships/slide" Target="/ppt/slides/slide14.xml" Id="R9a730af1802c4ae1" /><Relationship Type="http://schemas.openxmlformats.org/officeDocument/2006/relationships/slide" Target="/ppt/slides/slide15.xml" Id="Rafdfbeee739c4e5c" /><Relationship Type="http://schemas.openxmlformats.org/officeDocument/2006/relationships/slide" Target="/ppt/slides/slide16.xml" Id="R806ddaf731cc4ad6" /><Relationship Type="http://schemas.openxmlformats.org/officeDocument/2006/relationships/slide" Target="/ppt/slides/slide17.xml" Id="R902007df11874f4e" /><Relationship Type="http://schemas.openxmlformats.org/officeDocument/2006/relationships/slide" Target="/ppt/slides/slide18.xml" Id="R1c291e76743e42e6" /><Relationship Type="http://schemas.openxmlformats.org/officeDocument/2006/relationships/slide" Target="/ppt/slides/slide19.xml" Id="R0fdd879cfdd243c0" /><Relationship Type="http://schemas.openxmlformats.org/officeDocument/2006/relationships/slide" Target="/ppt/slides/slide20.xml" Id="R20364561222e4a50" /><Relationship Type="http://schemas.openxmlformats.org/officeDocument/2006/relationships/slide" Target="/ppt/slides/slide21.xml" Id="R201da8243fe14ceb" /><Relationship Type="http://schemas.openxmlformats.org/officeDocument/2006/relationships/slide" Target="/ppt/slides/slide22.xml" Id="R8b6736b33f7c4c68" /><Relationship Type="http://schemas.openxmlformats.org/officeDocument/2006/relationships/slide" Target="/ppt/slides/slide23.xml" Id="R73cb620dbb4a4262" /><Relationship Type="http://schemas.openxmlformats.org/officeDocument/2006/relationships/slide" Target="/ppt/slides/slide24.xml" Id="Rd1f22b14af6b4ffe" /><Relationship Type="http://schemas.openxmlformats.org/officeDocument/2006/relationships/slide" Target="/ppt/slides/slide25.xml" Id="Rfa69352078784639" /><Relationship Type="http://schemas.openxmlformats.org/officeDocument/2006/relationships/slide" Target="/ppt/slides/slide26.xml" Id="R689d7c124bec4022" /><Relationship Type="http://schemas.openxmlformats.org/officeDocument/2006/relationships/slide" Target="/ppt/slides/slide27.xml" Id="R6b0a5c2978c4403d" /><Relationship Type="http://schemas.openxmlformats.org/officeDocument/2006/relationships/slide" Target="/ppt/slides/slide28.xml" Id="R770b152e8b48421f" /><Relationship Type="http://schemas.openxmlformats.org/officeDocument/2006/relationships/slide" Target="/ppt/slides/slide29.xml" Id="R68e3ff1159d04cfc" /><Relationship Type="http://schemas.openxmlformats.org/officeDocument/2006/relationships/slide" Target="/ppt/slides/slide30.xml" Id="Rd0f7dd96fcea47cd" /><Relationship Type="http://schemas.openxmlformats.org/officeDocument/2006/relationships/slide" Target="/ppt/slides/slide31.xml" Id="Rd8ce299301834621" /><Relationship Type="http://schemas.openxmlformats.org/officeDocument/2006/relationships/slide" Target="/ppt/slides/slide32.xml" Id="R4c59cca9276242b9" /><Relationship Type="http://schemas.openxmlformats.org/officeDocument/2006/relationships/slide" Target="/ppt/slides/slide33.xml" Id="R83c173fdaba34fd9" /><Relationship Type="http://schemas.openxmlformats.org/officeDocument/2006/relationships/slide" Target="/ppt/slides/slide34.xml" Id="R0ae7564b0ebf423a" /><Relationship Type="http://schemas.openxmlformats.org/officeDocument/2006/relationships/slide" Target="/ppt/slides/slide35.xml" Id="Re5db10ab86964203" /><Relationship Type="http://schemas.openxmlformats.org/officeDocument/2006/relationships/slide" Target="/ppt/slides/slide36.xml" Id="Rae7f742e73f44771" /><Relationship Type="http://schemas.openxmlformats.org/officeDocument/2006/relationships/slide" Target="/ppt/slides/slide37.xml" Id="Raa98f533ee4c4e44" /><Relationship Type="http://schemas.openxmlformats.org/officeDocument/2006/relationships/slide" Target="/ppt/slides/slide38.xml" Id="R9957b04cff734a04" /><Relationship Type="http://schemas.openxmlformats.org/officeDocument/2006/relationships/slide" Target="/ppt/slides/slide39.xml" Id="R560d056c26d949d5" /><Relationship Type="http://schemas.openxmlformats.org/officeDocument/2006/relationships/slide" Target="/ppt/slides/slide40.xml" Id="Rd44cf4b467c4430e" /><Relationship Type="http://schemas.openxmlformats.org/officeDocument/2006/relationships/slide" Target="/ppt/slides/slide41.xml" Id="R7baccefadb1643a7" /><Relationship Type="http://schemas.openxmlformats.org/officeDocument/2006/relationships/slide" Target="/ppt/slides/slide42.xml" Id="R5507a14e35034402" /><Relationship Type="http://schemas.openxmlformats.org/officeDocument/2006/relationships/slide" Target="/ppt/slides/slide43.xml" Id="Rc29bd501849b4d58" /><Relationship Type="http://schemas.openxmlformats.org/officeDocument/2006/relationships/slide" Target="/ppt/slides/slide44.xml" Id="R436b431728de4582" /><Relationship Type="http://schemas.openxmlformats.org/officeDocument/2006/relationships/slide" Target="/ppt/slides/slide45.xml" Id="R5763befcad8445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8fe6b773c7045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a1a701921994a45" /><Relationship Type="http://schemas.openxmlformats.org/officeDocument/2006/relationships/notesMaster" Target="/ppt/notesMasters/notesMaster1.xml" Id="Rf12ece70eef2487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dbc642a4f243a6" /><Relationship Type="http://schemas.openxmlformats.org/officeDocument/2006/relationships/notesMaster" Target="/ppt/notesMasters/notesMaster1.xml" Id="Rdf4d24ba7be64c0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046463ab9745cb" /><Relationship Type="http://schemas.openxmlformats.org/officeDocument/2006/relationships/notesMaster" Target="/ppt/notesMasters/notesMaster1.xml" Id="R228e79ef78244e3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ea217f674d84018" /><Relationship Type="http://schemas.openxmlformats.org/officeDocument/2006/relationships/notesMaster" Target="/ppt/notesMasters/notesMaster1.xml" Id="Rc290b2ae488f4a2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d7a833cbb44b7b" /><Relationship Type="http://schemas.openxmlformats.org/officeDocument/2006/relationships/notesMaster" Target="/ppt/notesMasters/notesMaster1.xml" Id="R485511c5f4994f3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0c9369d25154f19" /><Relationship Type="http://schemas.openxmlformats.org/officeDocument/2006/relationships/notesMaster" Target="/ppt/notesMasters/notesMaster1.xml" Id="R3a2f6ee6152d4c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62d446265b04ea0" /><Relationship Type="http://schemas.openxmlformats.org/officeDocument/2006/relationships/notesMaster" Target="/ppt/notesMasters/notesMaster1.xml" Id="R00c640c65e3b438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1900411e9984ce0" /><Relationship Type="http://schemas.openxmlformats.org/officeDocument/2006/relationships/notesMaster" Target="/ppt/notesMasters/notesMaster1.xml" Id="R882fa10be282425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f555663db78479a" /><Relationship Type="http://schemas.openxmlformats.org/officeDocument/2006/relationships/notesMaster" Target="/ppt/notesMasters/notesMaster1.xml" Id="R35a3a9f232bd4c7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362952bf5bb4eaa" /><Relationship Type="http://schemas.openxmlformats.org/officeDocument/2006/relationships/notesMaster" Target="/ppt/notesMasters/notesMaster1.xml" Id="Rd7205796ebb546d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5d22912c0024bb7" /><Relationship Type="http://schemas.openxmlformats.org/officeDocument/2006/relationships/notesMaster" Target="/ppt/notesMasters/notesMaster1.xml" Id="R3d4da123360b496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6aee7b7a7bc4fa6" /><Relationship Type="http://schemas.openxmlformats.org/officeDocument/2006/relationships/notesMaster" Target="/ppt/notesMasters/notesMaster1.xml" Id="Rd2ba571e76884e5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42c41d5f7a2475b" /><Relationship Type="http://schemas.openxmlformats.org/officeDocument/2006/relationships/notesMaster" Target="/ppt/notesMasters/notesMaster1.xml" Id="R2bf915f42d99483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67fb729ba1a4c16" /><Relationship Type="http://schemas.openxmlformats.org/officeDocument/2006/relationships/notesMaster" Target="/ppt/notesMasters/notesMaster1.xml" Id="Rd60704b98a56479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e371645f93e4b55" /><Relationship Type="http://schemas.openxmlformats.org/officeDocument/2006/relationships/notesMaster" Target="/ppt/notesMasters/notesMaster1.xml" Id="Rd8cdabf46231475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2982ef724e5447e" /><Relationship Type="http://schemas.openxmlformats.org/officeDocument/2006/relationships/notesMaster" Target="/ppt/notesMasters/notesMaster1.xml" Id="Rf08583cb72d9465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bb53d64310f4f38" /><Relationship Type="http://schemas.openxmlformats.org/officeDocument/2006/relationships/notesMaster" Target="/ppt/notesMasters/notesMaster1.xml" Id="R885bf8d2d1b04ff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380a82421d94252" /><Relationship Type="http://schemas.openxmlformats.org/officeDocument/2006/relationships/notesMaster" Target="/ppt/notesMasters/notesMaster1.xml" Id="R29408a71582243f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1075b5ba650484c" /><Relationship Type="http://schemas.openxmlformats.org/officeDocument/2006/relationships/notesMaster" Target="/ppt/notesMasters/notesMaster1.xml" Id="R1d8fc08372f1486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6804e60185545cb" /><Relationship Type="http://schemas.openxmlformats.org/officeDocument/2006/relationships/notesMaster" Target="/ppt/notesMasters/notesMaster1.xml" Id="Rd5cffea9ea4145c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08bdc3edca4431f" /><Relationship Type="http://schemas.openxmlformats.org/officeDocument/2006/relationships/notesMaster" Target="/ppt/notesMasters/notesMaster1.xml" Id="R7aa65fcfbff24ed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b1131f292964867" /><Relationship Type="http://schemas.openxmlformats.org/officeDocument/2006/relationships/notesMaster" Target="/ppt/notesMasters/notesMaster1.xml" Id="R6f2480d12563454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8831333671d4da2" /><Relationship Type="http://schemas.openxmlformats.org/officeDocument/2006/relationships/notesMaster" Target="/ppt/notesMasters/notesMaster1.xml" Id="R7c6e0eacf6654f4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18d1b966b6349a6" /><Relationship Type="http://schemas.openxmlformats.org/officeDocument/2006/relationships/notesMaster" Target="/ppt/notesMasters/notesMaster1.xml" Id="Rdefb77540966454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008600c999d440c" /><Relationship Type="http://schemas.openxmlformats.org/officeDocument/2006/relationships/notesMaster" Target="/ppt/notesMasters/notesMaster1.xml" Id="R6fac4371a47346e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155eb6149404ef1" /><Relationship Type="http://schemas.openxmlformats.org/officeDocument/2006/relationships/notesMaster" Target="/ppt/notesMasters/notesMaster1.xml" Id="Rfe71e33fd19447d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a7291f70f494e87" /><Relationship Type="http://schemas.openxmlformats.org/officeDocument/2006/relationships/notesMaster" Target="/ppt/notesMasters/notesMaster1.xml" Id="R49f727064003449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ff1d416072e4fe2" /><Relationship Type="http://schemas.openxmlformats.org/officeDocument/2006/relationships/notesMaster" Target="/ppt/notesMasters/notesMaster1.xml" Id="R6cd02656695b456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05ca896541a44c1" /><Relationship Type="http://schemas.openxmlformats.org/officeDocument/2006/relationships/notesMaster" Target="/ppt/notesMasters/notesMaster1.xml" Id="R5d27200375df468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29eff8da9784d54" /><Relationship Type="http://schemas.openxmlformats.org/officeDocument/2006/relationships/notesMaster" Target="/ppt/notesMasters/notesMaster1.xml" Id="Rba0c24e12a9a4c3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ff611b53cf44763" /><Relationship Type="http://schemas.openxmlformats.org/officeDocument/2006/relationships/notesMaster" Target="/ppt/notesMasters/notesMaster1.xml" Id="R2443cad9d09b439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2419624fdf04980" /><Relationship Type="http://schemas.openxmlformats.org/officeDocument/2006/relationships/notesMaster" Target="/ppt/notesMasters/notesMaster1.xml" Id="R752b713fb4f945f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d316c932a23840b7" /><Relationship Type="http://schemas.openxmlformats.org/officeDocument/2006/relationships/notesMaster" Target="/ppt/notesMasters/notesMaster1.xml" Id="Rc6c006d2e4824fd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ef78b5c9583241eb" /><Relationship Type="http://schemas.openxmlformats.org/officeDocument/2006/relationships/notesMaster" Target="/ppt/notesMasters/notesMaster1.xml" Id="R5577471066d14bd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5611831ca4c4323" /><Relationship Type="http://schemas.openxmlformats.org/officeDocument/2006/relationships/notesMaster" Target="/ppt/notesMasters/notesMaster1.xml" Id="Rb76d7dd3a7754dc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a9cf3d9ad60d4b40" /><Relationship Type="http://schemas.openxmlformats.org/officeDocument/2006/relationships/notesMaster" Target="/ppt/notesMasters/notesMaster1.xml" Id="R9296bfbb34c74ad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0a2bb10242f4b44" /><Relationship Type="http://schemas.openxmlformats.org/officeDocument/2006/relationships/notesMaster" Target="/ppt/notesMasters/notesMaster1.xml" Id="R2f2329b3cfd14126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7db21e9bd1144ce" /><Relationship Type="http://schemas.openxmlformats.org/officeDocument/2006/relationships/notesMaster" Target="/ppt/notesMasters/notesMaster1.xml" Id="Rfdb168cde7344060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2ef8b4783354aba" /><Relationship Type="http://schemas.openxmlformats.org/officeDocument/2006/relationships/notesMaster" Target="/ppt/notesMasters/notesMaster1.xml" Id="R6390992acdda4b78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eb46c70439e6449e" /><Relationship Type="http://schemas.openxmlformats.org/officeDocument/2006/relationships/notesMaster" Target="/ppt/notesMasters/notesMaster1.xml" Id="Rfcac98f22f124d14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abaa0b6b29e148d6" /><Relationship Type="http://schemas.openxmlformats.org/officeDocument/2006/relationships/notesMaster" Target="/ppt/notesMasters/notesMaster1.xml" Id="Re4922a8c54aa412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725fc73ac9a7441c" /><Relationship Type="http://schemas.openxmlformats.org/officeDocument/2006/relationships/notesMaster" Target="/ppt/notesMasters/notesMaster1.xml" Id="R8f61f3a747dd41b9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694fe56194d04668" /><Relationship Type="http://schemas.openxmlformats.org/officeDocument/2006/relationships/notesMaster" Target="/ppt/notesMasters/notesMaster1.xml" Id="R89a087b37d314f47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a61926d2369e4e79" /><Relationship Type="http://schemas.openxmlformats.org/officeDocument/2006/relationships/notesMaster" Target="/ppt/notesMasters/notesMaster1.xml" Id="R5f31beb59c02432b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2f4358241e5946b5" /><Relationship Type="http://schemas.openxmlformats.org/officeDocument/2006/relationships/notesMaster" Target="/ppt/notesMasters/notesMaster1.xml" Id="R8bb065d8ac1941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a4444b7435422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4452ea763a04c44" /><Relationship Type="http://schemas.openxmlformats.org/officeDocument/2006/relationships/slideLayout" Target="/ppt/slideLayouts/slideLayout2.xml" Id="R1f9919f7e53641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9919f7e53641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8ba034da8241a5" /><Relationship Type="http://schemas.openxmlformats.org/officeDocument/2006/relationships/image" Target="/ppt/media/image.png" Id="R6faaca757a574630" /><Relationship Type="http://schemas.openxmlformats.org/officeDocument/2006/relationships/image" Target="/ppt/media/image2.png" Id="Rc93521b52f944c9d" /><Relationship Type="http://schemas.openxmlformats.org/officeDocument/2006/relationships/notesSlide" Target="/ppt/notesSlides/notesSlide1.xml" Id="R32b71bfc3f194f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edfad87eed4b2c" /><Relationship Type="http://schemas.openxmlformats.org/officeDocument/2006/relationships/image" Target="/ppt/media/image3.png" Id="R3fb5fff69c1a4120" /><Relationship Type="http://schemas.openxmlformats.org/officeDocument/2006/relationships/notesSlide" Target="/ppt/notesSlides/notesSlide2.xml" Id="Rba354740a59144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674c2b495c4404" /><Relationship Type="http://schemas.openxmlformats.org/officeDocument/2006/relationships/image" Target="/ppt/media/image4.png" Id="Rd922f70f6c694dff" /><Relationship Type="http://schemas.openxmlformats.org/officeDocument/2006/relationships/notesSlide" Target="/ppt/notesSlides/notesSlide3.xml" Id="R767bbe27516f47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920df62470460c" /><Relationship Type="http://schemas.openxmlformats.org/officeDocument/2006/relationships/image" Target="/ppt/media/image5.png" Id="R19e21fafb2b04538" /><Relationship Type="http://schemas.openxmlformats.org/officeDocument/2006/relationships/notesSlide" Target="/ppt/notesSlides/notesSlide4.xml" Id="R3ccabaf7892c4fd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7591d840084754" /><Relationship Type="http://schemas.openxmlformats.org/officeDocument/2006/relationships/image" Target="/ppt/media/image6.png" Id="R163ee0edc4a24a52" /><Relationship Type="http://schemas.openxmlformats.org/officeDocument/2006/relationships/notesSlide" Target="/ppt/notesSlides/notesSlide5.xml" Id="R2ec782cb235544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b8d48d313b43e5" /><Relationship Type="http://schemas.openxmlformats.org/officeDocument/2006/relationships/image" Target="/ppt/media/image7.png" Id="Rea0d23f10f43435c" /><Relationship Type="http://schemas.openxmlformats.org/officeDocument/2006/relationships/notesSlide" Target="/ppt/notesSlides/notesSlide6.xml" Id="R6750e704f71545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13dfc782994cd2" /><Relationship Type="http://schemas.openxmlformats.org/officeDocument/2006/relationships/image" Target="/ppt/media/image8.png" Id="Rd4c27f6d4fac4d77" /><Relationship Type="http://schemas.openxmlformats.org/officeDocument/2006/relationships/notesSlide" Target="/ppt/notesSlides/notesSlide7.xml" Id="R5177286c46aa45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0d48df90db4ebf" /><Relationship Type="http://schemas.openxmlformats.org/officeDocument/2006/relationships/image" Target="/ppt/media/image9.png" Id="R19e07e7f2f7a4f7c" /><Relationship Type="http://schemas.openxmlformats.org/officeDocument/2006/relationships/notesSlide" Target="/ppt/notesSlides/notesSlide8.xml" Id="Rda32ebc769c648f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b8c56afa85415b" /><Relationship Type="http://schemas.openxmlformats.org/officeDocument/2006/relationships/image" Target="/ppt/media/image10.png" Id="R6cdc0a543b7c4831" /><Relationship Type="http://schemas.openxmlformats.org/officeDocument/2006/relationships/notesSlide" Target="/ppt/notesSlides/notesSlide9.xml" Id="R211e1e73c53c413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a60c6ae29048f3" /><Relationship Type="http://schemas.openxmlformats.org/officeDocument/2006/relationships/image" Target="/ppt/media/image11.png" Id="Re398b4b2fc4f4970" /><Relationship Type="http://schemas.openxmlformats.org/officeDocument/2006/relationships/image" Target="/ppt/media/image12.png" Id="R619b7da5dddf48e5" /><Relationship Type="http://schemas.openxmlformats.org/officeDocument/2006/relationships/notesSlide" Target="/ppt/notesSlides/notesSlide10.xml" Id="R61649b3f9747452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d6710ee7e342e1" /><Relationship Type="http://schemas.openxmlformats.org/officeDocument/2006/relationships/image" Target="/ppt/media/image13.png" Id="R0405d2e7262d4de6" /><Relationship Type="http://schemas.openxmlformats.org/officeDocument/2006/relationships/image" Target="/ppt/media/image14.png" Id="R21828b1ed5c64d07" /><Relationship Type="http://schemas.openxmlformats.org/officeDocument/2006/relationships/notesSlide" Target="/ppt/notesSlides/notesSlide11.xml" Id="R9036bb2b865047a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4e595280d44ba6" /><Relationship Type="http://schemas.openxmlformats.org/officeDocument/2006/relationships/image" Target="/ppt/media/image15.png" Id="R3ac033afa9e34afb" /><Relationship Type="http://schemas.openxmlformats.org/officeDocument/2006/relationships/notesSlide" Target="/ppt/notesSlides/notesSlide12.xml" Id="R3259c7a5d07944d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883abe98444711" /><Relationship Type="http://schemas.openxmlformats.org/officeDocument/2006/relationships/image" Target="/ppt/media/image16.png" Id="Rdabf7dae8bdf4094" /><Relationship Type="http://schemas.openxmlformats.org/officeDocument/2006/relationships/notesSlide" Target="/ppt/notesSlides/notesSlide13.xml" Id="R73908b1824cf45a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fe42c8a3e74396" /><Relationship Type="http://schemas.openxmlformats.org/officeDocument/2006/relationships/image" Target="/ppt/media/image17.png" Id="R5cc19c30f61f4bc1" /><Relationship Type="http://schemas.openxmlformats.org/officeDocument/2006/relationships/notesSlide" Target="/ppt/notesSlides/notesSlide14.xml" Id="R65fb3f6d692b433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66e563e6914056" /><Relationship Type="http://schemas.openxmlformats.org/officeDocument/2006/relationships/image" Target="/ppt/media/image18.png" Id="R57a41b56ef7d4ab1" /><Relationship Type="http://schemas.openxmlformats.org/officeDocument/2006/relationships/notesSlide" Target="/ppt/notesSlides/notesSlide15.xml" Id="R310b523bf822434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72b2f20b9e401f" /><Relationship Type="http://schemas.openxmlformats.org/officeDocument/2006/relationships/image" Target="/ppt/media/image19.png" Id="R9aa2b6e638234b8d" /><Relationship Type="http://schemas.openxmlformats.org/officeDocument/2006/relationships/image" Target="/ppt/media/image20.png" Id="R49a563bb82f949c8" /><Relationship Type="http://schemas.openxmlformats.org/officeDocument/2006/relationships/notesSlide" Target="/ppt/notesSlides/notesSlide16.xml" Id="R8fc029c6d565423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2762d7381144d0" /><Relationship Type="http://schemas.openxmlformats.org/officeDocument/2006/relationships/image" Target="/ppt/media/image21.png" Id="Rc584a08000214503" /><Relationship Type="http://schemas.openxmlformats.org/officeDocument/2006/relationships/image" Target="/ppt/media/image22.png" Id="Rfb6708e835154078" /><Relationship Type="http://schemas.openxmlformats.org/officeDocument/2006/relationships/notesSlide" Target="/ppt/notesSlides/notesSlide17.xml" Id="R9fc761696e8e42e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28ad6d75c6436e" /><Relationship Type="http://schemas.openxmlformats.org/officeDocument/2006/relationships/image" Target="/ppt/media/image23.png" Id="Rccb0e1eac9144857" /><Relationship Type="http://schemas.openxmlformats.org/officeDocument/2006/relationships/notesSlide" Target="/ppt/notesSlides/notesSlide18.xml" Id="Rd849d48b0180406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6cb590dc384a33" /><Relationship Type="http://schemas.openxmlformats.org/officeDocument/2006/relationships/image" Target="/ppt/media/image24.png" Id="Reaaa75625fdf46a3" /><Relationship Type="http://schemas.openxmlformats.org/officeDocument/2006/relationships/notesSlide" Target="/ppt/notesSlides/notesSlide19.xml" Id="R888fb5b5ca26402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84e6c2347d47ad" /><Relationship Type="http://schemas.openxmlformats.org/officeDocument/2006/relationships/image" Target="/ppt/media/image25.png" Id="R5883c3cd19c441e6" /><Relationship Type="http://schemas.openxmlformats.org/officeDocument/2006/relationships/notesSlide" Target="/ppt/notesSlides/notesSlide20.xml" Id="R16f22dfd4d23438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551beef41c404e" /><Relationship Type="http://schemas.openxmlformats.org/officeDocument/2006/relationships/image" Target="/ppt/media/image26.png" Id="Rcce089f8133f4548" /><Relationship Type="http://schemas.openxmlformats.org/officeDocument/2006/relationships/notesSlide" Target="/ppt/notesSlides/notesSlide21.xml" Id="R3128b7b999074b3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b81bb917874c12" /><Relationship Type="http://schemas.openxmlformats.org/officeDocument/2006/relationships/image" Target="/ppt/media/image27.png" Id="R4a3866d24ce44eac" /><Relationship Type="http://schemas.openxmlformats.org/officeDocument/2006/relationships/notesSlide" Target="/ppt/notesSlides/notesSlide22.xml" Id="Rc2655173c85e4cc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a2d5ccbaed4bcc" /><Relationship Type="http://schemas.openxmlformats.org/officeDocument/2006/relationships/image" Target="/ppt/media/image28.png" Id="R004a6aca34e34ab0" /><Relationship Type="http://schemas.openxmlformats.org/officeDocument/2006/relationships/image" Target="/ppt/media/image29.png" Id="R957b4c06c5dc49c9" /><Relationship Type="http://schemas.openxmlformats.org/officeDocument/2006/relationships/notesSlide" Target="/ppt/notesSlides/notesSlide23.xml" Id="Rb91ca54f552b498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adce934a1e402f" /><Relationship Type="http://schemas.openxmlformats.org/officeDocument/2006/relationships/image" Target="/ppt/media/image30.png" Id="R6acfac61e6464e48" /><Relationship Type="http://schemas.openxmlformats.org/officeDocument/2006/relationships/image" Target="/ppt/media/image31.png" Id="R6e88f7049b6043ea" /><Relationship Type="http://schemas.openxmlformats.org/officeDocument/2006/relationships/notesSlide" Target="/ppt/notesSlides/notesSlide24.xml" Id="R9e65fd0d491f4df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77cf72dae2407c" /><Relationship Type="http://schemas.openxmlformats.org/officeDocument/2006/relationships/image" Target="/ppt/media/image32.png" Id="R5755058e5905439e" /><Relationship Type="http://schemas.openxmlformats.org/officeDocument/2006/relationships/notesSlide" Target="/ppt/notesSlides/notesSlide25.xml" Id="Rf44412f787fc421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8922b7ac1040fa" /><Relationship Type="http://schemas.openxmlformats.org/officeDocument/2006/relationships/image" Target="/ppt/media/image33.png" Id="Ra3790d736f9a4bd7" /><Relationship Type="http://schemas.openxmlformats.org/officeDocument/2006/relationships/notesSlide" Target="/ppt/notesSlides/notesSlide26.xml" Id="R4f1a0a5568e7484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9e8f509206b4be4" /><Relationship Type="http://schemas.openxmlformats.org/officeDocument/2006/relationships/image" Target="/ppt/media/image34.png" Id="R518874ed7f7248cc" /><Relationship Type="http://schemas.openxmlformats.org/officeDocument/2006/relationships/notesSlide" Target="/ppt/notesSlides/notesSlide27.xml" Id="Rf12ee6ca5ea542d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0de2ce650a42a0" /><Relationship Type="http://schemas.openxmlformats.org/officeDocument/2006/relationships/image" Target="/ppt/media/image35.png" Id="R0d147f0f7fc74524" /><Relationship Type="http://schemas.openxmlformats.org/officeDocument/2006/relationships/notesSlide" Target="/ppt/notesSlides/notesSlide28.xml" Id="R9850b8c200db436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dbe4b2af0c48f1" /><Relationship Type="http://schemas.openxmlformats.org/officeDocument/2006/relationships/image" Target="/ppt/media/image36.png" Id="R907734ad53d84e79" /><Relationship Type="http://schemas.openxmlformats.org/officeDocument/2006/relationships/notesSlide" Target="/ppt/notesSlides/notesSlide29.xml" Id="R77389730744e43a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890ebf0f464302" /><Relationship Type="http://schemas.openxmlformats.org/officeDocument/2006/relationships/image" Target="/ppt/media/image37.png" Id="Re8d940a921ed44f0" /><Relationship Type="http://schemas.openxmlformats.org/officeDocument/2006/relationships/notesSlide" Target="/ppt/notesSlides/notesSlide30.xml" Id="R37e63271c10f4be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facfe122f747e5" /><Relationship Type="http://schemas.openxmlformats.org/officeDocument/2006/relationships/image" Target="/ppt/media/image38.png" Id="Ra7583d7a930443b5" /><Relationship Type="http://schemas.openxmlformats.org/officeDocument/2006/relationships/notesSlide" Target="/ppt/notesSlides/notesSlide31.xml" Id="R4a9a2eb0ff0645d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b018ea112b4c85" /><Relationship Type="http://schemas.openxmlformats.org/officeDocument/2006/relationships/image" Target="/ppt/media/image39.png" Id="Ra4d002aacf344456" /><Relationship Type="http://schemas.openxmlformats.org/officeDocument/2006/relationships/notesSlide" Target="/ppt/notesSlides/notesSlide32.xml" Id="Rae0db51fbefd479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18f3278e4e458b" /><Relationship Type="http://schemas.openxmlformats.org/officeDocument/2006/relationships/image" Target="/ppt/media/image40.png" Id="Rf6f7bbbd32f64979" /><Relationship Type="http://schemas.openxmlformats.org/officeDocument/2006/relationships/notesSlide" Target="/ppt/notesSlides/notesSlide33.xml" Id="Rf4f9940959b64e1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9d48a0513d4237" /><Relationship Type="http://schemas.openxmlformats.org/officeDocument/2006/relationships/image" Target="/ppt/media/image41.png" Id="Rf334b5a0fdb54fcc" /><Relationship Type="http://schemas.openxmlformats.org/officeDocument/2006/relationships/notesSlide" Target="/ppt/notesSlides/notesSlide34.xml" Id="Rc9a2a92f7e3f420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808e705e764ead" /><Relationship Type="http://schemas.openxmlformats.org/officeDocument/2006/relationships/image" Target="/ppt/media/image42.png" Id="Rcfe18c570f144239" /><Relationship Type="http://schemas.openxmlformats.org/officeDocument/2006/relationships/notesSlide" Target="/ppt/notesSlides/notesSlide35.xml" Id="Rb0c8964335e94cd7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90881f6caa4fc1" /><Relationship Type="http://schemas.openxmlformats.org/officeDocument/2006/relationships/image" Target="/ppt/media/image43.png" Id="R0e595647d0284d8d" /><Relationship Type="http://schemas.openxmlformats.org/officeDocument/2006/relationships/notesSlide" Target="/ppt/notesSlides/notesSlide36.xml" Id="R96365a4cd6ad47e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dc5735f12540b3" /><Relationship Type="http://schemas.openxmlformats.org/officeDocument/2006/relationships/image" Target="/ppt/media/image44.png" Id="R310ae2e32c9f4857" /><Relationship Type="http://schemas.openxmlformats.org/officeDocument/2006/relationships/notesSlide" Target="/ppt/notesSlides/notesSlide37.xml" Id="R7e348deab009469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50fd0fdf0d4863" /><Relationship Type="http://schemas.openxmlformats.org/officeDocument/2006/relationships/image" Target="/ppt/media/image45.png" Id="Rfcaa140c3d8d4636" /><Relationship Type="http://schemas.openxmlformats.org/officeDocument/2006/relationships/notesSlide" Target="/ppt/notesSlides/notesSlide38.xml" Id="R00ac575e44da431f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a9f066485b439f" /><Relationship Type="http://schemas.openxmlformats.org/officeDocument/2006/relationships/image" Target="/ppt/media/image46.png" Id="R1735696f44ff4333" /><Relationship Type="http://schemas.openxmlformats.org/officeDocument/2006/relationships/notesSlide" Target="/ppt/notesSlides/notesSlide39.xml" Id="R5a3a80144d614f6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d64611214e47ef" /><Relationship Type="http://schemas.openxmlformats.org/officeDocument/2006/relationships/image" Target="/ppt/media/image47.png" Id="R2d04ec9ddee5492f" /><Relationship Type="http://schemas.openxmlformats.org/officeDocument/2006/relationships/notesSlide" Target="/ppt/notesSlides/notesSlide40.xml" Id="R72e6a6e68cd146e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50fe94158349ef" /><Relationship Type="http://schemas.openxmlformats.org/officeDocument/2006/relationships/image" Target="/ppt/media/image48.png" Id="R5c5552695a0e4bc8" /><Relationship Type="http://schemas.openxmlformats.org/officeDocument/2006/relationships/notesSlide" Target="/ppt/notesSlides/notesSlide41.xml" Id="Rc0860ffb8b78450e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708e57fe684e77" /><Relationship Type="http://schemas.openxmlformats.org/officeDocument/2006/relationships/image" Target="/ppt/media/image49.png" Id="Re20dcb1db48b4115" /><Relationship Type="http://schemas.openxmlformats.org/officeDocument/2006/relationships/notesSlide" Target="/ppt/notesSlides/notesSlide42.xml" Id="Rb1c1ab450dda4ec0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7fc150b2834cd7" /><Relationship Type="http://schemas.openxmlformats.org/officeDocument/2006/relationships/image" Target="/ppt/media/image50.png" Id="R60fd67f3d0c14cb5" /><Relationship Type="http://schemas.openxmlformats.org/officeDocument/2006/relationships/notesSlide" Target="/ppt/notesSlides/notesSlide43.xml" Id="R420887686b004db0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c9d8ad57ee4f02" /><Relationship Type="http://schemas.openxmlformats.org/officeDocument/2006/relationships/image" Target="/ppt/media/image51.png" Id="Rcf0ab9ca14894027" /><Relationship Type="http://schemas.openxmlformats.org/officeDocument/2006/relationships/notesSlide" Target="/ppt/notesSlides/notesSlide44.xml" Id="Re6d074f8c6f843ca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6d999191b149a7" /><Relationship Type="http://schemas.openxmlformats.org/officeDocument/2006/relationships/image" Target="/ppt/media/image52.png" Id="Rdf231fb417434ad1" /><Relationship Type="http://schemas.openxmlformats.org/officeDocument/2006/relationships/notesSlide" Target="/ppt/notesSlides/notesSlide45.xml" Id="Rc95a81839bb249e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51D17E-33A6-4AEE-A140-6609D372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889DD9-F2AE-43BF-A689-380E47498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aaca757a57463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74F990-93C8-47B0-8780-39CA2A4F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85800"/>
            <a:ext cx="6667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can we now optimize directly?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2A5542-8378-4B29-8F28-0B32F6CB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146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5E535D-6E0D-4A6F-8863-EC140B53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003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Lecture 1: geometry, equilibria, Boozer coordinates, metrics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059F19-144D-43F1-901A-CBDFCA81E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3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26A705-7E94-4BC2-869B-E700AE06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Equilibria, spectra, transport metrics, coils, profiles, and design decisions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E8AECC-F83B-458E-B657-A0B7CDBF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9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15C473-CC3E-4740-8250-14CAE01C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lecture sequence follows the same computational object through each step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28C81A-288B-464B-97E4-FB8B3256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66800"/>
            <a:ext cx="41719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3521b52f944c9d"/>
          <a:stretch xmlns:a="http://schemas.openxmlformats.org/drawingml/2006/main"/>
        </p:blipFill>
        <p:spPr>
          <a:xfrm xmlns:a="http://schemas.openxmlformats.org/drawingml/2006/main">
            <a:off x="7848203" y="1257300"/>
            <a:ext cx="2610644" cy="27241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C62E02-F081-4FAD-9103-87929CCC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76900"/>
            <a:ext cx="12192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43F336-D303-4ACF-9777-FC9D04BA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24550"/>
            <a:ext cx="542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CEA-IRFM / Renaissance Fusion School on Stellarators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8688DF-5E2E-47ED-ADEC-7EBD9959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Aix-en-Provence,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101609-6F77-47C2-9337-98DBB88E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0388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Rogerio Jorge, University of Wisconsin-Madison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FC9423-55D4-4A27-BADF-488697F4A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Slide 01</a:t>
            </a:r>
          </a:p>
        </p:txBody>
      </p:sp>
    </p:spTree>
    <p:extLst>
      <p:ext uri="{BB962C8B-B14F-4D97-AF65-F5344CB8AC3E}">
        <p14:creationId xmlns:p14="http://schemas.microsoft.com/office/powerpoint/2010/main" val="187855417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6B4B11-5877-4F0D-9263-5F3A5DC9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0C71ED-BE97-4961-8B36-CD9B66A5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CB9FE6-727E-4E2F-8807-D652CAE6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EBC472-A41F-4AB9-9F02-7DEA6F875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b5fff69c1a412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E7640F-DB37-4717-9451-5864FF31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00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9783B6-7FE0-42AC-9953-B6FD7C4A5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266950"/>
            <a:ext cx="7810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PART 1. From magnetic confinement to optimization variables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E26D53-5C78-45C8-A1EF-D1F6B3177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657600"/>
            <a:ext cx="8382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91AAF4-44AE-463D-AFA2-DC1E3D0C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274229-7EBD-49F8-97CA-5B4A06D4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767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Use geometry to define the search space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DF613C-4B43-441F-8BF8-513C55F8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10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1A71E9-8B9D-48AD-ADDA-C751DA60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70535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Use computations to decide what changed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2BB729-ABBD-49D4-A1F1-19D4C714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DA9541-D927-4D30-8673-0949836B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40C561-6F0C-4389-AF6E-DD5A35AB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E409EF-78C9-43C7-8BE4-4750B66B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02</a:t>
            </a:r>
          </a:p>
        </p:txBody>
      </p:sp>
    </p:spTree>
    <p:extLst>
      <p:ext uri="{BB962C8B-B14F-4D97-AF65-F5344CB8AC3E}">
        <p14:creationId xmlns:p14="http://schemas.microsoft.com/office/powerpoint/2010/main" val="111494789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2ED958-04CA-4734-8880-E11AC900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725DA8-237E-4016-B8B5-DFA89AB6B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22f70f6c694df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F0129D-FAA9-4FA4-A3A6-1D16974F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Stellarator optimization starts with a parameterization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2C09FB-71F9-4D77-B137-20AE6829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4C8186-DFE0-4A56-BE56-2C846A02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C2DA4-0F5A-4009-A01B-EA4ED8A2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99093D-EA17-43D8-8190-1FF20C7F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5D10A3-420A-4ECF-B089-50A9DD74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396933-B4A2-4EDC-9FE3-85922E96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A928F-B4AB-426F-8652-030B618EA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C761AE-19D5-43B1-A311-91A6701C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52A039-D6C6-4A54-BE77-01AADD4C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883953-F4C9-4A19-A58B-12BD37A10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B6CE29-E454-416B-8A53-3864F671D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F7B44A-3103-427E-A7E3-80A0565E0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FD8312-095D-4CE1-BBAA-F014D3C96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175A34-929F-4B7E-BAD8-EDB8E371A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A5EAE0-5C6A-4114-A82A-09683F3F1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5D09F0-84BF-4BB2-8566-9FA3DDF46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2A8322-DDA3-45D9-A91F-CE779B6F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6D1899-0B1E-482D-998E-175D677D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000D59-445F-4250-9C1B-FF8D55B1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76DEDF-BC97-4B8C-9AD6-EC74D765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25AC4E-D1AB-4239-AF52-D0DE3522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0238B8-1626-43B6-BF39-5E63B434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95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978207-3B1E-4310-900E-C514FB7C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910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Boundary Fourier modes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46CAB8-8AA1-4CF2-AC0A-E9F3F58A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910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91AD12-591E-4E5C-B57F-BF95BD218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863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Pressure and current profiles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315310-14F6-46E9-958B-9F8826C2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86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494E8A-7019-4459-8DEF-783EBEF4F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816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Aspect ratio, iota, volume, beta, magnetic well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2E5E66-4B32-43CA-B1CB-EFBF1B08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0E6D1D-B036-4491-BD48-167A202EB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789A4C-9C69-40C7-8281-2A2F68DD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824F132-1793-4BC4-9E9F-9A8898DC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03</a:t>
            </a:r>
          </a:p>
        </p:txBody>
      </p:sp>
    </p:spTree>
    <p:extLst>
      <p:ext uri="{BB962C8B-B14F-4D97-AF65-F5344CB8AC3E}">
        <p14:creationId xmlns:p14="http://schemas.microsoft.com/office/powerpoint/2010/main" val="63753499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3EEF38-2A3A-4248-8041-12315165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EB5D2B-27EC-4560-8164-C3A2A267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e21fafb2b0453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33C0B4-DA23-4156-A070-92B4918B4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inverse problem starts with choices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8E1572-9FCB-4DC6-B46F-9FFFA08F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E679A9-78DD-4F9B-B6E1-22B3AADC2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9BD31A-959A-4893-BA65-9B77AF0C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611DF2-3643-43F6-B4AC-C19315D6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9C71B7-4810-4530-838A-4559E9C5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Choose variables before choosing an optimizer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9BCC2D-6106-4F76-A925-9C58DDAE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D7EDD4-5B6D-4E49-8B62-874110423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0D1644-B65D-4743-A34C-440C21656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690A7F-5E33-4485-9DC9-1C6D8D25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State which physics model is active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B9D8F2-2A7C-4801-9AC2-4A22ABAFC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96201A-A229-42F1-BB34-26E91CFCC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3E7127-E28C-4246-8F33-940D5651E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D7B54B-5355-4B50-9772-DD7825EE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Record assumptions before comparing designs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6CFE8F-7411-493B-AD5E-7F4205B4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564F95-25BC-4241-A4E6-A840AFEF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E5B736-9BF4-4BFE-85BA-FEA35813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02E930-5223-4796-B223-81AC901A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0EC7B9-E69C-40AA-8104-66F99794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7112AF-917A-41B8-8EDD-DC828815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071C7F-13FF-47F1-84E3-3A9F0F52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04</a:t>
            </a:r>
          </a:p>
        </p:txBody>
      </p:sp>
    </p:spTree>
    <p:extLst>
      <p:ext uri="{BB962C8B-B14F-4D97-AF65-F5344CB8AC3E}">
        <p14:creationId xmlns:p14="http://schemas.microsoft.com/office/powerpoint/2010/main" val="95806201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371D6E-229E-4BBA-915F-566AEE94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3B2F23-E47D-4C3A-BE14-79952448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3ee0edc4a24a5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621FAA-D1F1-44B4-A033-4EF983CAE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the optimizer sees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D77A96-1D36-466C-AED9-25B432F52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E16738-4005-41A5-90DC-A01A8AA8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E9D658-AF63-43BE-91EE-B119B47F8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FC587A-A1D5-4AA7-97C7-A0BA6DBF5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CF30CE-5E55-4F1D-8C33-2D5792882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F45525-C5DF-45C1-83B1-D6435CF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CA8BC5-ECAA-46F8-BB7C-D9D66DCDB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61A92F-6C86-4AC9-B738-C34CFDA8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346BCB-98DC-4AAB-B9A0-A023F8A5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790E99-D247-432D-A9FB-08E77E6A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B3B379-3FCB-4873-8BDC-C5F1F257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F6FA86-7A0F-47B3-8A03-8A7D770F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0415E6-3024-4455-B69A-BE58CED0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D1818A-739B-41BB-A8A7-E1F35AE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009859-4F03-4756-A981-A89281E5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4FBA1A-637A-477C-B07B-4D786B37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A3B95F-F12D-4EA7-A88B-78A8BFBF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59EC55-35A9-4F9B-B0F4-F2760B5F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1E469F-7CB6-4C43-9651-FB3A835A5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2BCF95-4D42-40AD-818A-FF7B1C46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E2D58B-8BB0-467B-AD4B-603841C1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F37283-7D67-408A-B1EA-376881B1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95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29557E-9B10-400F-A545-515987E5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910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Inputs: boundary and radial profiles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EB35D5-80BB-4C9B-9A90-7097228F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910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6AFB18-14A0-4BAB-94AF-DC5856FA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863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Outputs: nested surfaces, rotational transform, magnetic diagnostics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89E3E1-EB72-490C-AF3E-7E4CE8006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86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1EA636-1162-480E-AD46-9518F799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816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Artifacts: wout file, figures, status 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3AF33B-0EE5-49A6-97BF-F1A95D57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CF2094-3FA0-4B56-94CE-45AE3EDC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A9CDCC-2C73-410E-9D81-368A00AA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1570A8C-0C9D-490E-A29D-B14D8D34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05</a:t>
            </a:r>
          </a:p>
        </p:txBody>
      </p:sp>
    </p:spTree>
    <p:extLst>
      <p:ext uri="{BB962C8B-B14F-4D97-AF65-F5344CB8AC3E}">
        <p14:creationId xmlns:p14="http://schemas.microsoft.com/office/powerpoint/2010/main" val="104885817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18832C-A66B-4CF7-8D64-3B81C9499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5C1C9F-4768-4CDB-A847-6B6223B7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0d23f10f43435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7D8689-3365-4715-8158-E5F65DA73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Boundary Fourier modes control the shape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4908E9-DB99-492F-8E75-34430E4B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474C51-69B4-4B94-BBE8-4F7B6E736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53656-1EDB-4018-AD17-EFEB8A55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A871A7-F265-4842-8C02-17610B22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8AC6C2-79AB-4206-9429-39FEA5B26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Small changes move symmetry, aspect ratio, and resonances together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77362E-9F55-4F9A-AED1-C4A5F56B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DFB246-2F75-40C0-A089-2BD224B3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5FD2CB-4A26-46D1-BA3B-53689556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DF455-86E3-4C97-838E-55942FBC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mode scans to teach coupling before live optimization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4BE1AF-6176-4EEF-AA46-07B2F250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39F12C-6933-4E2D-9691-9E0FD370B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66AF49-050D-42CF-A214-FD266C0F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92C691-7FDF-4FAD-9936-339A5C9B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578EC3-BFA5-43A2-87CF-2243045F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424E29-40A7-4AFB-AA4A-4E96E7BF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45413A-96FA-4B30-8B55-14370F7C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06</a:t>
            </a:r>
          </a:p>
        </p:txBody>
      </p:sp>
    </p:spTree>
    <p:extLst>
      <p:ext uri="{BB962C8B-B14F-4D97-AF65-F5344CB8AC3E}">
        <p14:creationId xmlns:p14="http://schemas.microsoft.com/office/powerpoint/2010/main" val="10054465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3AC5B2-B941-4A73-B975-2044D9CB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32180B-E7B7-4168-9B23-88526ED9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c27f6d4fac4d7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EAA750-ECDB-4AB3-9A0F-71C7A27A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Profiles are part of the equilibrium object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51716D-D58B-4030-BF45-389B266F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46D445-96C6-4BD1-89B7-720F8E95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BB468C-27EE-423A-A5C5-E4FEABC0C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AE379C-B2ED-4FD7-8253-6928EE75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24742A-7ECB-458D-8F40-ED231A3B5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Pressure and current profiles change rotational transform and stability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0330C9-84C3-4A58-9017-4BED4937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D271F7-405D-4F19-AB39-B58AA70E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6B3684-CB09-42FB-B650-902F0AC6B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FB4FFD-67FE-493C-936A-A932EBACF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boundary-only story is a first approximation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9E0D00-FFD9-4D02-A05C-E7642464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FBA049-F2CD-4EF6-81A1-5DBD103A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67528-3800-4607-AD2C-1411E29F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FF2F0A-0B72-4105-850D-3D32337F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25B1B6-B8D5-4A08-A36F-CE5A0174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34A104-1FEB-4491-A982-0D8E8C017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76A1FD-C5D1-47E7-84B9-326E77462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07</a:t>
            </a:r>
          </a:p>
        </p:txBody>
      </p:sp>
    </p:spTree>
    <p:extLst>
      <p:ext uri="{BB962C8B-B14F-4D97-AF65-F5344CB8AC3E}">
        <p14:creationId xmlns:p14="http://schemas.microsoft.com/office/powerpoint/2010/main" val="98226163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6A97E5-2DA6-454C-B1D5-ABC486F8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019DB6-8518-4ED8-9C05-658B1DFB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e07e7f2f7a4f7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F71926-6CF5-40D6-8352-BF29F6213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VMEC is the first computational gate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1B584B-D996-46A4-B448-82DE2EE3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79982-2DCE-4DCE-B91C-FD5C201A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DE8B0B-68D9-4925-A772-24194B80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846F67-539A-46A6-AE3B-52ECBA56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F99EF3-A430-4180-969D-20F1CB5D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4F38ED-64C3-4B3D-A1A9-962928861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BDBAFD-C696-4190-8BF3-09D91729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Input: boundary and radial profiles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24D657-E3E3-499E-AC52-E6A52ACB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4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47E11A-973F-4C43-A485-AAF09A87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7970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Output: nested-surface equilibrium and wout file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43238A-3DB5-48F6-8A75-089B88EA2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8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16995C-A458-45C3-9E9D-E151BB19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34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Teaching fallback: cached surface and iota profile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0A3D36-0EC2-4031-A30E-96F84FAC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9DCE43-CD14-495A-A4C2-A409BF2E0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6E5EA2-669C-4B5B-94CA-6DFFF38D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1079A7-584F-40B4-9C0D-140D5F3B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08</a:t>
            </a:r>
          </a:p>
        </p:txBody>
      </p:sp>
    </p:spTree>
    <p:extLst>
      <p:ext uri="{BB962C8B-B14F-4D97-AF65-F5344CB8AC3E}">
        <p14:creationId xmlns:p14="http://schemas.microsoft.com/office/powerpoint/2010/main" val="153878238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90F969-94E8-48F4-8DF5-A015B850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4A128A-6213-41B6-AB60-E76BE3D1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dc0a543b7c483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2668D8-69B5-4ADE-9FEE-1FE1C7268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wout file is a checked artifact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D30052-7631-4001-887E-D6B43078F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E2295C-1AAA-4E2D-8899-D17F7B346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CDA07E-1F35-41E3-B468-7CFD1210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A82601-CE13-4056-8906-6C260242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BD2770-DEE4-459F-95B7-270388E8F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A1D26F-2CB2-4856-B517-D7C9BC4F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394631-D817-4463-AB59-D4FA7D8D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Inspect dimensions, variables, iota profile, aspect ratio, and surface geometry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D53D1D-063C-4A12-A4EE-2912FED0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2446CD-A25E-4C9D-B7C9-527D5525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plot without the file provenance is incomplete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82AFAB-A95A-48ED-ACAA-AC12F9502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A163E9-002E-4A2E-AA39-0EFC9AAA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4A6668-57D1-4ADF-B695-C9A1EF7FC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33A783-3C9E-47FC-AADF-B1A084B57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09</a:t>
            </a:r>
          </a:p>
        </p:txBody>
      </p:sp>
    </p:spTree>
    <p:extLst>
      <p:ext uri="{BB962C8B-B14F-4D97-AF65-F5344CB8AC3E}">
        <p14:creationId xmlns:p14="http://schemas.microsoft.com/office/powerpoint/2010/main" val="159851660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2A83C7-D3F7-49B2-893B-93CC2774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2C030C-9E4C-44C6-B319-0F38DDC66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98b4b2fc4f4970"/>
          <a:stretch xmlns:a="http://schemas.openxmlformats.org/drawingml/2006/main"/>
        </p:blipFill>
        <p:spPr>
          <a:xfrm xmlns:a="http://schemas.openxmlformats.org/drawingml/2006/main">
            <a:off x="2191147" y="1790700"/>
            <a:ext cx="3523456" cy="36766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7344C3-9579-4C1A-BACE-A9D063F9A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FC5260-875B-4F6D-8BFA-640B2A2F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0E6AD5-1A10-4CBE-8301-492C241CE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Small stellarator case for classroom calculations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C1FCF9-075C-40F2-BC84-5DB910DC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9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C62E1F-AC1B-4C15-994F-1CB58CCC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84500"/>
            <a:ext cx="30670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Natural quasisymmetry example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68B9E4-9E1F-4570-AFA9-175A3DC5B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97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34D1F2-C4E6-42F4-97B0-FDE890E57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92550"/>
            <a:ext cx="30670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cached figures for live robustness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ED0CC1-9A02-49FF-ABEE-CA53FECF5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48C1D8-2A2E-4D42-A67E-F7A8519E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859BAA-8FA0-45AB-80CC-E60A748C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9b7da5dddf48e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4FA0DA-164D-454A-819E-1C78BAB6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HSX-like QHS surface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C73DC9-D0B3-440E-B04C-DB15D453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CD2E2B-B252-4863-8D83-EF57401C9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B7CCDD-A8DE-4F72-B58F-DD813B5F3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79F407-4A12-4747-A249-7C5A57FE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6E92C6-B32B-41D9-89BF-B55C9663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10</a:t>
            </a:r>
          </a:p>
        </p:txBody>
      </p:sp>
    </p:spTree>
    <p:extLst>
      <p:ext uri="{BB962C8B-B14F-4D97-AF65-F5344CB8AC3E}">
        <p14:creationId xmlns:p14="http://schemas.microsoft.com/office/powerpoint/2010/main" val="110443917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D319CA-AA96-4E32-B6C0-FE664B4F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74169C-4C69-4F1E-B380-55662F10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05d2e7262d4de6"/>
          <a:stretch xmlns:a="http://schemas.openxmlformats.org/drawingml/2006/main"/>
        </p:blipFill>
        <p:spPr>
          <a:xfrm xmlns:a="http://schemas.openxmlformats.org/drawingml/2006/main">
            <a:off x="1009773" y="1790700"/>
            <a:ext cx="5886204" cy="36766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E6D2B9-DB1D-4A95-9BC1-35A329E2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9EE9B-4C0B-4B58-8AB4-29B66708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C5D75C-D199-4946-8E75-6FE000E02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Iota controls field-line pitch and resonance exposure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F96C4-F5CB-4733-8A21-0731F7038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CCB30F-07CC-49D6-B9E9-48FE80DE8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changes in iota as a first optimization diagnostic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BFCA2E-D634-4AEA-BA2F-C5989D00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1631B1-04FA-4746-A3F3-8907D248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AD9C2A-2704-413F-887D-7D615179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828b1ed5c64d0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D952A4-4B49-4FE7-9369-CF83CCCB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rotational transform profile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BD5746-673A-4D10-B02A-5B5CF374E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594602-A2F5-495B-87EB-B91ED046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6EE326-6A08-49F4-B46F-5B28E0DE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AE090C-BAAF-49D5-97ED-D7BAF835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ABE3F6-494F-4A61-9E5A-D6764D190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11</a:t>
            </a:r>
          </a:p>
        </p:txBody>
      </p:sp>
    </p:spTree>
    <p:extLst>
      <p:ext uri="{BB962C8B-B14F-4D97-AF65-F5344CB8AC3E}">
        <p14:creationId xmlns:p14="http://schemas.microsoft.com/office/powerpoint/2010/main" val="137468534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117428-FD2C-4E5E-9460-20DC7820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886130-3392-469D-A19C-1F4AECAFE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FE16F7-7E45-4096-9807-FA1D012A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F2F262-9F80-47FA-ACEC-67F0B517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95EEDA-2518-44E6-8E7B-26467182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034278-E4CA-4D2F-B93A-700B71B2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Non-convergence contains information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4BC593-10C0-4C4C-B539-91E81B9F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6E5A0A-6E27-4CFE-AB67-9BFBCD32B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Bad resolution can create attractive false metrics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A00380-9ECB-4BE7-833E-EF9E4217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B4342-B498-4F36-8EFE-3574D858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Cached mode keeps the lecture moving while preserving the warning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B971CA-B111-42B2-93E4-354ECC0C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16F3CF-F931-4413-9458-EAFDA221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D320D2-BFE4-4A58-A009-BDE56E67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c033afa9e34af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74680B-A198-4FA9-B6A7-F85824B1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Equilibrium convergence is a result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5E1461-5F1F-495E-BC84-E7AC89EA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4D9847-B012-45FB-BDF7-C1273170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BAFADF-009C-4727-AAA9-847E1F32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C23CFD-A4FC-4D66-BCFE-9202F0876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6A91D1-3D44-448D-8722-602596C7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12</a:t>
            </a:r>
          </a:p>
        </p:txBody>
      </p:sp>
    </p:spTree>
    <p:extLst>
      <p:ext uri="{BB962C8B-B14F-4D97-AF65-F5344CB8AC3E}">
        <p14:creationId xmlns:p14="http://schemas.microsoft.com/office/powerpoint/2010/main" val="117689233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2BC06B-C9EE-4834-8D91-5E5A9DE3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42FECF-A356-4E0E-B91D-B119FCD8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bf7dae8bdf409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CA0862-BFF1-4B72-A9E1-200FA5F4F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Notebook project: first equilibrium object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9C98F7-5DF0-4EC7-B271-03C899FA2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957D9F-28FA-4D78-8D37-1C8A9052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DB1786-A023-466D-AD12-D53ED2C7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2C9D61-3358-4FDC-A7E4-A5E6EF4E6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5D3860-CCCA-4CED-928B-F362AB16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notebooks/01_vmec_jax_first_equilibrium.ipynb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2A71C1-EB36-42D9-A9B1-773169A1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E87AA6-51A0-4EF4-A2A0-A6E207DA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Load the HSX wout file when available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6BC1ED-BFA1-4BF4-BB6E-90D5199D5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62FFCD-993D-471E-AAA0-44A59BF7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LCFS and iota profile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F8BDDA-F7D8-4BA5-AF1D-F1323592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30B152-6392-49EB-9BF6-9A360E716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boundary-mode proxy and inspect metric coupling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92FCB5-0083-41A1-9EB1-057AB6C7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D1233A-A2E0-40F8-A9FE-A61A351A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01452A-C01E-4280-AA14-1C00FF72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C14DCE-4AEB-40E8-BE0A-7E7FB8E12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CD4551-EA25-43E8-8FC8-89930E43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E3B03E-E433-40EE-8D1F-0CF19D5DE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E08C75-85F7-45B0-B9E1-B80D6119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24B9BC-A881-49C1-8562-BBAF5127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AFA970-56DC-4A18-94FC-0ED62ABA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C2CAE3-B5F4-4713-9D2F-B9774513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6ACA9B-8DF7-463F-AD6D-3B26DF681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D7C014-5CC7-4ADF-BA54-70A4BD7A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DE623C-BC64-470A-849D-09C73868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47AE7A-F1B3-4D34-83ED-5175688DB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9701FB-E16C-44BE-B84C-4158BAD87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C2D64B-ADC3-4514-9AAC-79CC39B2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B4E992-7264-4731-BF9E-6042CC396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82AD9DE-4646-45C1-B4AD-CE4A9FF3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13</a:t>
            </a:r>
          </a:p>
        </p:txBody>
      </p:sp>
    </p:spTree>
    <p:extLst>
      <p:ext uri="{BB962C8B-B14F-4D97-AF65-F5344CB8AC3E}">
        <p14:creationId xmlns:p14="http://schemas.microsoft.com/office/powerpoint/2010/main" val="95496739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B62387-0BCC-4E7A-8C35-43529447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E3124C-1BE6-4A4C-9696-6D6872A8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4D35F2-053B-43BE-8020-576A825E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2332D0-7904-4969-B0DA-611B02B0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c19c30f61f4bc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D4CFC0-94D1-4BC0-8FD6-2D4DAC1A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00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DB1D4B-45B0-4EF5-8196-B681EA77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266950"/>
            <a:ext cx="7810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PART 2. Boozer coordinates turn geometry into spectra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318A46-E18C-411E-9C31-E6FE10BE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657600"/>
            <a:ext cx="8382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45295-5E09-4ADC-8D75-36294DFAF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32153D-FB76-48AF-9668-D0B5C381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767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Represent magnetic-field strength in useful coordinates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49CE0B-4984-42E2-BF87-71FAF52AC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10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506F16-BB4C-4B8F-9BD3-DEC209F56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70535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Separate symmetry-preserving modes from symmetry-breaking modes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0750D2-81C3-45EC-8A33-3BEC9ADF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410F4A-AFDF-4028-86AB-EB9403A2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D5968A-6BCA-4CE5-9417-EE9422047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98EF2D-B342-40D0-A87A-08644E6E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14</a:t>
            </a:r>
          </a:p>
        </p:txBody>
      </p:sp>
    </p:spTree>
    <p:extLst>
      <p:ext uri="{BB962C8B-B14F-4D97-AF65-F5344CB8AC3E}">
        <p14:creationId xmlns:p14="http://schemas.microsoft.com/office/powerpoint/2010/main" val="47188243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270152-DDF7-41BD-B4E1-25CFF06F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D29C7D-5AD5-4034-8EB9-534D533B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a41b56ef7d4ab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AD5F7A-3BBD-45A3-AA3A-85A6ABCA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Boozer coordinates make symmetry measurable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6B6762-FDFE-4ACC-A998-D85C9F13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0139EE-4D5C-4E32-8ACD-AC9D314F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2D7C83-CE74-40CE-BEF3-C96AF95E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65CC28-E927-4235-866A-3C85D005D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D87821-A3CF-4121-8E6D-F262AC54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Many design targets are statements about |B| in special coordinates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14DDE8-CF7B-4809-BA6D-5783F6BC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9D724B-DED5-45CB-888A-E71092D1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279C6C-12C4-4251-9B78-6694F499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C34FEB-C633-4953-9B6E-D92B4789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spectrum converts geometry into a table of modes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8836AF-5BFB-4677-ABB5-94D12F87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979425-99AD-4E83-AC26-DD6F7EA07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14ED1D-CA25-44F8-9147-88397B86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178122-A2E6-4FB4-8A5F-1E780D33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0603F9-27B2-4E94-94F1-A84C2B174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8D1EB6-DD9E-45F2-97A6-21526613C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710CAB-2BF9-49D5-8A9C-4A1A13DB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15</a:t>
            </a:r>
          </a:p>
        </p:txBody>
      </p:sp>
    </p:spTree>
    <p:extLst>
      <p:ext uri="{BB962C8B-B14F-4D97-AF65-F5344CB8AC3E}">
        <p14:creationId xmlns:p14="http://schemas.microsoft.com/office/powerpoint/2010/main" val="99506540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73B28D-132B-456F-81BD-61FD7F39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A95197-273C-4DF8-835F-D8304786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a2b6e638234b8d"/>
          <a:stretch xmlns:a="http://schemas.openxmlformats.org/drawingml/2006/main"/>
        </p:blipFill>
        <p:spPr>
          <a:xfrm xmlns:a="http://schemas.openxmlformats.org/drawingml/2006/main">
            <a:off x="1209147" y="1790700"/>
            <a:ext cx="5487455" cy="36766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F9EE51-4616-41BE-ADB4-72F2BA3A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232326-7A9A-4344-9C8E-5C684234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955C5E-FF23-4E62-82B3-E0D03391A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Clean bands suggest dominant intended symmetry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CD5B28-A278-4070-994C-07866D027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56E371-2F38-47BD-B1B9-6C5F332B3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Inspect the contour before reading one scalar residual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F26643-F0EB-432C-8412-5F207B46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0630F4-8E35-4184-91E7-A875F2D31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77646-3E33-4236-A38E-6FD44D61D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a563bb82f949c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D4EA37-3274-4D8D-A505-21B035C8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B(theta,zeta) contour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B52E68-2E07-4CFD-9249-233C30F00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F7CF7D-9423-41FC-92AA-00E05088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BF249C-67AB-4F0E-A51D-144721E2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3826F7-34A5-4FB3-9D8B-1A2A52F2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424CF7-3FB9-43BE-8936-1C2563FB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16</a:t>
            </a:r>
          </a:p>
        </p:txBody>
      </p:sp>
    </p:spTree>
    <p:extLst>
      <p:ext uri="{BB962C8B-B14F-4D97-AF65-F5344CB8AC3E}">
        <p14:creationId xmlns:p14="http://schemas.microsoft.com/office/powerpoint/2010/main" val="46812694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F29ACA-0BF2-4E75-B1B5-8DDAB041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28F897-825E-4FB9-B785-2C1A49A62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84a08000214503"/>
          <a:stretch xmlns:a="http://schemas.openxmlformats.org/drawingml/2006/main"/>
        </p:blipFill>
        <p:spPr>
          <a:xfrm xmlns:a="http://schemas.openxmlformats.org/drawingml/2006/main">
            <a:off x="625845" y="1790700"/>
            <a:ext cx="6654060" cy="36766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A137FE-F7B8-490F-B1D0-6E7A958D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026625-D045-4EB8-AB5B-D0A91888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BB9D54-0D1D-4B16-B312-DEE02EE3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Dominant symmetry-line modes carry the design target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75D00-3673-4581-B6CE-ADB919B2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5917B3-AF27-4C14-B8CA-1A331DEE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Off-line modes define penalties and diagnostics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A719FE-4BAF-4652-8965-ADFCA1856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DE6A3E-BBBB-499A-A1F7-5EECB720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D8EF16-F65D-4DE5-9851-935C765A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6708e83515407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8B04F3-31A3-4B34-A539-686CAE61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Boozer spectrum heatmap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12E061-702F-4501-A6C6-B8835F9C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3D3B5C-5AB2-42F4-A2EF-BCFAA321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E382FD-012B-4365-AF59-8A659960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EE7E82-EFE0-4EC1-AA15-E20D07AD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4C8D76-9906-47EA-839E-E0B06628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17</a:t>
            </a:r>
          </a:p>
        </p:txBody>
      </p:sp>
    </p:spTree>
    <p:extLst>
      <p:ext uri="{BB962C8B-B14F-4D97-AF65-F5344CB8AC3E}">
        <p14:creationId xmlns:p14="http://schemas.microsoft.com/office/powerpoint/2010/main" val="164707311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687DFF-E07B-41C9-B7F8-22F5E788D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D763C-0F1F-49A3-B968-56AF7C8CD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b0e1eac914485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3AAF97-B2C8-49A5-9727-4858087F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Several symmetry targets use the same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D5B924-F573-4303-87C5-E1C6D00F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03C8CA-0BF9-427F-B44D-89072D9B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36C833-1C57-4D03-BC6C-520CED17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6BEE90-C80B-4C87-ADC3-895B88A68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4CAA8F-4ED9-42E0-9EB2-D82ADC09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Quasi-axisymmetry, quasi-helical symmetry, and quasi-isodynamicity differ by mode structure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02B5B5-137F-4B7B-BC6D-680E0478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6945E1-5607-4098-BC63-558E78DBB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5FA2B3-F09F-4743-8AB4-3F5A8B69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13B588-E4E7-49B8-B823-F9AFC928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residual must match the intended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8319F2-3EA0-4042-AF57-E7583F27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9F465F-EB35-41A3-A3CD-BC38EA0AF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F69FC5-C6DB-4785-AB21-8161AB5B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65434F-D27D-4BCC-868C-0BBB1096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B6E69B-E0D4-4D91-AF8A-985B3292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FAEF84-3E13-45BB-BC80-2C760FF7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BFB1A2-7B63-4807-8263-2B9C38B47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18</a:t>
            </a:r>
          </a:p>
        </p:txBody>
      </p:sp>
    </p:spTree>
    <p:extLst>
      <p:ext uri="{BB962C8B-B14F-4D97-AF65-F5344CB8AC3E}">
        <p14:creationId xmlns:p14="http://schemas.microsoft.com/office/powerpoint/2010/main" val="92470697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BBDE84-AD1B-49E9-B241-F8EB7369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B1F2A3-8EFA-4338-98F0-FB95CD6E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F51076-99F9-4385-8954-086925D2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485BB4-CA83-48F5-9B2A-9F6967B6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B26E1A-2093-46E2-BBB1-9029EF43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087844-C193-4764-8E5E-05B15299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modes were retained?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FA2250-E543-46F7-988A-EF2723B3B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FB9720-6B9E-4657-A14E-BB2A80C2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surfaces were used?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610830-D06C-4AB1-8AB6-78E236F0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5C296C-34F4-40B9-BFFF-5DFD729A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Was transform convergence checked?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FF3FC0-0DF6-46E7-A3C3-6FCD11498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2D3507-0979-4A12-9159-834952E55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7702CF-5DD7-4EA2-9468-F846109A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aa75625fdf46a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81BB0A-888D-4DC2-BC38-E1658748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Boozer transforms need a convergence audit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60CBCB-EF64-4183-AC1C-857A4EA1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5EB72C-E8BD-47FC-9094-36A982BE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7DC458-CBF8-4D61-AECD-59B01686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C9C8FD-870E-429A-A0C4-AE0EEBE0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9F31ED-4252-4161-8119-3C1012CB2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19</a:t>
            </a:r>
          </a:p>
        </p:txBody>
      </p:sp>
    </p:spTree>
    <p:extLst>
      <p:ext uri="{BB962C8B-B14F-4D97-AF65-F5344CB8AC3E}">
        <p14:creationId xmlns:p14="http://schemas.microsoft.com/office/powerpoint/2010/main" val="179899148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643D02-646E-4D94-91EC-ED2AB53A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20B463-0329-46AB-95CA-085C09CDA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83c3cd19c441e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78A55C-E7A3-4AA6-AA2C-BC6F9041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Notebook project: Boozer spectrum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BDA62C-FDE0-4456-A87A-C30C5985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304201-12FF-468D-8508-FBB1E726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3F1307-B9FE-4779-B60C-3259DB4A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662240-EE0A-473C-A551-E636FC9C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A56257-4609-4650-BA4D-835590012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notebooks/02_boozer_spectrum.ipynb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274B32-9C0E-43B3-8153-48EB1264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6975D8-0AD6-46DF-A7FD-CFEC6B7C5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Generate B(theta,zeta) from cached modes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A1C854-8E32-4363-AEA5-1FF9F1E0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EA4475-3D50-433F-AD48-04D187B5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Identify symmetry-breaking modes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7ED2BD-EC38-4A02-95AE-AAB22C557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2061A3-553A-4E8F-BFFA-9C588131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Perturb one bad mode and watch the residual rise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243751-3B31-44FF-A884-0BF490C6D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C5E97E-C2F8-4B54-B7A3-FB34DFFF0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9DE064-2D89-4F8D-88A7-5140573A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5B61B8-0602-4DA7-BF60-DC30C1C7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1F5CF2-8EB1-4C8F-9C28-8E1F437D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0EFAF-92F6-4855-B572-39AC1433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30D71D-8386-4ABC-BA1D-41828F21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516EB7-357B-4C1B-ACC6-980261E6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38BF66-663F-4A72-A46B-7B66FCDF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B37C6D-BCC9-4245-83CC-170A4DC6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0C76BD-08FA-4F9E-9E94-9FCE13E2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00A1A8-C86A-4622-B922-00C38425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B15296-02DF-4A6F-801F-3BDDDB83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6EF8F5-C830-46BF-8B90-1A26937F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0A59AE-941C-4A05-B424-CE9D1BCC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B994EC-2552-4D61-ABA8-70ED2059A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73DEBC-04A8-46A0-B63C-5AABCEEF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048915-88A9-4AE1-B7F7-AA55EC46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20</a:t>
            </a:r>
          </a:p>
        </p:txBody>
      </p:sp>
    </p:spTree>
    <p:extLst>
      <p:ext uri="{BB962C8B-B14F-4D97-AF65-F5344CB8AC3E}">
        <p14:creationId xmlns:p14="http://schemas.microsoft.com/office/powerpoint/2010/main" val="105890093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FC394C-4FD5-41CB-8DB2-2E88A5A6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F69FA0-2B6E-4F9A-8E9B-BB1558A1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F6A219-96C7-4DDB-B07B-AE1B33778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A78EEB-3400-4D05-AC91-CA5CF378C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e089f8133f454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A0EFAE-0CAE-4FCF-B1CA-D08DD219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00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1DB42A-208D-4DFE-AF5A-3EDA1AC4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266950"/>
            <a:ext cx="7810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PART 3. Metrics turn spectra into design objectives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49FF63-6AB5-4E69-852F-5287B52E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657600"/>
            <a:ext cx="8382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6702EE-880D-4AF1-BB02-CD3FAC0F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D3DDA2-D9AF-4D56-A545-00273E193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767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Compress the spectrum into a useful scalar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B475A8-59E7-48C3-B6BF-D74B63CD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10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145AC1-E6D0-46C1-9586-22A1086E4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70535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Keep the full plot next to the scalar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F351E9-4F5E-4508-8B21-2B12B94C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1D815D-379C-404A-8301-5C9007225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BC81C0-8ED1-437F-B01E-0A9520FD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135173-F00F-4C21-8509-E88A7203F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21</a:t>
            </a:r>
          </a:p>
        </p:txBody>
      </p:sp>
    </p:spTree>
    <p:extLst>
      <p:ext uri="{BB962C8B-B14F-4D97-AF65-F5344CB8AC3E}">
        <p14:creationId xmlns:p14="http://schemas.microsoft.com/office/powerpoint/2010/main" val="1884614472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178FD1-AF06-45DC-93E4-A1E9F961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7CC3D6-629F-44CD-9759-E0209980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3866d24ce44ea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7975D4-4964-4B82-9AC4-71FDE216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Effective ripple is an optimization metric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374876-6F8B-4EC0-8069-EF71A4C8A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2D9187-D997-4CB4-8D7A-41D5595D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C1F663-FAB1-44ED-A24C-968DF923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4C02CF-30AD-45D0-A89B-CE8C4CA7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718131-6BC0-47C3-A251-EA826C66D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Compresses low-collisionality neoclassical transport risk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AD8B2E-1EC0-48CE-A253-CEA1C761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F4062D-D19A-4665-B2D4-FD2CD461B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BCC980-6767-4B96-8CC7-51652588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B00244-17B9-44BF-8FDE-1A7A98C6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Useful as a screen before expensive transport calculations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1C316D-69FE-44AE-B4A8-8010D65E3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A69F80-0C39-4B83-A8AC-E7858D65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29B6D9-380B-4EFD-9295-AC6F6E4A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682468-20E8-4F64-A45D-7AC2D7774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6A83B6-2DBA-4792-8C47-0DB24B81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5762BE-8B8F-487A-9889-02B63F86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A686A8-124B-409C-8EC3-70FB6C4B9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22</a:t>
            </a:r>
          </a:p>
        </p:txBody>
      </p:sp>
    </p:spTree>
    <p:extLst>
      <p:ext uri="{BB962C8B-B14F-4D97-AF65-F5344CB8AC3E}">
        <p14:creationId xmlns:p14="http://schemas.microsoft.com/office/powerpoint/2010/main" val="7078312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87C42C-5EC8-4DA0-AD4B-DE5786CDF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B7FB44-79F5-42F6-93EB-019C92D5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4a6aca34e34ab0"/>
          <a:stretch xmlns:a="http://schemas.openxmlformats.org/drawingml/2006/main"/>
        </p:blipFill>
        <p:spPr>
          <a:xfrm xmlns:a="http://schemas.openxmlformats.org/drawingml/2006/main">
            <a:off x="639012" y="1790700"/>
            <a:ext cx="6627726" cy="36766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159DED-50D5-4A7D-B8D8-DC780E5E1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EB30E7-E50B-438A-9549-6BF8DBB4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3BF02D-7A96-4659-8BFC-0B2E2E8AB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 shapes matter: edge and core can rank differently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392B51-19C1-41FE-8E8F-4010D4FE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860199-3C92-40EA-9DF6-F426A4C13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One scalar hides where the risk lives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AA2631-2FE2-4ECE-AD3A-CCE4A1FA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C65B13-426A-436A-A048-D5DAFEA4D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74A5E3-7AE0-408E-BC2F-F3435418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7b4c06c5dc49c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8F4CF6-99A0-4D36-9C99-773A22A33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effective-ripple comparison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8C9467-DAD1-4D5A-A3CC-410BCA0A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A69F41-96CE-469A-B091-C4C84DF5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9C1F26-0E40-45D3-ABA1-250ED55D0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01BCBF-6777-46D2-8EC9-BB537BA3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EEC1E0-26B7-44B6-A2E8-2DCFBF49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23</a:t>
            </a:r>
          </a:p>
        </p:txBody>
      </p:sp>
    </p:spTree>
    <p:extLst>
      <p:ext uri="{BB962C8B-B14F-4D97-AF65-F5344CB8AC3E}">
        <p14:creationId xmlns:p14="http://schemas.microsoft.com/office/powerpoint/2010/main" val="59018991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61359D-6B5F-448D-8D32-95560BCA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478A32-8F76-4878-9D79-4A2917187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cfac61e6464e48"/>
          <a:stretch xmlns:a="http://schemas.openxmlformats.org/drawingml/2006/main"/>
        </p:blipFill>
        <p:spPr>
          <a:xfrm xmlns:a="http://schemas.openxmlformats.org/drawingml/2006/main">
            <a:off x="818047" y="1790700"/>
            <a:ext cx="6269656" cy="36766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4EB290-C9CF-432C-AFAA-86B867932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5ADCEC-F03B-4F22-A17D-F56138D5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72654F-2E01-468F-9450-4638BA384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useful metric tells the optimizer which direction is worse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648701-94BA-44A7-85BD-F7CA50486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084389-A013-4E8E-8F6C-A15D38C5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Finite differences are enough for classroom intuition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DB55FE-3B0D-4811-B17B-DF59F7367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9B340F-C56B-4196-9885-C69AF76B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D20662-E95B-401B-8F2B-A8542F86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88f7049b6043e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F187DF-7157-4035-A47B-066C0C5F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sensitivity to one geometry knob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6A0EE8-1305-4C1D-B5B5-59C8408A1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A5F041-09AC-4D38-B0C8-22852459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B5CC3E-2D35-4E24-A1AE-CF13DEE3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28ACE9-8753-4CAC-B6B0-21024DF0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425D19-D3A0-46FE-8083-D513DC099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24</a:t>
            </a:r>
          </a:p>
        </p:txBody>
      </p:sp>
    </p:spTree>
    <p:extLst>
      <p:ext uri="{BB962C8B-B14F-4D97-AF65-F5344CB8AC3E}">
        <p14:creationId xmlns:p14="http://schemas.microsoft.com/office/powerpoint/2010/main" val="43680492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A65CE2-808F-4360-A403-2C485CA30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C22A1F-98DB-4F64-A37E-59ACCA70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55058e5905439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CA9474-E88A-46E2-8569-B9260E7D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Gradients expand the design space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AE79E8-8C0D-4093-94CA-2F4BD1CA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42B7EB-56E9-4A80-9501-24BBC05DF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03991D-265B-4475-A5B9-57537951C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B039A9-40A6-42DD-9750-8E6C8CFF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3052AC-F33C-4CC7-BF62-AA63FCC7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Finite differences are robust for teaching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4BD606-EB59-4DE1-A58F-A7E4EF19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E15F58-FC82-4859-A0E7-C3AAC2E2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EAF96F-6769-4210-99A4-048F2481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ECCB07-AF1E-4C4A-8D7D-118D958E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Adjoints and autodiff become important for large searches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9480FF-21C9-4185-A8FC-C4BB87831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C4C8E8-4653-452A-AE46-3EBD9EDF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06220A-B914-4092-80EA-BA61395A9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B4954E-7959-47C8-965A-5D303CA5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Gradient quality must be checked against physics fidelity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109C1D-52BC-4100-84BD-6CDDE852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F33DE6-740B-499A-BDE9-CB1F588C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77A10C-4393-4CE9-9556-8F94F8B6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09B5F9-D49B-47C2-B843-FFC998DA7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A75E32-0072-4997-953E-613190F5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F7258C-4F76-4A53-99C2-6877A6D7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17EBCE-86DF-441C-9D13-A7850BCD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25</a:t>
            </a:r>
          </a:p>
        </p:txBody>
      </p:sp>
    </p:spTree>
    <p:extLst>
      <p:ext uri="{BB962C8B-B14F-4D97-AF65-F5344CB8AC3E}">
        <p14:creationId xmlns:p14="http://schemas.microsoft.com/office/powerpoint/2010/main" val="33006850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7BEDE3-E437-4330-9F07-C69A787E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0A2021-4C32-4011-A7F5-A1C98C40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790d736f9a4bd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12953-3910-497F-A66E-EA0C3D0B7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Autodiff changes the coding contract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39A377-B82A-4C63-ADD7-CA683D72D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6EA673-C007-4F8D-B1AB-4E096101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6E283C-8917-4575-8D39-ACC1FE39D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415EAE-8A3B-4A75-807D-5345D222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12E103-EF05-48EB-B20B-EC74FBDB7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71E84E-4352-4233-8F0C-20A08118A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CD0917-22AB-42DF-95E4-3A9CC5765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Every operation in the objective must be differentiable or isolated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204D1B-1B23-4901-B6C9-50566797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B52B55-6F94-4F14-88A4-CCFE7A30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Cached mode teaches structure before research-mode autodiff tests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AFE944-A3A4-47E6-AFB7-66598B178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34F8DD-C6B4-40DD-B687-49381DF7B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EA79BA-3A50-44F7-A259-61C0C8A23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D38211-5A98-4075-85F1-33E6B0ED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26</a:t>
            </a:r>
          </a:p>
        </p:txBody>
      </p:sp>
    </p:spTree>
    <p:extLst>
      <p:ext uri="{BB962C8B-B14F-4D97-AF65-F5344CB8AC3E}">
        <p14:creationId xmlns:p14="http://schemas.microsoft.com/office/powerpoint/2010/main" val="884774521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F54476-8DD1-4CB3-9518-A1BEF79D2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975695-EC91-4FD7-9486-62791144B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8874ed7f7248c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717989-032E-41FB-AE16-FF0DC35A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scalar objective is a negotiation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338D47-ACCA-44F7-8765-1081E91F5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F54DB0-1948-4D16-891D-9403E96E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AED11E-5178-4597-818E-14CBDDAB2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A8DDF3-4396-4742-BD53-14A39491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0B265A-9381-4EC5-86CA-30DE9A62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FC96D5-4A83-46BB-BEE6-EAD9FC9D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111815-DD3A-4782-8BF1-B25BE26B7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590191-9F0C-4B3B-9495-21609B271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565921-5102-4A02-9854-1E0AF4B3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4E6755-B442-4E5E-9292-AAB0C72D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EE2E93-4E2E-463C-ACBD-EC26F248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663725-ADA7-47B2-A2A0-71A166362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378115-71B0-4D18-A3C7-8522B40D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150AA0-7DC0-4DEF-AEE0-DAE2FF50E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165D48-9D1F-48FA-B54C-3B407A29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2A4F5B-2A4F-421A-814F-1572C464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42E147-928C-4865-A1E4-F141F7A9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CB937D-C078-4606-8043-0E8189BE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B8B4B5-5FF9-4382-BB35-FB06CEFC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D160E9-F94F-4C5B-A830-1B3CE818F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CD67C2-6B1A-4FDA-885C-DF38ECB7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4BD5DE-801F-42FC-8301-90E5E0538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7FD26-F708-4A14-A5A9-F2156E68B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386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Magnetic quality, profiles, coil risk, and transport gates compete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7990D9-69FA-4EB2-A4B6-E363AF7C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14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957E00-1AFA-4034-BEC3-CC622C45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Weights encode values, program stage, and risk choices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5C5505-77EB-4689-8A76-DCC102716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4764B3-BC39-4D3A-987D-82A821BD3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9F1AC4-4662-4148-9AA5-9F949147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32379A-A0F8-482D-9364-BA880736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27</a:t>
            </a:r>
          </a:p>
        </p:txBody>
      </p:sp>
    </p:spTree>
    <p:extLst>
      <p:ext uri="{BB962C8B-B14F-4D97-AF65-F5344CB8AC3E}">
        <p14:creationId xmlns:p14="http://schemas.microsoft.com/office/powerpoint/2010/main" val="273133422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B093F3-89B3-4D6D-AD1E-2E361AD2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4D9B37-F988-436C-B570-CEC361BB0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46A9D1-6037-412C-9748-82B5E36DA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805589-27E8-4492-84BC-69656213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97E4C4-0265-4ABF-8FA0-0CC3259F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F020B9-99B2-4093-B6CA-4EB41ACCD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Definition of the residual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68E4EF-8AFB-4B3E-96AC-AAA204B5E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286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B41F5E-AEBE-4EE0-9172-290AF7CC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8135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Validation domain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5EC717-3ACB-4CB5-9025-787648D68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38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404656-0D90-41AE-8B8E-E40E9B3CB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73380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Sensitivity direction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88DE43-C544-482B-8347-D2D69427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391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CF99DE-A367-42CE-BBFB-F78E40F9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8625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Known failure mode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6AA772-1C1E-4285-B48D-56F554FA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D83DA6-3B7A-4CA2-B747-28CD8CFD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2C4B63-58E2-4F80-B585-58D04BBE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147f0f7fc7452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29A902-2CBF-476C-91DD-F5271D3C0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Metric definitions need units and provenance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D896ED-073F-446F-AC6A-6AA7031E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0E7680-B3C9-491B-8AA3-07D098EFF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5E3F85-EAC1-458B-BE1E-51677428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1E717A-BBBB-49EA-A7AF-64210103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3AE6A6-46C9-4695-9C20-29949A47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28</a:t>
            </a:r>
          </a:p>
        </p:txBody>
      </p:sp>
    </p:spTree>
    <p:extLst>
      <p:ext uri="{BB962C8B-B14F-4D97-AF65-F5344CB8AC3E}">
        <p14:creationId xmlns:p14="http://schemas.microsoft.com/office/powerpoint/2010/main" val="1155031231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355548-7482-40C7-A706-12B7F727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18F75D-66A5-49A9-B3A3-6F570661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7734ad53d84e7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64FAC9-DC38-473F-9FA8-74A7EEA26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Data provenance is a scientific result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C79DA5-B588-40A8-8600-E2EDC83F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37445B-F6A9-4105-AEC4-E48E08E8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804D0D-470B-4841-AD28-CA1885EE8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42A5C9-0403-4B77-AE43-4228FC91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7564CC-2641-4EFE-BF85-E9341BCA6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470C7-3C22-47B5-A4CE-6C221ACA7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94BAE8-07EA-4F32-A1EE-766382EF4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Real public HSX and W7-X files are fetched by script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859EC9-B8D7-4235-AF53-473EB7E3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42C334-C5CD-49D9-86AA-5A3566901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Synthetic/cached arrays are labeled and documented in STATUS.md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66520-AC19-4FAF-89D2-31B27692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5ADBB8-FE59-444B-B567-3232C260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B7E5BF-C2D1-4D86-B93F-A1B5610E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769179-F80C-4563-AC5D-47A161EF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29</a:t>
            </a:r>
          </a:p>
        </p:txBody>
      </p:sp>
    </p:spTree>
    <p:extLst>
      <p:ext uri="{BB962C8B-B14F-4D97-AF65-F5344CB8AC3E}">
        <p14:creationId xmlns:p14="http://schemas.microsoft.com/office/powerpoint/2010/main" val="830457547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81EAE7-412F-4174-B8A0-5C81A0BC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17180-0C4E-4F25-8117-805148E2E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d940a921ed44f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744A79-E29E-4895-AA4E-323315377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Computational checkpoint for lecture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72470E-D191-47B6-BEF3-5C972593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D1E2DC-6DAF-4E55-B156-68567CC2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292856-D3B2-4E86-8A89-F24981898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C4243-8B74-4AC1-8A3D-CD7963D4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837C49-C79E-40A5-BF5C-B0AB8DC8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0FC6AE-1B9E-4FC0-A91B-CD68CEBA8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B05DEB-1C8E-4350-B217-D24DDAE51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the environment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11DDD5-FE28-4A8B-B509-7F3CE75A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BB01E8-DCCE-4695-AF76-0A712182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Fetch equilibria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52D1A9-704C-4250-B943-7B394A8BC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4E8FC7-3905-49BA-A249-49E46B0AA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Generate figures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5E20D3-7163-4AEC-9C26-6508C81B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81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54605-8A54-4A26-B4CA-1114FD8B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768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 notebooks 01-03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2CAD8D-2A85-433A-BFE6-6FB682B8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673CBD-D5AA-4609-913E-B49402F6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E754AA-5278-4D93-8A21-BC05D5A1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5B0876-3953-4E7D-A8ED-3C911BB5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E56568-E169-4B1B-8D40-A049E0894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1B7084-F7F6-43E6-8559-6E955772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55728D-608F-4098-9BF1-B2AF705F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3107D3-9AB9-4D71-9534-5BCB99A7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6A2846-A6AA-4809-9929-A128C7F7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032DDF-F6E0-4073-A204-42DB245D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9F294C-08E2-4A5B-B46A-DE1DD25A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16BB91-0DE2-4DAC-8929-D823328A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C113D5-C870-4D26-94CC-9D64C5FDA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594BE2-6122-4924-8021-A70C8BF7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4972F4-2141-4CB5-8703-D054112B2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F0E800-D4AE-4053-9B72-B2326FC1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CB375D-A90E-4196-A9E6-10433117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6D35D12-D044-4622-99E7-BD57F0DDE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30</a:t>
            </a:r>
          </a:p>
        </p:txBody>
      </p:sp>
    </p:spTree>
    <p:extLst>
      <p:ext uri="{BB962C8B-B14F-4D97-AF65-F5344CB8AC3E}">
        <p14:creationId xmlns:p14="http://schemas.microsoft.com/office/powerpoint/2010/main" val="983628189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633023-D935-4B3E-B4DA-2A5E23D8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FB3620-4C45-441C-A429-4F3726C4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583d7a930443b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8F717A-1E1D-482B-9F71-FFF181A85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Exercise: change a boundary mode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E1920D-EC9C-475A-951B-12DA7B7E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C94CAC-696A-4461-AD50-5BD57D88C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7857FC-6F28-40A8-80B7-3DE9539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5897FC-6280-4403-BBD4-7EFBB153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1494D5-E752-4B58-A765-4A963D049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7C2E3C-8358-4BC9-911C-46665347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2EF98F-9081-49A8-9392-949B0188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Predict which metrics move first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7F3C74-3F85-4022-B8CB-EB3EBBF1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0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0FA8BB-82B6-4943-93CE-4476F1C8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352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Regenerate the surface and mode-scan figure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264B28-948A-400A-9DBB-853FE7DE4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8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E5B415-C289-461E-8BA5-D75694B2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845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State what the toy model can prove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5B59EA-4237-4D8F-9649-63A1CB30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B85D0E-2757-4F69-85F5-80B523E7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31E1EB-17C3-4DB1-95B1-EDE9843E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038249-E875-4003-9A0B-7DF8558E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13B892-4BE5-44D8-BCC5-D20DA6FE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B155DD-934E-45DD-9477-11BC6A9F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31</a:t>
            </a:r>
          </a:p>
        </p:txBody>
      </p:sp>
    </p:spTree>
    <p:extLst>
      <p:ext uri="{BB962C8B-B14F-4D97-AF65-F5344CB8AC3E}">
        <p14:creationId xmlns:p14="http://schemas.microsoft.com/office/powerpoint/2010/main" val="1875226311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0B012C-6222-4884-BDF0-9E16CDAC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E0125C-CD03-4392-A633-154D1FD5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d002aacf34445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21349F-916B-459A-9A3C-EC8D1940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Exercise: circle the bad Boozer modes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C52180-60B1-4860-84D5-CEDF7BA0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C3D2FC-7CEF-45C7-9B46-CB4FF88F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86935E-8E2B-46AA-A110-2871A5E5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CB79CE-4ADA-4B34-A7DD-B86397BF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557526-30D6-4744-AC17-A37BED85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5A2BE3-39DA-438F-90DA-BA5F6E03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E26750-C269-4051-AEF4-46412847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modes preserve the target symmetry?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1094C0-A783-4145-997D-B73D4570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0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36D0AF-EEC7-4C7E-A641-BFEAFADA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352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modes would you penalize?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26320B-B0F3-40F1-B8C3-FDDAA671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8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71ABA6-A703-41C3-ABFA-DD9764A7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845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happens if one bad mode triples?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228996-F71E-4226-BC66-465CC50C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F8C492-7E1F-4968-AD06-6AFA137BE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099A68-84F9-404B-94AE-B1862906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A61F22-F225-482D-8124-04579381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36CAFD-5068-43E8-A150-9B7A3AC2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8120B6-C3BA-4B52-8550-24CD419A8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32</a:t>
            </a:r>
          </a:p>
        </p:txBody>
      </p:sp>
    </p:spTree>
    <p:extLst>
      <p:ext uri="{BB962C8B-B14F-4D97-AF65-F5344CB8AC3E}">
        <p14:creationId xmlns:p14="http://schemas.microsoft.com/office/powerpoint/2010/main" val="867788493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8092A4-5273-4CF1-8415-847EF0EF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A77D8A-A896-48CE-BC6B-4E25947F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f7bbbd32f6497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A87196-A4F0-4F1F-9E19-098A416E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Checklist: VMEC file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2DDC6-9F6F-471C-BA3B-3EB49DF30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F71AA5-8006-4D90-AA81-4850CEE6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A38DE9-232A-404C-B012-78CCC243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DC150F-8D00-45C2-835D-688B5221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CC7121-5F35-48E7-82EB-78E2BD4E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DFD081-AB3E-4DC7-9359-DD39DE2E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CAB52F-EFC7-4B72-A1D8-8986D6DC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EDEABF-A9FB-4852-8951-83F0D753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83C65E-DEEF-4845-807F-FB9C8035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iota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B9CB7B-E2A6-45B5-A6B1-03AD6C50E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A3BEEF-532E-4C3C-A832-686A0D73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43E15D-3056-4F67-A15F-EB8DEFA36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471609-6471-476B-A1CA-6832B2D8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boundary coefficients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B5E79D-DCAD-4113-967E-40B8A27A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A740D9-229C-40AD-9B5D-BEFB73BB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E858A1-D12A-407C-BA75-C1C89AD1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6AB4E3-CEA4-4939-8F50-AF379446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volume/aspect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54B204-D46F-4D7D-B1BC-D184380A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FA49F3-98D3-4E08-833B-F83FF01F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31B6DD-B130-4F7F-BF63-1C76A88D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8FCF8E-E2DC-4649-A8DC-41262902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beta and pressure-current profiles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52AFF8-C39F-49C0-88C3-E4E4B5DA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8BB462-D7A9-44C1-B16A-AE93B424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568C76-7E8E-4B58-A671-98488DF4E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896640-C95D-4BD8-AB34-9C914E93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AC4F74-A373-4A96-9CF6-0B8E5916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47F311-AEE6-45AB-BDBF-971EF090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D01D11-C48C-4BC6-8FF2-49CDE380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33</a:t>
            </a:r>
          </a:p>
        </p:txBody>
      </p:sp>
    </p:spTree>
    <p:extLst>
      <p:ext uri="{BB962C8B-B14F-4D97-AF65-F5344CB8AC3E}">
        <p14:creationId xmlns:p14="http://schemas.microsoft.com/office/powerpoint/2010/main" val="1847953507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7FC6C6-0295-4BEC-85E7-1E96F792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FAF495-03D0-4BEA-A357-30D39A58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34b5a0fdb54fc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A5D23F-4485-486C-A6B5-E78C8097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Checklist: Boozer file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A87E00-F946-4958-9B75-402D0C45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52C6BB-00E6-4F34-9222-5F2FEA13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C58F3C-977F-4A04-9988-40E90582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689BBF-05CC-4E71-BC01-A6F36A33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6BEC35-F2CC-4C68-8EB6-2B6F62C31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surface labels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C1C61E-4741-44B7-ABE9-228B5F435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F9284-F82A-467B-A552-70DEAE23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894E08-CDC7-434A-A0D9-AFC7B723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514350-46A5-4E3C-9AD9-640CB53C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nfp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73E7E1-A161-4BE8-8F00-DF0DB3D5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95B1B0-2070-4FFF-9922-BD9EFC46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8D62D4-DBFF-4654-87DD-0D906FF4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41E558-E256-480B-A339-B0479ECE5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mode truncation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3528A8-9043-4EF2-B023-C9F314FC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4617EA-DD9A-42D6-AA3C-466AC277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DA0C7D-A888-4490-80B6-7DEF81ED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BECC44-0564-4127-BD87-2637923E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A068AB-10AC-4F4B-B0BA-B3E52573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351A27-2EAE-4CA3-A12A-BF2E0621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73748B-F5F0-4961-86A0-BF546EA5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DF7033-A56E-4440-BE80-C0F1AEAB2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dominant and off-symmetry modes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5B2889-5EB5-4050-9318-92075027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4E773C-92C4-4684-8AF1-94567606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A5BD96-B5F7-407F-B232-2F003316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042EA3-6E84-4376-A1B8-D4397AF0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1AE866-6060-4EE4-91AF-2B4FEE5D3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070371-59A9-4F9B-8F16-9216B3B2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5D954B-5E39-4E66-8F43-B5D5F514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34</a:t>
            </a:r>
          </a:p>
        </p:txBody>
      </p:sp>
    </p:spTree>
    <p:extLst>
      <p:ext uri="{BB962C8B-B14F-4D97-AF65-F5344CB8AC3E}">
        <p14:creationId xmlns:p14="http://schemas.microsoft.com/office/powerpoint/2010/main" val="1231526697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335F2A-4000-4BC8-AD5A-C00C52A7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70A3D4-D53E-46F4-8173-EB6D425D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e18c570f14423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C30EB5-CBF8-4D6A-BDF7-36C2A4B7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Lecture 1 notebook 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3FBD3B-A528-4223-B9F2-1FC09B327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FB2BE7-4474-4F13-9EB7-B2313691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B325B2-9474-495B-88C9-69792B84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B0AF58-2050-4A72-A1E5-B9325DCB4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8CE6F1-3288-4A89-BEE8-497D5D8E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4DF8A6-FE67-45CC-A033-9F0A7888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62E9C0-B0AA-430A-82E4-65F3E8956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7E64C4-1559-4698-870D-FFB509784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00 environment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82E9BB-6F12-4A37-B65A-0C818880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A68AA8-85BA-419B-BF72-455072F2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9655D4-53D4-477D-9EFF-0E5466245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B0186C-39B1-4BF3-8FBF-A087FDD0D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 equilibrium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AEAF49-5026-4EF6-9ACF-3F00A6A7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944536-8819-41A1-B754-3475E4D02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987518-EDA2-4423-84B4-D97A409B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66A0B3-96ED-422D-A31B-966239DC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02 Boozer spectrum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AC8566-B0CE-45DE-8AAE-B83EF7D2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372463-87C1-474A-B11C-849C27FD5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B496F8-28F4-447B-BE4A-4910967F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E761A3-A2EA-4C70-929A-7C9D1E6B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 effective ripple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FFE831-0B41-4343-BD15-8A3201E1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234CAD-45E5-4A4D-9721-ED815AE9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B041BB-0A2B-4A11-9D0C-BF533F7C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814FEA-6524-4300-9233-A1CD1208B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EE9334-F675-4991-B69E-50C1900B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35</a:t>
            </a:r>
          </a:p>
        </p:txBody>
      </p:sp>
    </p:spTree>
    <p:extLst>
      <p:ext uri="{BB962C8B-B14F-4D97-AF65-F5344CB8AC3E}">
        <p14:creationId xmlns:p14="http://schemas.microsoft.com/office/powerpoint/2010/main" val="708196634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CEB3C8-8815-4C92-A1EA-9FACD843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7105D5-1D64-4D50-A5AA-BEB784D3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95647d0284d8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2878A0-218A-4341-A673-92EDC6281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Five rules from lecture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6B802D-DCCF-482C-A3D6-4478AC21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1BA52C-0256-42CB-A8C2-1A15EE40F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FD94F1-55D5-4660-A4CB-19BE3AB8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artifacts with provenance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199A50-4F8B-4AA6-9567-274A55788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43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003C14-EB6E-4789-AE04-A42EC58F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3840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Name the design variables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CACC88-6B79-4294-8B4F-964419CC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E1DD33-50FF-4C6D-B6E2-5598DA02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profiles together with scalars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891CFF-4E79-4CBA-80C2-68DABA84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00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E91198-BCE5-429F-AE41-FBC5B061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9570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State the validation domain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641DD9-9BDF-4595-9F8A-61EA48FF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29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F32380-290B-4A8B-A325-FF152C542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243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cached mode honest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475553-3A34-4454-A1CB-0FA82CB6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1E88B3-A12D-4268-BA68-B2BFAE95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517542-5A08-4EB0-8134-D61CE7CF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9F097C-0C0C-49E8-B68D-16ACA8CC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B0C515-AE53-42C2-8D54-88DB7D2D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E6E3B6-EFD6-4FF5-BFF6-AA9D40BF6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36</a:t>
            </a:r>
          </a:p>
        </p:txBody>
      </p:sp>
    </p:spTree>
    <p:extLst>
      <p:ext uri="{BB962C8B-B14F-4D97-AF65-F5344CB8AC3E}">
        <p14:creationId xmlns:p14="http://schemas.microsoft.com/office/powerpoint/2010/main" val="1240625748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F6195D-6253-4F22-B508-C94D8A457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A11B0F-1483-46CD-ADE2-9FD3B92BF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0ae2e32c9f485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9A1FFE-3500-4111-90A8-BC70DE6A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Metric acceptance checklist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0921F7-C3D1-4901-A4DE-4ABE86D9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F687E4-0509-46AD-BD0B-22DADB6F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C042CC-45FA-474F-92E6-9998BDF2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95FE78-E892-4907-A991-B53C4D06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B003E0-4D39-44A3-9394-502F91724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ADC9F3-621C-48A4-9E1E-DD39C4AA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B97869-D052-4807-9162-99992DB4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991C5B-5C6E-42EB-A85C-0EF23148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Cached figure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7A99E7-CB43-4B14-9898-05A2F1A9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for trend, sign, and classroom discussion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BEFD4B-DAB3-4A81-AD62-71FA92AD6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3798B1-C0F6-401D-924B-C83DCE7A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09C76B-8E06-4266-B7EF-7D71F8290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Real-code run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67BDA1-3CF1-4860-A3DF-1DCE540E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for numerical claim, comparison, or publication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DF7B69-8487-4E43-B6ED-3F8C9552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1ECB46-7B6B-4D81-BF0E-CC362074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1D6757-9B7B-4BD6-951F-EB784053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STATUS.md record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46B0F1-B805-4EAB-8924-C62DAD836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data source, package path, and validation domain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EF961A-084A-4589-B49C-8FE63E0C5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28CCE8-126F-40B5-BDCB-BF088B87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9B1C59-45E3-402C-94DD-F879A9FCB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F2CDE7-569D-4927-9CC6-3EDEA904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37</a:t>
            </a:r>
          </a:p>
        </p:txBody>
      </p:sp>
    </p:spTree>
    <p:extLst>
      <p:ext uri="{BB962C8B-B14F-4D97-AF65-F5344CB8AC3E}">
        <p14:creationId xmlns:p14="http://schemas.microsoft.com/office/powerpoint/2010/main" val="1960649517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97FDC7-835E-4C42-83A6-C4DE91FB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7C268C-33BD-4159-9101-1F2A9B39C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aa140c3d8d463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8E5E30-81C8-4F24-A379-29A4803CC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 - what is inside a wout file?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AD266E-E4C6-4E1F-83FC-D1BB719B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DE0882-B702-4D64-B427-0F66ED16C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2D6FBF-9F38-44AA-A177-3D845074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0BA2B9-A339-4FCC-B44C-AA784865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6995A2-BA01-4482-BD08-37DFC45E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Boundary Fourier coefficients define the solved surface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D24EE4-3CE4-4842-A366-DB753BB5B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86ABA7-CA32-4A26-9214-473A63F86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6ACFF0-93FE-4071-819D-D062155B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9916F0-343F-4626-89B3-F98E5A0BE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Iota and profiles connect geometry to resonances and transport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E2966D-8097-4F8E-8E81-E8C3D7DB7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B98996-CA33-49F9-B4E1-EF37BEC9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FEB31E-A14F-44E6-9A0E-45668ED1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CC2B60-8EB8-46DC-A1C4-89A7A044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Grid resolution and convergence decide whether a scalar is meaningful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9DB1D2-6E76-4FC5-985F-355DAC117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9D2304-F225-4BB2-93FD-E3749BC1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837CE4-C679-4531-88C3-9BD60016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B58FE9-6DB2-4D7A-9351-EF1EE927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C69FE3-0C75-4754-B894-8417F4888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681B89-FEDA-41BF-93C3-BEF9DCF0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659CDF-6E98-45CA-ABFC-CE844C1F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38</a:t>
            </a:r>
          </a:p>
        </p:txBody>
      </p:sp>
    </p:spTree>
    <p:extLst>
      <p:ext uri="{BB962C8B-B14F-4D97-AF65-F5344CB8AC3E}">
        <p14:creationId xmlns:p14="http://schemas.microsoft.com/office/powerpoint/2010/main" val="1634095031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2723DD-8702-47F6-8106-D5656CA32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0148B5-BDED-4C13-9E81-1713D85BB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35696f44ff433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D3CD2F-2CD8-48D8-8233-7514990BE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 - Boozer modes to penalize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4D45CB-A22F-4912-ACCA-6B5DC08E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0EE147-0139-4B32-A3B4-2B5D6F49C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44AF37-B3FF-450A-9395-742252074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E890F4-9FB0-480A-AD9B-BBD5007FE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EDD2A6-C538-497C-B8C4-D89AAEBE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symmetry-preserving line visible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FDBCE5-529C-4C15-80C6-EF0259BA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C809D1-AEA0-4C35-BA2C-097915D3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818ED2-3C4B-43C9-8F31-ED72AA54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31A4B0-E25C-4F22-ACCB-9141DCB9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Penalize off-line modes that grow with perturbations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5C8D26-1A2E-4674-B0EC-F64B481D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AD3B42-4D19-429F-B4CD-62EA57DCF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F90768-F7F8-4E72-AA84-F601AD00B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07E70D-DAEA-4EAC-BA88-E02BA61B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Check mode truncation before trusting small differences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645832-9C14-4B86-92ED-63C72667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586247-A76F-440F-806E-E4136A1D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0CBDF9-B3F5-47A0-ADBE-83992CE39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75E1B-DC71-47A4-ABF6-BEE91822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B1ABE5-8401-4F2E-B592-985693525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29391F-176F-416A-BF2D-30B216B5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D5C32D-B0F9-4F93-B5CC-09916D015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39</a:t>
            </a:r>
          </a:p>
        </p:txBody>
      </p:sp>
    </p:spTree>
    <p:extLst>
      <p:ext uri="{BB962C8B-B14F-4D97-AF65-F5344CB8AC3E}">
        <p14:creationId xmlns:p14="http://schemas.microsoft.com/office/powerpoint/2010/main" val="1115939501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69F0FF-A3E8-4910-8BAE-6F47828D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BA983A-D727-4F0C-B4E2-8C6A71E9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98C505-018F-49B2-A63E-02E31F5F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E4EBCD-D31D-43AA-A3E8-33B84736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B2063C-992F-41C7-AA7E-683758BFD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FD587B-FFD3-44F3-A7B7-DE1F22E40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Explaining the loop structure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BA612B-720B-48B1-88EF-D1207FC7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EB302D-F5BD-49F9-B255-69D8B4E6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Testing plotting and data plumbing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301517-12CC-4CAB-B0D0-2CB0B093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9C1AEA-67F6-448F-B97A-AE268D80F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Preparing exercises where the answer is qualitative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5B4802-4DE1-4C35-AF87-5F6A98DE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7D3F41-3F1B-487B-9876-83C93DBD3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5DE7A0-8383-449F-9FC0-B43506E5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04ec9ddee5492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E9E22E-95A8-4820-8BE3-18823455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When cached mode is enough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67AD49-F200-4973-98DC-1E9E8FF1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416AC1-DF34-4A25-B65B-8396757A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9A88D0-DBEC-4CA3-8133-CEE9DE3A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B63B91-B124-45F4-AE89-F7C58E4A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0CB2FE-226D-4B87-B209-DBD932616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40</a:t>
            </a:r>
          </a:p>
        </p:txBody>
      </p:sp>
    </p:spTree>
    <p:extLst>
      <p:ext uri="{BB962C8B-B14F-4D97-AF65-F5344CB8AC3E}">
        <p14:creationId xmlns:p14="http://schemas.microsoft.com/office/powerpoint/2010/main" val="987461938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E522B4-2EC5-4BC0-9205-720647CBC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F43CC-D616-4D3D-ADBA-6BAB23A0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2B82D7-7401-4AD1-A6A7-1AD2D976F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3C0550-90E4-468B-B4D8-8BA0A928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1B62B3-0864-4A75-9762-70853C0A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503A2D-7BF0-44A5-8D1C-E1B19AAF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Reporting a numerical value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832023-5642-4D85-86E8-0F79D9AF8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E07859-0BAE-464A-AA5B-52334FCB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Comparing HSX and W7-X quantitatively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1F4FC1-4D5B-4D6D-B5F5-7A4737DBC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05649D-843F-4794-A32D-AB670C15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Changing VMEC or Boozer resolution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E766E1-C3B8-4688-815E-146DCE50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B8B01C-E8E2-4A72-82DA-A4815B14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8C1566-4C05-4B9C-947F-64C44330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5552695a0e4bc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F96E0A-7EB9-482C-A9C9-43BEF5F5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When research mode is needed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13F2E3-9D03-4A60-908D-890EEAFC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DDFA5A-9946-40B4-BF89-26809A5E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6EDF0E-09D7-4180-A277-336A1964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6E6FFA-A71F-4DE2-B8E4-2359D66C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EB1871-8FA3-44BA-A259-DF1613AD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41</a:t>
            </a:r>
          </a:p>
        </p:txBody>
      </p:sp>
    </p:spTree>
    <p:extLst>
      <p:ext uri="{BB962C8B-B14F-4D97-AF65-F5344CB8AC3E}">
        <p14:creationId xmlns:p14="http://schemas.microsoft.com/office/powerpoint/2010/main" val="1960199704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A6B49A-77FD-454B-812C-3A9D8B120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DDF6BE-7D4B-418C-B332-2D08ACB9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0dcb1db48b411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BE6195-B67C-43AD-A0F0-DBC15A19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Research path: VMEC_JAX to Boozer transform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6CE81C-953B-4B2F-A6E0-D440B1CA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AFC115-FCB3-46FF-8D08-1D31391E6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7526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997E79-70F1-46A8-BB3D-93DF881E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192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8C4C45-6D52-4DE4-A887-2407C4A4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1450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Start from a verified input or wout file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9F9457-52E1-4511-8593-A7E5D042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526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BA2A35-4E16-4D24-B415-F37986D4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6192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7B214F-F68C-4A35-9C05-9C71A3C8E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1450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a tiny equilibrium or load a real cached equilibrium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19748A-B3B7-4BBA-9717-C0730500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4955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1E7A09-09B4-4610-84F6-0F7BA45D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622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69BA94-D16E-4BC4-81E4-5D2C689B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5745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Transform one surface to Boozer coordinates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6B8152-6921-48AE-A31D-29AAA116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4955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87489C-22DE-479A-8ED8-3AB60AE8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622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CE5EB4-E1CE-483B-BFB3-CE5FA708E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spectra before forming scalar objectives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03CFB8-EB0F-4563-9B70-65A69157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D94F24-5499-4CED-841A-9DDE3D46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3FBE54-F611-49BA-8687-1B24DBBD7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0040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Record the run mode and package versions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924FA7-B8A6-46F9-B09E-A9704C59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5086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Cost hierarchy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D1AD31-B00D-42EE-B715-C923697CB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42247C-D24A-4EA9-B1F3-516A2547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74271A-E013-4D21-9AEF-5A272754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134E1E-E172-49E6-8C6A-67A57800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42</a:t>
            </a:r>
          </a:p>
        </p:txBody>
      </p:sp>
    </p:spTree>
    <p:extLst>
      <p:ext uri="{BB962C8B-B14F-4D97-AF65-F5344CB8AC3E}">
        <p14:creationId xmlns:p14="http://schemas.microsoft.com/office/powerpoint/2010/main" val="474101924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2106C2-1660-4AE0-8C0A-FADF54B4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0A23D5-FC13-41C5-B378-3A2E9C3BA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fd67f3d0c14cb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B6476D-1726-4590-9E75-3E9C2B80E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Discussion: what did the optimizer see?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B9F4DC-5E29-4A4F-BE5C-F6680D1D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3B93C4-88A9-4C39-BDB6-CE1FC1A6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91B967-CD9D-48DA-93AE-ABEA74518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23E5AB-9D8B-448D-9F19-7F009541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2B0C12-F092-4AEC-B935-023A4C830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8C8B55-B693-44AE-B995-F98866F47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E0E859-9E54-40F9-9CDB-5D11BFB0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E18FB8-7BF3-4142-B378-142A861B0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Design variables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2E36D6-EE9E-478E-AC3C-AEDABE8E8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boundary modes, profiles, currents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8D182F-76BA-4D39-A900-823C58DF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C95550-89D1-4207-9872-A6270D71A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C48711-6225-46FA-A00F-CD440070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Computed object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E0D64E-079C-47BC-8E69-267737A0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equilibrium, surface labels, spectra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21641F-B584-4F78-886B-0BAD7546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327C3A-3F75-4F1E-B12F-289D0E76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423568-5C31-409F-98B7-797D6CB9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Decision variable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24B2A2-B15F-4063-921E-C5CFFD0F3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scalar objective plus validation gates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5626A8-7CDD-4144-87A8-26E413BA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498187-D1FA-4A71-9E47-34790A96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08510E-7A9B-4551-A508-9F8D14F5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EEEA9D-8BFA-4A23-9C00-5F77B619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43</a:t>
            </a:r>
          </a:p>
        </p:txBody>
      </p:sp>
    </p:spTree>
    <p:extLst>
      <p:ext uri="{BB962C8B-B14F-4D97-AF65-F5344CB8AC3E}">
        <p14:creationId xmlns:p14="http://schemas.microsoft.com/office/powerpoint/2010/main" val="361885945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00DC47-4B44-45AD-BD13-E0E660DCE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BACFD1-03DA-474E-B3EA-2DF61311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0ab9ca1489402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6D6450-9C7E-49E0-B1D7-9DAC77C4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Lecture 1 take-home messages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75F6C2-CCB3-4CAE-AFA2-7FC2662A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9D1CEA-4F9F-41C4-AD40-2B439F2D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9BA821-44B7-4719-8475-86710D8B1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Optimization starts with a parameterization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0EF5C0-76CD-42F2-BF03-FCC5BE6C3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2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418F9-0137-4FAF-9A8D-D51530F1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17800"/>
            <a:ext cx="86677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beautiful surface is not yet a validated design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2D3C10-FE44-4297-A025-CB0C6309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30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44BAD7-B2EB-4A55-8826-80F4BF7C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25850"/>
            <a:ext cx="86677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Every scalar metric needs the plot that explains 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4994C9-44DE-4807-B39F-3FA8C2B2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F21DC8-464E-4747-B6FE-59553E8E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2DA439-E608-45DE-BD66-EAD45F46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A05BE2-52A0-4F30-9CF9-6A1CF084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E54C47-E80F-4718-B426-D858AAE3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1F6524-55F3-4580-8D1C-17EC85F1F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44</a:t>
            </a:r>
          </a:p>
        </p:txBody>
      </p:sp>
    </p:spTree>
    <p:extLst>
      <p:ext uri="{BB962C8B-B14F-4D97-AF65-F5344CB8AC3E}">
        <p14:creationId xmlns:p14="http://schemas.microsoft.com/office/powerpoint/2010/main" val="1390912693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31A9D5-DDC4-4F0D-BE86-98C76223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E76EE2-7B79-495A-967D-3E0110F6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92AB3C-DBD9-4499-97EE-B73C3AC0B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231fb417434ad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72F3B0-C8DA-4954-A0AC-D052B740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1F158C-7B04-4BB4-8DB6-2E07932F1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Take-home message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01B4AF-ABB0-4A6C-9F67-36DF3BCBE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1A165A-DA01-44D1-8AC8-A51E9FEA2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62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D72368-8313-412B-A932-66F5335AE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scientific object and the computed artifact together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C43DAB-69FD-43A1-8529-89C3786FB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8E5E73-C86B-44CF-A383-1104CA93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Rerun, perturb, compare, and explain before trusting the optimum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69DB8C-04F7-440C-96F3-59C46ED5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773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AF7A93-D630-4D33-B906-32101A6B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63ACA1-07CA-4D09-9956-2D1007AB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45</a:t>
            </a:r>
          </a:p>
        </p:txBody>
      </p:sp>
    </p:spTree>
    <p:extLst>
      <p:ext uri="{BB962C8B-B14F-4D97-AF65-F5344CB8AC3E}">
        <p14:creationId xmlns:p14="http://schemas.microsoft.com/office/powerpoint/2010/main" val="1126424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2026-05-23T14:54:28.3250000Z</dcterms:created>
  <dcterms:modified xsi:type="dcterms:W3CDTF">2026-05-23T14:54:28.3250000Z</dcterms:modified>
</coreProperties>
</file>