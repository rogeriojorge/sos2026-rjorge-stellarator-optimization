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f3b6cf2c82140d2" /><Relationship Type="http://schemas.openxmlformats.org/officeDocument/2006/relationships/extended-properties" Target="/docProps/app.xml" Id="R362793b907754ebb" /><Relationship Type="http://schemas.openxmlformats.org/officeDocument/2006/relationships/officeDocument" Target="/ppt/presentation.xml" Id="R8e1d6c21ed9643d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110e57e36664715"/>
  </p:sldMasterIdLst>
  <p:notesMasterIdLst>
    <p:notesMasterId xmlns:r="http://schemas.openxmlformats.org/officeDocument/2006/relationships" r:id="Rfd337039e7ce4418"/>
  </p:notesMasterIdLst>
  <p:sldIdLst>
    <p:sldId xmlns:r="http://schemas.openxmlformats.org/officeDocument/2006/relationships" id="256" r:id="R325313f0f95849c1"/>
    <p:sldId xmlns:r="http://schemas.openxmlformats.org/officeDocument/2006/relationships" id="257" r:id="R7c80de3cf8fa4b28"/>
    <p:sldId xmlns:r="http://schemas.openxmlformats.org/officeDocument/2006/relationships" id="258" r:id="R6fd2e295cb6b4333"/>
    <p:sldId xmlns:r="http://schemas.openxmlformats.org/officeDocument/2006/relationships" id="259" r:id="R57364258cf694f42"/>
    <p:sldId xmlns:r="http://schemas.openxmlformats.org/officeDocument/2006/relationships" id="260" r:id="R9b7d6929801b4437"/>
    <p:sldId xmlns:r="http://schemas.openxmlformats.org/officeDocument/2006/relationships" id="261" r:id="Redb7e55a95f546cb"/>
    <p:sldId xmlns:r="http://schemas.openxmlformats.org/officeDocument/2006/relationships" id="262" r:id="R492ac3a878e8432e"/>
    <p:sldId xmlns:r="http://schemas.openxmlformats.org/officeDocument/2006/relationships" id="263" r:id="Rd80f1c0367bb4b90"/>
    <p:sldId xmlns:r="http://schemas.openxmlformats.org/officeDocument/2006/relationships" id="264" r:id="R24fb12a526a248a2"/>
    <p:sldId xmlns:r="http://schemas.openxmlformats.org/officeDocument/2006/relationships" id="265" r:id="Ra2ee6f991fcb41cf"/>
    <p:sldId xmlns:r="http://schemas.openxmlformats.org/officeDocument/2006/relationships" id="266" r:id="Rc87f24cac3a14c0a"/>
    <p:sldId xmlns:r="http://schemas.openxmlformats.org/officeDocument/2006/relationships" id="267" r:id="R263c8ce001ce480d"/>
    <p:sldId xmlns:r="http://schemas.openxmlformats.org/officeDocument/2006/relationships" id="268" r:id="Rc73cc8ff83cf4f51"/>
    <p:sldId xmlns:r="http://schemas.openxmlformats.org/officeDocument/2006/relationships" id="269" r:id="R27305b884bcb41be"/>
    <p:sldId xmlns:r="http://schemas.openxmlformats.org/officeDocument/2006/relationships" id="270" r:id="Re9910085fba0460a"/>
    <p:sldId xmlns:r="http://schemas.openxmlformats.org/officeDocument/2006/relationships" id="271" r:id="R3d42e0216467439e"/>
    <p:sldId xmlns:r="http://schemas.openxmlformats.org/officeDocument/2006/relationships" id="272" r:id="R624dc78392a84e03"/>
    <p:sldId xmlns:r="http://schemas.openxmlformats.org/officeDocument/2006/relationships" id="273" r:id="R42cf4ade19bd4e67"/>
    <p:sldId xmlns:r="http://schemas.openxmlformats.org/officeDocument/2006/relationships" id="274" r:id="R296d4dbe5eb9475c"/>
    <p:sldId xmlns:r="http://schemas.openxmlformats.org/officeDocument/2006/relationships" id="275" r:id="Rf282aad5c7cb4e5c"/>
    <p:sldId xmlns:r="http://schemas.openxmlformats.org/officeDocument/2006/relationships" id="276" r:id="Rfbb501436d2545d1"/>
    <p:sldId xmlns:r="http://schemas.openxmlformats.org/officeDocument/2006/relationships" id="277" r:id="Rebc72f71b73044e2"/>
    <p:sldId xmlns:r="http://schemas.openxmlformats.org/officeDocument/2006/relationships" id="278" r:id="Rfb3b15793976413b"/>
    <p:sldId xmlns:r="http://schemas.openxmlformats.org/officeDocument/2006/relationships" id="279" r:id="Rd0aefa96ec1943da"/>
    <p:sldId xmlns:r="http://schemas.openxmlformats.org/officeDocument/2006/relationships" id="280" r:id="Rc68264650f704386"/>
    <p:sldId xmlns:r="http://schemas.openxmlformats.org/officeDocument/2006/relationships" id="281" r:id="R2391da89be9343b4"/>
    <p:sldId xmlns:r="http://schemas.openxmlformats.org/officeDocument/2006/relationships" id="282" r:id="R764251fb22ae40a2"/>
    <p:sldId xmlns:r="http://schemas.openxmlformats.org/officeDocument/2006/relationships" id="283" r:id="R01a8581e48fd42cf"/>
    <p:sldId xmlns:r="http://schemas.openxmlformats.org/officeDocument/2006/relationships" id="284" r:id="R0e7729f8e56c44dd"/>
    <p:sldId xmlns:r="http://schemas.openxmlformats.org/officeDocument/2006/relationships" id="285" r:id="R848ad3702b9f4e11"/>
    <p:sldId xmlns:r="http://schemas.openxmlformats.org/officeDocument/2006/relationships" id="286" r:id="R1634817d34174df8"/>
    <p:sldId xmlns:r="http://schemas.openxmlformats.org/officeDocument/2006/relationships" id="287" r:id="R38724897491845e6"/>
    <p:sldId xmlns:r="http://schemas.openxmlformats.org/officeDocument/2006/relationships" id="288" r:id="Recf76a1c8c9b4962"/>
    <p:sldId xmlns:r="http://schemas.openxmlformats.org/officeDocument/2006/relationships" id="289" r:id="R980f2b7c4cef45b6"/>
    <p:sldId xmlns:r="http://schemas.openxmlformats.org/officeDocument/2006/relationships" id="290" r:id="R7599847ee7e24b09"/>
    <p:sldId xmlns:r="http://schemas.openxmlformats.org/officeDocument/2006/relationships" id="291" r:id="R8105f8e5bd3e48c6"/>
    <p:sldId xmlns:r="http://schemas.openxmlformats.org/officeDocument/2006/relationships" id="292" r:id="R19d1db642f9f4016"/>
    <p:sldId xmlns:r="http://schemas.openxmlformats.org/officeDocument/2006/relationships" id="293" r:id="Rff3ff582a341466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10e57e36664715" /><Relationship Type="http://schemas.openxmlformats.org/officeDocument/2006/relationships/theme" Target="/ppt/theme/theme1.xml" Id="Rf5cde446d16b4fdc" /><Relationship Type="http://schemas.openxmlformats.org/officeDocument/2006/relationships/notesMaster" Target="/ppt/notesMasters/notesMaster1.xml" Id="Rfd337039e7ce4418" /><Relationship Type="http://schemas.openxmlformats.org/officeDocument/2006/relationships/presProps" Target="/ppt/presProps.xml" Id="R7b07f4fb2ab5466d" /><Relationship Type="http://schemas.openxmlformats.org/officeDocument/2006/relationships/viewProps" Target="/ppt/viewProps.xml" Id="R6928efdd3cdf4fd9" /><Relationship Type="http://schemas.openxmlformats.org/officeDocument/2006/relationships/tableStyles" Target="/ppt/tableStyles.xml" Id="Rf5cc096b26394383" /><Relationship Type="http://schemas.openxmlformats.org/officeDocument/2006/relationships/slide" Target="/ppt/slides/slide1.xml" Id="R325313f0f95849c1" /><Relationship Type="http://schemas.openxmlformats.org/officeDocument/2006/relationships/slide" Target="/ppt/slides/slide2.xml" Id="R7c80de3cf8fa4b28" /><Relationship Type="http://schemas.openxmlformats.org/officeDocument/2006/relationships/slide" Target="/ppt/slides/slide3.xml" Id="R6fd2e295cb6b4333" /><Relationship Type="http://schemas.openxmlformats.org/officeDocument/2006/relationships/slide" Target="/ppt/slides/slide4.xml" Id="R57364258cf694f42" /><Relationship Type="http://schemas.openxmlformats.org/officeDocument/2006/relationships/slide" Target="/ppt/slides/slide5.xml" Id="R9b7d6929801b4437" /><Relationship Type="http://schemas.openxmlformats.org/officeDocument/2006/relationships/slide" Target="/ppt/slides/slide6.xml" Id="Redb7e55a95f546cb" /><Relationship Type="http://schemas.openxmlformats.org/officeDocument/2006/relationships/slide" Target="/ppt/slides/slide7.xml" Id="R492ac3a878e8432e" /><Relationship Type="http://schemas.openxmlformats.org/officeDocument/2006/relationships/slide" Target="/ppt/slides/slide8.xml" Id="Rd80f1c0367bb4b90" /><Relationship Type="http://schemas.openxmlformats.org/officeDocument/2006/relationships/slide" Target="/ppt/slides/slide9.xml" Id="R24fb12a526a248a2" /><Relationship Type="http://schemas.openxmlformats.org/officeDocument/2006/relationships/slide" Target="/ppt/slides/slide10.xml" Id="Ra2ee6f991fcb41cf" /><Relationship Type="http://schemas.openxmlformats.org/officeDocument/2006/relationships/slide" Target="/ppt/slides/slide11.xml" Id="Rc87f24cac3a14c0a" /><Relationship Type="http://schemas.openxmlformats.org/officeDocument/2006/relationships/slide" Target="/ppt/slides/slide12.xml" Id="R263c8ce001ce480d" /><Relationship Type="http://schemas.openxmlformats.org/officeDocument/2006/relationships/slide" Target="/ppt/slides/slide13.xml" Id="Rc73cc8ff83cf4f51" /><Relationship Type="http://schemas.openxmlformats.org/officeDocument/2006/relationships/slide" Target="/ppt/slides/slide14.xml" Id="R27305b884bcb41be" /><Relationship Type="http://schemas.openxmlformats.org/officeDocument/2006/relationships/slide" Target="/ppt/slides/slide15.xml" Id="Re9910085fba0460a" /><Relationship Type="http://schemas.openxmlformats.org/officeDocument/2006/relationships/slide" Target="/ppt/slides/slide16.xml" Id="R3d42e0216467439e" /><Relationship Type="http://schemas.openxmlformats.org/officeDocument/2006/relationships/slide" Target="/ppt/slides/slide17.xml" Id="R624dc78392a84e03" /><Relationship Type="http://schemas.openxmlformats.org/officeDocument/2006/relationships/slide" Target="/ppt/slides/slide18.xml" Id="R42cf4ade19bd4e67" /><Relationship Type="http://schemas.openxmlformats.org/officeDocument/2006/relationships/slide" Target="/ppt/slides/slide19.xml" Id="R296d4dbe5eb9475c" /><Relationship Type="http://schemas.openxmlformats.org/officeDocument/2006/relationships/slide" Target="/ppt/slides/slide20.xml" Id="Rf282aad5c7cb4e5c" /><Relationship Type="http://schemas.openxmlformats.org/officeDocument/2006/relationships/slide" Target="/ppt/slides/slide21.xml" Id="Rfbb501436d2545d1" /><Relationship Type="http://schemas.openxmlformats.org/officeDocument/2006/relationships/slide" Target="/ppt/slides/slide22.xml" Id="Rebc72f71b73044e2" /><Relationship Type="http://schemas.openxmlformats.org/officeDocument/2006/relationships/slide" Target="/ppt/slides/slide23.xml" Id="Rfb3b15793976413b" /><Relationship Type="http://schemas.openxmlformats.org/officeDocument/2006/relationships/slide" Target="/ppt/slides/slide24.xml" Id="Rd0aefa96ec1943da" /><Relationship Type="http://schemas.openxmlformats.org/officeDocument/2006/relationships/slide" Target="/ppt/slides/slide25.xml" Id="Rc68264650f704386" /><Relationship Type="http://schemas.openxmlformats.org/officeDocument/2006/relationships/slide" Target="/ppt/slides/slide26.xml" Id="R2391da89be9343b4" /><Relationship Type="http://schemas.openxmlformats.org/officeDocument/2006/relationships/slide" Target="/ppt/slides/slide27.xml" Id="R764251fb22ae40a2" /><Relationship Type="http://schemas.openxmlformats.org/officeDocument/2006/relationships/slide" Target="/ppt/slides/slide28.xml" Id="R01a8581e48fd42cf" /><Relationship Type="http://schemas.openxmlformats.org/officeDocument/2006/relationships/slide" Target="/ppt/slides/slide29.xml" Id="R0e7729f8e56c44dd" /><Relationship Type="http://schemas.openxmlformats.org/officeDocument/2006/relationships/slide" Target="/ppt/slides/slide30.xml" Id="R848ad3702b9f4e11" /><Relationship Type="http://schemas.openxmlformats.org/officeDocument/2006/relationships/slide" Target="/ppt/slides/slide31.xml" Id="R1634817d34174df8" /><Relationship Type="http://schemas.openxmlformats.org/officeDocument/2006/relationships/slide" Target="/ppt/slides/slide32.xml" Id="R38724897491845e6" /><Relationship Type="http://schemas.openxmlformats.org/officeDocument/2006/relationships/slide" Target="/ppt/slides/slide33.xml" Id="Recf76a1c8c9b4962" /><Relationship Type="http://schemas.openxmlformats.org/officeDocument/2006/relationships/slide" Target="/ppt/slides/slide34.xml" Id="R980f2b7c4cef45b6" /><Relationship Type="http://schemas.openxmlformats.org/officeDocument/2006/relationships/slide" Target="/ppt/slides/slide35.xml" Id="R7599847ee7e24b09" /><Relationship Type="http://schemas.openxmlformats.org/officeDocument/2006/relationships/slide" Target="/ppt/slides/slide36.xml" Id="R8105f8e5bd3e48c6" /><Relationship Type="http://schemas.openxmlformats.org/officeDocument/2006/relationships/slide" Target="/ppt/slides/slide37.xml" Id="R19d1db642f9f4016" /><Relationship Type="http://schemas.openxmlformats.org/officeDocument/2006/relationships/slide" Target="/ppt/slides/slide38.xml" Id="Rff3ff582a341466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3c568e62845e442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2f27b57c90549a9" /><Relationship Type="http://schemas.openxmlformats.org/officeDocument/2006/relationships/notesMaster" Target="/ppt/notesMasters/notesMaster1.xml" Id="Rda2e5281acdb442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401068e3876445d" /><Relationship Type="http://schemas.openxmlformats.org/officeDocument/2006/relationships/notesMaster" Target="/ppt/notesMasters/notesMaster1.xml" Id="R73986f2d5e9c465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5ea344524b14525" /><Relationship Type="http://schemas.openxmlformats.org/officeDocument/2006/relationships/notesMaster" Target="/ppt/notesMasters/notesMaster1.xml" Id="R8b0c57883caf49d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535eaff13c648fd" /><Relationship Type="http://schemas.openxmlformats.org/officeDocument/2006/relationships/notesMaster" Target="/ppt/notesMasters/notesMaster1.xml" Id="R08c934dbf28442b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940bd98db814875" /><Relationship Type="http://schemas.openxmlformats.org/officeDocument/2006/relationships/notesMaster" Target="/ppt/notesMasters/notesMaster1.xml" Id="R292c784e5f0043a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8dfacf6ead84a14" /><Relationship Type="http://schemas.openxmlformats.org/officeDocument/2006/relationships/notesMaster" Target="/ppt/notesMasters/notesMaster1.xml" Id="Rccbcaf47ccbd41e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413ee47c1334e05" /><Relationship Type="http://schemas.openxmlformats.org/officeDocument/2006/relationships/notesMaster" Target="/ppt/notesMasters/notesMaster1.xml" Id="R96b26107789d4ea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90cc012bbe849be" /><Relationship Type="http://schemas.openxmlformats.org/officeDocument/2006/relationships/notesMaster" Target="/ppt/notesMasters/notesMaster1.xml" Id="Rd428139f4a794db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b9f274ff2774500" /><Relationship Type="http://schemas.openxmlformats.org/officeDocument/2006/relationships/notesMaster" Target="/ppt/notesMasters/notesMaster1.xml" Id="R9efca64e6b18412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097e60593dd4927" /><Relationship Type="http://schemas.openxmlformats.org/officeDocument/2006/relationships/notesMaster" Target="/ppt/notesMasters/notesMaster1.xml" Id="R535985af4180451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dc951c0ba974869" /><Relationship Type="http://schemas.openxmlformats.org/officeDocument/2006/relationships/notesMaster" Target="/ppt/notesMasters/notesMaster1.xml" Id="R09da6f6c657941f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0d47ecaed1747bd" /><Relationship Type="http://schemas.openxmlformats.org/officeDocument/2006/relationships/notesMaster" Target="/ppt/notesMasters/notesMaster1.xml" Id="R2ed943cf891c433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8c55d8f8b4a4ee0" /><Relationship Type="http://schemas.openxmlformats.org/officeDocument/2006/relationships/notesMaster" Target="/ppt/notesMasters/notesMaster1.xml" Id="Reb21b17021cd485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34cdffd5daa4f7c" /><Relationship Type="http://schemas.openxmlformats.org/officeDocument/2006/relationships/notesMaster" Target="/ppt/notesMasters/notesMaster1.xml" Id="R1c332979314a410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af133f799cf43e4" /><Relationship Type="http://schemas.openxmlformats.org/officeDocument/2006/relationships/notesMaster" Target="/ppt/notesMasters/notesMaster1.xml" Id="Rbff023fcae15445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2eb571390104b88" /><Relationship Type="http://schemas.openxmlformats.org/officeDocument/2006/relationships/notesMaster" Target="/ppt/notesMasters/notesMaster1.xml" Id="R7ade0365bd904f4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6ffd2691a36494e" /><Relationship Type="http://schemas.openxmlformats.org/officeDocument/2006/relationships/notesMaster" Target="/ppt/notesMasters/notesMaster1.xml" Id="Rc3b66d80b720455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f33bcea1c9c43d5" /><Relationship Type="http://schemas.openxmlformats.org/officeDocument/2006/relationships/notesMaster" Target="/ppt/notesMasters/notesMaster1.xml" Id="R99711aeda579479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a696f1987114aba" /><Relationship Type="http://schemas.openxmlformats.org/officeDocument/2006/relationships/notesMaster" Target="/ppt/notesMasters/notesMaster1.xml" Id="R199ae953d9ec4ce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0166c06865549a8" /><Relationship Type="http://schemas.openxmlformats.org/officeDocument/2006/relationships/notesMaster" Target="/ppt/notesMasters/notesMaster1.xml" Id="R1b96d6e7ef3245d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945389f941f443b" /><Relationship Type="http://schemas.openxmlformats.org/officeDocument/2006/relationships/notesMaster" Target="/ppt/notesMasters/notesMaster1.xml" Id="R7484af53b3cb405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eed79c195964464" /><Relationship Type="http://schemas.openxmlformats.org/officeDocument/2006/relationships/notesMaster" Target="/ppt/notesMasters/notesMaster1.xml" Id="R6fb5af93e4ab490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337bb9c08f84448" /><Relationship Type="http://schemas.openxmlformats.org/officeDocument/2006/relationships/notesMaster" Target="/ppt/notesMasters/notesMaster1.xml" Id="R31d15553740b4a9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fdd9598ecd24b9f" /><Relationship Type="http://schemas.openxmlformats.org/officeDocument/2006/relationships/notesMaster" Target="/ppt/notesMasters/notesMaster1.xml" Id="Rbb769bd5cba44a3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2ec5434ad09a4e21" /><Relationship Type="http://schemas.openxmlformats.org/officeDocument/2006/relationships/notesMaster" Target="/ppt/notesMasters/notesMaster1.xml" Id="R1526805ec064452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60129f227124743" /><Relationship Type="http://schemas.openxmlformats.org/officeDocument/2006/relationships/notesMaster" Target="/ppt/notesMasters/notesMaster1.xml" Id="Rada7cc39e75145d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8031f8e92ae40cb" /><Relationship Type="http://schemas.openxmlformats.org/officeDocument/2006/relationships/notesMaster" Target="/ppt/notesMasters/notesMaster1.xml" Id="Rfa476d6bf5b54fd2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7653cdc10514013" /><Relationship Type="http://schemas.openxmlformats.org/officeDocument/2006/relationships/notesMaster" Target="/ppt/notesMasters/notesMaster1.xml" Id="Ra4af11de10a14d5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7af0e9714454104" /><Relationship Type="http://schemas.openxmlformats.org/officeDocument/2006/relationships/notesMaster" Target="/ppt/notesMasters/notesMaster1.xml" Id="Rbb960a5807d14468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3bbe053cfb0e4716" /><Relationship Type="http://schemas.openxmlformats.org/officeDocument/2006/relationships/notesMaster" Target="/ppt/notesMasters/notesMaster1.xml" Id="Rc22d7d3a0d5f4c16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1c069347664f4207" /><Relationship Type="http://schemas.openxmlformats.org/officeDocument/2006/relationships/notesMaster" Target="/ppt/notesMasters/notesMaster1.xml" Id="R5a7e579e0d204b54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133d52b25ee6461b" /><Relationship Type="http://schemas.openxmlformats.org/officeDocument/2006/relationships/notesMaster" Target="/ppt/notesMasters/notesMaster1.xml" Id="Rd0e288b6deb24942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7a05f9b247c94348" /><Relationship Type="http://schemas.openxmlformats.org/officeDocument/2006/relationships/notesMaster" Target="/ppt/notesMasters/notesMaster1.xml" Id="R2df85049c05e4f51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bc8baa86392a4cb8" /><Relationship Type="http://schemas.openxmlformats.org/officeDocument/2006/relationships/notesMaster" Target="/ppt/notesMasters/notesMaster1.xml" Id="R1c79cf3a8e864be2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03ae70ccee424e75" /><Relationship Type="http://schemas.openxmlformats.org/officeDocument/2006/relationships/notesMaster" Target="/ppt/notesMasters/notesMaster1.xml" Id="Re05539b1dc144814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64cd762a622c4dc6" /><Relationship Type="http://schemas.openxmlformats.org/officeDocument/2006/relationships/notesMaster" Target="/ppt/notesMasters/notesMaster1.xml" Id="Rae3d9e9007524152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753a0f1bc69b4381" /><Relationship Type="http://schemas.openxmlformats.org/officeDocument/2006/relationships/notesMaster" Target="/ppt/notesMasters/notesMaster1.xml" Id="R94cf40c0cb60471d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178ed467f4914d81" /><Relationship Type="http://schemas.openxmlformats.org/officeDocument/2006/relationships/notesMaster" Target="/ppt/notesMasters/notesMaster1.xml" Id="R720809c7f942443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6facde49404ab0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332ef96608fd4b9b" /><Relationship Type="http://schemas.openxmlformats.org/officeDocument/2006/relationships/slideLayout" Target="/ppt/slideLayouts/slideLayout2.xml" Id="Rf4d625e566034bc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4d625e566034bc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13d869ecf104d00" /><Relationship Type="http://schemas.openxmlformats.org/officeDocument/2006/relationships/image" Target="/ppt/media/image.png" Id="Rfb6678f7017248ee" /><Relationship Type="http://schemas.openxmlformats.org/officeDocument/2006/relationships/image" Target="/ppt/media/image2.png" Id="R3bc13bca0659477c" /><Relationship Type="http://schemas.openxmlformats.org/officeDocument/2006/relationships/notesSlide" Target="/ppt/notesSlides/notesSlide1.xml" Id="R9513e75a22bf440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3580d9d3924640" /><Relationship Type="http://schemas.openxmlformats.org/officeDocument/2006/relationships/image" Target="/ppt/media/image3.png" Id="Re83d3451a36b4bda" /><Relationship Type="http://schemas.openxmlformats.org/officeDocument/2006/relationships/notesSlide" Target="/ppt/notesSlides/notesSlide2.xml" Id="Re52102c9c9ee436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e01dc96880c440a" /><Relationship Type="http://schemas.openxmlformats.org/officeDocument/2006/relationships/image" Target="/ppt/media/image4.png" Id="R0ddfdb04179a49e1" /><Relationship Type="http://schemas.openxmlformats.org/officeDocument/2006/relationships/notesSlide" Target="/ppt/notesSlides/notesSlide3.xml" Id="Rcb03aa1527fc4a7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106e00550cc453f" /><Relationship Type="http://schemas.openxmlformats.org/officeDocument/2006/relationships/image" Target="/ppt/media/image5.png" Id="R62af8e1968524cfd" /><Relationship Type="http://schemas.openxmlformats.org/officeDocument/2006/relationships/notesSlide" Target="/ppt/notesSlides/notesSlide4.xml" Id="Rabf5c9b8e69d490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17ee6c3817f4175" /><Relationship Type="http://schemas.openxmlformats.org/officeDocument/2006/relationships/image" Target="/ppt/media/image6.png" Id="R392a433962914198" /><Relationship Type="http://schemas.openxmlformats.org/officeDocument/2006/relationships/notesSlide" Target="/ppt/notesSlides/notesSlide5.xml" Id="R16fa8022e4af476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368a64aafd24712" /><Relationship Type="http://schemas.openxmlformats.org/officeDocument/2006/relationships/image" Target="/ppt/media/image7.png" Id="R9af5b3a0ab8a4586" /><Relationship Type="http://schemas.openxmlformats.org/officeDocument/2006/relationships/notesSlide" Target="/ppt/notesSlides/notesSlide6.xml" Id="R24f097738d6a409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e862a57a0ad4c35" /><Relationship Type="http://schemas.openxmlformats.org/officeDocument/2006/relationships/image" Target="/ppt/media/image8.png" Id="R8e80a7df3ffe44be" /><Relationship Type="http://schemas.openxmlformats.org/officeDocument/2006/relationships/image" Target="/ppt/media/image9.png" Id="R87a4676d79594edf" /><Relationship Type="http://schemas.openxmlformats.org/officeDocument/2006/relationships/notesSlide" Target="/ppt/notesSlides/notesSlide7.xml" Id="Rdb3dd48ef4f0469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ac43c796094cdf" /><Relationship Type="http://schemas.openxmlformats.org/officeDocument/2006/relationships/image" Target="/ppt/media/image10.png" Id="R8a3284992b07492d" /><Relationship Type="http://schemas.openxmlformats.org/officeDocument/2006/relationships/image" Target="/ppt/media/image11.png" Id="R1ac49a2186d84223" /><Relationship Type="http://schemas.openxmlformats.org/officeDocument/2006/relationships/notesSlide" Target="/ppt/notesSlides/notesSlide8.xml" Id="R7f47330163e6429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e435ef2e324496" /><Relationship Type="http://schemas.openxmlformats.org/officeDocument/2006/relationships/image" Target="/ppt/media/image12.png" Id="R07cc1ea483b8426b" /><Relationship Type="http://schemas.openxmlformats.org/officeDocument/2006/relationships/image" Target="/ppt/media/image13.png" Id="Re0a36677eee14f75" /><Relationship Type="http://schemas.openxmlformats.org/officeDocument/2006/relationships/notesSlide" Target="/ppt/notesSlides/notesSlide9.xml" Id="R020ce2a05cf0488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43ca4e3ba624df1" /><Relationship Type="http://schemas.openxmlformats.org/officeDocument/2006/relationships/image" Target="/ppt/media/image14.png" Id="R4b7699d422d04e76" /><Relationship Type="http://schemas.openxmlformats.org/officeDocument/2006/relationships/image" Target="/ppt/media/image15.png" Id="R28a7045028a34b5a" /><Relationship Type="http://schemas.openxmlformats.org/officeDocument/2006/relationships/notesSlide" Target="/ppt/notesSlides/notesSlide10.xml" Id="Rb12b82546b954d3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dd9fe2481e54c6e" /><Relationship Type="http://schemas.openxmlformats.org/officeDocument/2006/relationships/image" Target="/ppt/media/image16.png" Id="R3d5015240a644045" /><Relationship Type="http://schemas.openxmlformats.org/officeDocument/2006/relationships/notesSlide" Target="/ppt/notesSlides/notesSlide11.xml" Id="R3f6f92f0905b42d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e0c7da87e44748" /><Relationship Type="http://schemas.openxmlformats.org/officeDocument/2006/relationships/image" Target="/ppt/media/image17.png" Id="Rd6caae00a8794ac6" /><Relationship Type="http://schemas.openxmlformats.org/officeDocument/2006/relationships/notesSlide" Target="/ppt/notesSlides/notesSlide12.xml" Id="R5f4d4d611d754e8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a69f293dee34bcc" /><Relationship Type="http://schemas.openxmlformats.org/officeDocument/2006/relationships/image" Target="/ppt/media/image18.png" Id="R63ca16438e584fc2" /><Relationship Type="http://schemas.openxmlformats.org/officeDocument/2006/relationships/image" Target="/ppt/media/image19.png" Id="Rdc3f4b56330b45a4" /><Relationship Type="http://schemas.openxmlformats.org/officeDocument/2006/relationships/notesSlide" Target="/ppt/notesSlides/notesSlide13.xml" Id="Rae8ab8dc5712454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c8b000ad914228" /><Relationship Type="http://schemas.openxmlformats.org/officeDocument/2006/relationships/image" Target="/ppt/media/image20.png" Id="R8b10634c105d4037" /><Relationship Type="http://schemas.openxmlformats.org/officeDocument/2006/relationships/notesSlide" Target="/ppt/notesSlides/notesSlide14.xml" Id="Re6f3f30f1ed6498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b100c7354354f91" /><Relationship Type="http://schemas.openxmlformats.org/officeDocument/2006/relationships/image" Target="/ppt/media/image21.png" Id="R9a12106a1ac84e67" /><Relationship Type="http://schemas.openxmlformats.org/officeDocument/2006/relationships/notesSlide" Target="/ppt/notesSlides/notesSlide15.xml" Id="Ree4fd1768910495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3c8f6f579d4a01" /><Relationship Type="http://schemas.openxmlformats.org/officeDocument/2006/relationships/image" Target="/ppt/media/image22.png" Id="Raf81dc01524c4985" /><Relationship Type="http://schemas.openxmlformats.org/officeDocument/2006/relationships/image" Target="/ppt/media/image23.png" Id="R5733f23dcc594c10" /><Relationship Type="http://schemas.openxmlformats.org/officeDocument/2006/relationships/notesSlide" Target="/ppt/notesSlides/notesSlide16.xml" Id="Rdbce82fa4c5447e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45a75e54730442d" /><Relationship Type="http://schemas.openxmlformats.org/officeDocument/2006/relationships/image" Target="/ppt/media/image24.png" Id="R87182a83480c4d62" /><Relationship Type="http://schemas.openxmlformats.org/officeDocument/2006/relationships/image" Target="/ppt/media/image25.png" Id="R835b68bbae074cf9" /><Relationship Type="http://schemas.openxmlformats.org/officeDocument/2006/relationships/notesSlide" Target="/ppt/notesSlides/notesSlide17.xml" Id="R62d11302c2d249d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f9c5df6e1f462c" /><Relationship Type="http://schemas.openxmlformats.org/officeDocument/2006/relationships/image" Target="/ppt/media/image26.png" Id="R997dffdad17145e3" /><Relationship Type="http://schemas.openxmlformats.org/officeDocument/2006/relationships/image" Target="/ppt/media/image27.png" Id="R8fe4536be4764cfd" /><Relationship Type="http://schemas.openxmlformats.org/officeDocument/2006/relationships/notesSlide" Target="/ppt/notesSlides/notesSlide18.xml" Id="Rca363162b87b4d1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226a11a756d46f5" /><Relationship Type="http://schemas.openxmlformats.org/officeDocument/2006/relationships/image" Target="/ppt/media/image28.png" Id="R38fa96ae60594af4" /><Relationship Type="http://schemas.openxmlformats.org/officeDocument/2006/relationships/notesSlide" Target="/ppt/notesSlides/notesSlide19.xml" Id="R8eb2b775e35f44a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2ac39a2bf94bb8" /><Relationship Type="http://schemas.openxmlformats.org/officeDocument/2006/relationships/image" Target="/ppt/media/image29.png" Id="R80859d52db164891" /><Relationship Type="http://schemas.openxmlformats.org/officeDocument/2006/relationships/notesSlide" Target="/ppt/notesSlides/notesSlide20.xml" Id="R4083951a6f8347e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3fc4d830a16480d" /><Relationship Type="http://schemas.openxmlformats.org/officeDocument/2006/relationships/image" Target="/ppt/media/image30.png" Id="Rf2000b4af72f43d1" /><Relationship Type="http://schemas.openxmlformats.org/officeDocument/2006/relationships/image" Target="/ppt/media/image31.png" Id="Refc4055df5844a6d" /><Relationship Type="http://schemas.openxmlformats.org/officeDocument/2006/relationships/notesSlide" Target="/ppt/notesSlides/notesSlide21.xml" Id="Rf8bf4b2367fe446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9fe417f49cf458b" /><Relationship Type="http://schemas.openxmlformats.org/officeDocument/2006/relationships/image" Target="/ppt/media/image32.png" Id="R4edc052e3e184120" /><Relationship Type="http://schemas.openxmlformats.org/officeDocument/2006/relationships/image" Target="/ppt/media/image33.png" Id="R6eea579f5c9446fa" /><Relationship Type="http://schemas.openxmlformats.org/officeDocument/2006/relationships/notesSlide" Target="/ppt/notesSlides/notesSlide22.xml" Id="Ra04e17d3438144e0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d273a824b954cc6" /><Relationship Type="http://schemas.openxmlformats.org/officeDocument/2006/relationships/image" Target="/ppt/media/image34.png" Id="R17e5f983da2643f5" /><Relationship Type="http://schemas.openxmlformats.org/officeDocument/2006/relationships/notesSlide" Target="/ppt/notesSlides/notesSlide23.xml" Id="Rd02d5bd9929241d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c6f22f33ca841bb" /><Relationship Type="http://schemas.openxmlformats.org/officeDocument/2006/relationships/image" Target="/ppt/media/image35.png" Id="R788e631c6da74ad3" /><Relationship Type="http://schemas.openxmlformats.org/officeDocument/2006/relationships/image" Target="/ppt/media/image36.png" Id="R9fc71498e38d43d3" /><Relationship Type="http://schemas.openxmlformats.org/officeDocument/2006/relationships/notesSlide" Target="/ppt/notesSlides/notesSlide24.xml" Id="Ra22d14e4d3404a3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e9ac31520fe4dae" /><Relationship Type="http://schemas.openxmlformats.org/officeDocument/2006/relationships/image" Target="/ppt/media/image37.png" Id="R81301399c92f4dcb" /><Relationship Type="http://schemas.openxmlformats.org/officeDocument/2006/relationships/notesSlide" Target="/ppt/notesSlides/notesSlide25.xml" Id="R790f59d0debf434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a921ee118fe4d98" /><Relationship Type="http://schemas.openxmlformats.org/officeDocument/2006/relationships/image" Target="/ppt/media/image38.png" Id="R67db013867184dbb" /><Relationship Type="http://schemas.openxmlformats.org/officeDocument/2006/relationships/notesSlide" Target="/ppt/notesSlides/notesSlide26.xml" Id="Rd9d73c0d1e02490d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b7e2a007640460d" /><Relationship Type="http://schemas.openxmlformats.org/officeDocument/2006/relationships/image" Target="/ppt/media/image39.png" Id="Rc1da3b9ccdcf41b3" /><Relationship Type="http://schemas.openxmlformats.org/officeDocument/2006/relationships/notesSlide" Target="/ppt/notesSlides/notesSlide27.xml" Id="Rb4a1952664664159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b6f5f5a026b471f" /><Relationship Type="http://schemas.openxmlformats.org/officeDocument/2006/relationships/image" Target="/ppt/media/image40.png" Id="R5aada575d8c34407" /><Relationship Type="http://schemas.openxmlformats.org/officeDocument/2006/relationships/notesSlide" Target="/ppt/notesSlides/notesSlide28.xml" Id="R8e51b47dad634534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1f620e3a81348af" /><Relationship Type="http://schemas.openxmlformats.org/officeDocument/2006/relationships/image" Target="/ppt/media/image41.png" Id="R7077fe9f7f2a40a1" /><Relationship Type="http://schemas.openxmlformats.org/officeDocument/2006/relationships/notesSlide" Target="/ppt/notesSlides/notesSlide29.xml" Id="R1155f4eb7d4e4207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aff3f1b3584144" /><Relationship Type="http://schemas.openxmlformats.org/officeDocument/2006/relationships/image" Target="/ppt/media/image42.png" Id="Rde1e60ef07724835" /><Relationship Type="http://schemas.openxmlformats.org/officeDocument/2006/relationships/notesSlide" Target="/ppt/notesSlides/notesSlide30.xml" Id="R0b0d191004a647a9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f105cdf387b440e" /><Relationship Type="http://schemas.openxmlformats.org/officeDocument/2006/relationships/image" Target="/ppt/media/image43.png" Id="Rcb301b3d7d514eed" /><Relationship Type="http://schemas.openxmlformats.org/officeDocument/2006/relationships/notesSlide" Target="/ppt/notesSlides/notesSlide31.xml" Id="Rad7249461cfc49c6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5ee1d9b69b4ebe" /><Relationship Type="http://schemas.openxmlformats.org/officeDocument/2006/relationships/image" Target="/ppt/media/image44.png" Id="R6fc72c504c5c4471" /><Relationship Type="http://schemas.openxmlformats.org/officeDocument/2006/relationships/notesSlide" Target="/ppt/notesSlides/notesSlide32.xml" Id="R11fcad2839d64aba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8ee5f9b50ee4b6e" /><Relationship Type="http://schemas.openxmlformats.org/officeDocument/2006/relationships/image" Target="/ppt/media/image45.png" Id="Rba09a31da6fa4727" /><Relationship Type="http://schemas.openxmlformats.org/officeDocument/2006/relationships/notesSlide" Target="/ppt/notesSlides/notesSlide33.xml" Id="R07b374cc795d49c6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7841c3542014294" /><Relationship Type="http://schemas.openxmlformats.org/officeDocument/2006/relationships/image" Target="/ppt/media/image46.png" Id="R758430a5c1254103" /><Relationship Type="http://schemas.openxmlformats.org/officeDocument/2006/relationships/notesSlide" Target="/ppt/notesSlides/notesSlide34.xml" Id="R29a4928201454e91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291068f76fc45c3" /><Relationship Type="http://schemas.openxmlformats.org/officeDocument/2006/relationships/image" Target="/ppt/media/image47.png" Id="Rea174d61a5d541b9" /><Relationship Type="http://schemas.openxmlformats.org/officeDocument/2006/relationships/image" Target="/ppt/media/image48.png" Id="Red3065cae8a94ecf" /><Relationship Type="http://schemas.openxmlformats.org/officeDocument/2006/relationships/notesSlide" Target="/ppt/notesSlides/notesSlide35.xml" Id="Rba81a394a3404998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d6ff835778f48be" /><Relationship Type="http://schemas.openxmlformats.org/officeDocument/2006/relationships/image" Target="/ppt/media/image49.png" Id="Rd178e59722064e0b" /><Relationship Type="http://schemas.openxmlformats.org/officeDocument/2006/relationships/image" Target="/ppt/media/image50.png" Id="R20e9ee6d63c74dcf" /><Relationship Type="http://schemas.openxmlformats.org/officeDocument/2006/relationships/notesSlide" Target="/ppt/notesSlides/notesSlide36.xml" Id="Rbefc4dac41174010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07a6a4c27748f2" /><Relationship Type="http://schemas.openxmlformats.org/officeDocument/2006/relationships/image" Target="/ppt/media/image51.png" Id="R90e62567385e4062" /><Relationship Type="http://schemas.openxmlformats.org/officeDocument/2006/relationships/notesSlide" Target="/ppt/notesSlides/notesSlide37.xml" Id="R5a5f74382a1741c4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41bb8a7e26e441f" /><Relationship Type="http://schemas.openxmlformats.org/officeDocument/2006/relationships/image" Target="/ppt/media/image52.png" Id="Re019d6fd1fd843a5" /><Relationship Type="http://schemas.openxmlformats.org/officeDocument/2006/relationships/notesSlide" Target="/ppt/notesSlides/notesSlide38.xml" Id="R6346511cc81d46b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F60CDA-C49D-4E7E-94C5-F09D44A31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D1E634-3D4B-437F-839A-4454EC2B1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6678f7017248e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EA6DBA-45D4-4703-9E8D-D71BE46F1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28650"/>
            <a:ext cx="68580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Can we design a stellarator by following gradients?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CF6892-58E6-436F-908C-5619C1DFA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55270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243A5F-22F7-48AF-84FA-999B7D6D1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819400"/>
            <a:ext cx="666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Lecture 1: what the optimizer actually sees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070A39-0EBB-4489-8AD9-EB8DF6F1D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33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638BCF-FD8A-4057-8202-66D3558DD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29050"/>
            <a:ext cx="542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Equilibrium, Boozer spectrum, and metrics become the design language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2BE4F3-79AA-49B3-9C5C-B19313F8C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9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6DFBF7-6116-4DB5-B18D-50113BD54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542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Docs: https://sos2026-rjorge-stellarator-optimization.readthedocs.io/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A9FD3B-C5B6-43A2-AA51-E2CD45A26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66800"/>
            <a:ext cx="41719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c13bca0659477c"/>
          <a:stretch xmlns:a="http://schemas.openxmlformats.org/drawingml/2006/main"/>
        </p:blipFill>
        <p:spPr>
          <a:xfrm xmlns:a="http://schemas.openxmlformats.org/drawingml/2006/main">
            <a:off x="7964412" y="1257300"/>
            <a:ext cx="2378226" cy="27241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46AEB0-2481-433F-9499-79A5DEEA7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676900"/>
            <a:ext cx="121920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0EC91C-F4DF-4A77-8538-BE8DE008C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24550"/>
            <a:ext cx="542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CEA-IRFM / Renaissance Fusion School on Stellarators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F8BBDE-610D-440D-9FA9-15F07DB20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Aix-en-Provence, 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AF631C-9AC4-401A-837F-C2A50ABD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03885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Rogerio Jorge, University of Wisconsin-Madison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B7D921-9340-499A-9D8A-53025102F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Repo: github.com/rogeriojorge/sos2026-rjorge-stellarator-optimization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D1E565-7C58-4323-831A-3F77D0AE8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286500"/>
            <a:ext cx="3714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Docs: 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9AD067-573B-4310-A065-1C5726A55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Slide 01</a:t>
            </a:r>
          </a:p>
        </p:txBody>
      </p:sp>
    </p:spTree>
    <p:extLst>
      <p:ext uri="{BB962C8B-B14F-4D97-AF65-F5344CB8AC3E}">
        <p14:creationId xmlns:p14="http://schemas.microsoft.com/office/powerpoint/2010/main" val="85830164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BF94D56-9C8B-405E-A4F3-2DD42141C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27829A-47AC-407D-9AD0-42139E9F2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3d3451a36b4bda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41579F-78F2-4B44-94C4-C967EE8BC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23B96D-CF4A-4F90-94E2-878B188D0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5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D9B749-1A1C-447E-AE31-65F4E5FD1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PART 1. From field lines to hidden symmetry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3F6A37-5925-4D5D-A823-E0C5629C1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38550"/>
            <a:ext cx="140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9E1409-9CFF-4969-B3ED-C0204C832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9A35E2-A53F-4764-9BF5-EA5339D9D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Goal: turn confinement physics into computable objectives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9DB826-E245-4B87-A100-35282A965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29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E58D71-9E71-4309-9778-CB3C24D8F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2440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Caveat: geometry freedom creates an inverse problem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7EAAB5-B50C-4E44-83BC-A40D41A6A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6A36A1-A7FA-40F5-A725-B406434E1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E43BE0-5888-4DC1-9281-4EDAB3B19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2AB07F-E141-479D-BC31-1F7651063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40B2CF-46E7-41D4-BC6A-B38F59AAE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02</a:t>
            </a:r>
          </a:p>
        </p:txBody>
      </p:sp>
    </p:spTree>
    <p:extLst>
      <p:ext uri="{BB962C8B-B14F-4D97-AF65-F5344CB8AC3E}">
        <p14:creationId xmlns:p14="http://schemas.microsoft.com/office/powerpoint/2010/main" val="32108175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00C8A66-83B6-4FEB-938F-032D12152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8B296B-4F5C-4F02-BAA3-553CE9656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dfdb04179a49e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2DEC0D-4732-4FC3-B4A5-AA0EC1B15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89535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Metrics are compressed physics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1DA54A-961E-4E17-BF8E-069880E45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62350"/>
            <a:ext cx="3238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E23780-2C55-48AB-BE9B-6D06FA9E7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373213-4DCB-47B3-91C6-96085D3C0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095750"/>
            <a:ext cx="6953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They are useful only when we know what was compressed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18F76B-F077-4718-9134-97320D456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16B633-382D-44C8-B9F3-C62571BE2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9933F9-9BDB-40F5-BA37-60CDB3C62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A90011-3010-42AA-A8FF-7346A6230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7F66C4-CA34-46B0-94B7-55BB3E514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03</a:t>
            </a:r>
          </a:p>
        </p:txBody>
      </p:sp>
    </p:spTree>
    <p:extLst>
      <p:ext uri="{BB962C8B-B14F-4D97-AF65-F5344CB8AC3E}">
        <p14:creationId xmlns:p14="http://schemas.microsoft.com/office/powerpoint/2010/main" val="56789222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BC9196C-D48E-477C-9DB4-58F468C16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112B19-3DA0-4C2B-B944-F17C097D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af8e1968524cf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3123D0-FD09-4E82-A1FF-FA92B727F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What is rotational transform?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F71137-DF2B-436E-8B1A-E9D6A0205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B80164-AD98-4ACA-B064-C1E3DE482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455295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349AF4-8879-459B-9CBC-F602ED515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4552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88DF88-659E-48F2-8BF9-5D1027865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905000"/>
            <a:ext cx="3905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Rotational transform, iota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2B44D1-7470-4742-AF77-C4E586EF8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38400"/>
            <a:ext cx="38481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number of poloidal turns a magnetic field line makes per toroidal turn on a flux surface.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337687-85FE-4756-91FA-86A5F5E0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81400"/>
            <a:ext cx="37719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55732C-B56F-4713-AF83-12FE3E811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724275"/>
            <a:ext cx="3467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rPr>
              <a:t>iota = Delta theta / Delta zeta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153A62-6143-4BF2-B453-06F0D1F4E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581150"/>
            <a:ext cx="5219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97D106-7F09-4EF6-8DED-56E42D222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58115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D7679F-DE63-4821-A2D6-C6AE38626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7145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Physical meaning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F06F43-74EF-43A6-BADA-4CD1B2FB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981200"/>
            <a:ext cx="4591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Iota controls field-line pitch and where rational surfaces can appear.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CF2C45-3F86-48F4-AC17-F408612AA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86050"/>
            <a:ext cx="5219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F447FD-940A-4297-BF89-6E0A0DAD9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8605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DEEC14-B00F-4586-ACE4-2DCE00419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8194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What the optimizer sees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5DBB24-B02C-41A7-BA51-70BA14C26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086100"/>
            <a:ext cx="4591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optimizer can shape the radial iota profile or avoid low-order rationals in sensitive regions.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8AD13E-1141-41F1-AE19-12B305129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790950"/>
            <a:ext cx="5219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8350A2-B57F-4859-8482-5907C8F07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79095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F69735-F920-4027-B4EC-DBF02CE67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243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46A0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46A00"/>
                </a:solidFill>
                <a:latin typeface="Aptos Display"/>
                <a:ea typeface="Aptos Display"/>
                <a:cs typeface="Aptos Display"/>
              </a:rPr>
              <a:t>Failure mode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0DC0A4-3174-4997-9999-C04B3C554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191000"/>
            <a:ext cx="4591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good scalar score can still land near a rational surface that creates islands.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243352-FF50-4441-B6EA-CD73EF6FB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200650"/>
            <a:ext cx="8667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86519F-7FEF-4751-894C-E2E887101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324475"/>
            <a:ext cx="8172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 stellarator is designed by shaping both the surface and the field-line pitch.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4A575D3-5FCB-4B3F-B9A1-6A37EAB88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155BB9-BB43-4948-A6C6-016E2FE4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27E0C4B-939C-4CBE-BB2B-0D14AA33A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9185F8D-74D2-45AF-8CEF-BD25F8624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4D1C5D4-A5CF-4043-BCA1-4740159F2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7BF8963-F4E9-4EAB-B26F-D58E8ED44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Refs: VMEC equilibrium conventions; Landreman et al., Phys. Plasmas 28, 092505 (2021).</a:t>
            </a:r>
          </a:p>
        </p:txBody>
      </p:sp>
    </p:spTree>
    <p:extLst>
      <p:ext uri="{BB962C8B-B14F-4D97-AF65-F5344CB8AC3E}">
        <p14:creationId xmlns:p14="http://schemas.microsoft.com/office/powerpoint/2010/main" val="19424625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D7B236-D9E0-4F63-8834-AF5CE4046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5170EF-02C9-4B24-8887-984CBB10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2a43396291419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9D4660-2F5A-4944-A14D-51C1DDB8B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Three literature gates shape the workflow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CEE88F-7944-4773-B933-1C8D60818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4C4316-09E4-491F-967C-4637CE5CE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966659-3B3C-474F-B9CB-D180CED22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DF9CC3-4A8D-4E9B-9D7D-B68F72708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ACAD18-1862-4A8B-BBAC-79C59C39C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C22775-3AB4-4738-989F-EF247C9E2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677B7E-9395-43A7-B035-8D6134A45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2C940B-C02B-4EC5-8B0B-6138DF760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Precise quasisymmetry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39709B-3731-43D3-984C-0D54961E8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make the Boozer spectrum sparse, then test what remains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2C0309-EF68-4D07-A419-2F232C777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6E3C72-F099-4FF8-AE76-E96D122F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E5FBD4-89DA-45D8-BFC9-ADA977970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Good magnetic surfaces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335875-1EDF-460C-A137-B8962B65E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compare surface-based objectives with island and chaos diagnostics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CA78B0-5728-4618-B301-275FEAB9A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6C5FFF-E69F-4EDD-8EB4-508FA8D8D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EAC8E5-2222-4E83-A036-A9EC57C4C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W7-X validation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7F81FA-6631-4A6C-8DBD-3BF001BD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reduced neoclassical transport is real progress, but it is one gate in the loop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128713-D066-44B9-9D7D-B4E0B3E42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E4A8AE-AA9D-4EAA-AFF8-4E522F00E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E84523-D49A-4B6E-9603-22325EADB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4A414F-D27B-43AB-9D0F-FF5154E77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A2D7E5-BB33-4EE8-9BD4-928A87BE4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66BE5B-FFDB-476E-9004-FA367AA7B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Refs: Landreman &amp; Paul PRL 128, 035001 (2022); Landreman et al. Phys. Plasmas 28, 092505 (2021); Beidler et al. Nature 596, 221-226 (2021).</a:t>
            </a:r>
          </a:p>
        </p:txBody>
      </p:sp>
    </p:spTree>
    <p:extLst>
      <p:ext uri="{BB962C8B-B14F-4D97-AF65-F5344CB8AC3E}">
        <p14:creationId xmlns:p14="http://schemas.microsoft.com/office/powerpoint/2010/main" val="152041340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C710B3E-33A4-454D-BBCF-E79C363CC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9EF266-9AF8-4064-B20F-F202EDFB2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f5b3a0ab8a458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9464BB-0492-4974-91F2-AF195480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The optimizer sees artifacts with provenance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7558AE-A4BB-461B-93D3-85E73A6E7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1F84EA-1DE7-4AD2-A34D-4B3494BC3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9525">
            <a:solidFill>
              <a:srgbClr val="C5050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E950FA-D66C-44FE-9DBD-C5C90FFC3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C55F88-75C5-4CE7-A94C-CA3761D5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E0733F-F845-444D-8AD7-AA4A35573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0DDE53-FB33-40C8-9033-4D9E4B0AD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Boozer spectrum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FBE2CA-3DB3-4155-B93C-B7D379826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B2982C-DE58-479B-B4CE-2EBF9761D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D98A51-B9D5-4E4F-8E42-C6D7E3D50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Neoclassical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8A6CDB-1D8D-4CF6-8A5A-7ED9FAA8B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CA73EC-730F-4AB9-B73E-C9115CE61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413B5B-44BA-414C-98E4-89AC732CB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75CD4D-5866-4DA9-8072-2A28596ED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18B0EC-E9DD-4561-A31F-60FF892F2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0C71A0-A6EF-497F-94B6-17E9F7738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BB1E02-E92E-4DC2-BE95-802A926E3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BB63C4-4719-471F-A2FB-3231E37AC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5F42C9-E030-4669-9928-5F81E4C73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F70ACB-B67E-4330-84E1-F9EB8EA16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15A1A7-3132-4A57-9710-2B1BB68AF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BBEA1C-EE76-487C-A3A2-221462337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739BE6-C388-4C02-8305-7B7F6D533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95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EF46B8-2CCD-45EC-A411-254DF440D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910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Boundary and profiles create an equilibrium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70D7F07-C3B0-433E-87E6-936CBDC5B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910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376F9BE-A22C-4F84-8A39-EB992920F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6863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Spectra and scalars turn physics into objectives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0D2759F-4D30-46E6-B378-1E116D9C0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863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3B439E-6F3F-4BA0-AB83-F355165B3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816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Every scalar needs a validation gate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47E1FC0-32CA-48C3-806F-599E87834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03EB24D-1603-431F-ADB4-CE9394746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431581A-DA7B-4DAD-A6A4-5F0FA1C1B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1E24A12-B310-4408-9C18-A6A874F05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70615E6-C4ED-49F8-96B4-2E27DD6C7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06</a:t>
            </a:r>
          </a:p>
        </p:txBody>
      </p:sp>
    </p:spTree>
    <p:extLst>
      <p:ext uri="{BB962C8B-B14F-4D97-AF65-F5344CB8AC3E}">
        <p14:creationId xmlns:p14="http://schemas.microsoft.com/office/powerpoint/2010/main" val="27023526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29B362-3290-43DE-A8B7-FD1BE8B5F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E599ED-5BAB-49F6-8281-859E9DF53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99060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80a7df3ffe44be"/>
          <a:stretch xmlns:a="http://schemas.openxmlformats.org/drawingml/2006/main"/>
        </p:blipFill>
        <p:spPr>
          <a:xfrm xmlns:a="http://schemas.openxmlformats.org/drawingml/2006/main">
            <a:off x="4008967" y="1676400"/>
            <a:ext cx="3259667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84D204-86E5-4970-88BC-67C9D2DCF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448300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35389F-C96C-4638-9510-922682A60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543550"/>
            <a:ext cx="819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A visible surface is a design variable, not yet a validated device.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35BA2C-CB49-42A0-9D11-695446BBB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a4676d79594edf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FFC361-C508-4B9F-AB57-6AA27B9C1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The first object is a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EFBA7B-CFEF-4B20-ADE4-B7E388E43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93E7F0-2710-41DA-895B-08CDFF167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D5E278-1824-4D6E-9122-C5A3B8CAA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DA4DB3-6A78-4C79-9AC0-29E445D32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403224-A764-4337-84D8-43EFDF7D2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F5DF4E-001B-4371-8DD2-70C4F6250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4B1EBB-BEAE-45C3-B647-8DC6EBB2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VMEC background: Hirshman &amp; Whitson, Phys. Fluids 26, 3553 (1983); public cases from landreman/vmec_equilibria.</a:t>
            </a:r>
          </a:p>
        </p:txBody>
      </p:sp>
    </p:spTree>
    <p:extLst>
      <p:ext uri="{BB962C8B-B14F-4D97-AF65-F5344CB8AC3E}">
        <p14:creationId xmlns:p14="http://schemas.microsoft.com/office/powerpoint/2010/main" val="34838444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791D8A5-2FF2-4B24-946D-D8E1616CC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4AF6C1-4382-41B3-A2FA-1A009D4AD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99060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3284992b07492d"/>
          <a:stretch xmlns:a="http://schemas.openxmlformats.org/drawingml/2006/main"/>
        </p:blipFill>
        <p:spPr>
          <a:xfrm xmlns:a="http://schemas.openxmlformats.org/drawingml/2006/main">
            <a:off x="3564467" y="1676400"/>
            <a:ext cx="4148667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0A634F-D026-4BD4-8FA2-3FF34820C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448300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009704-31CD-4F28-9142-6174BA562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543550"/>
            <a:ext cx="819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The reference case anchors the design discussion without duplicating geometry lectures.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0CB3A2-DAF5-4576-8902-4777DEDD4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c49a2186d84223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CD1FEE-08D0-4602-8706-F114AF151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W7-X is the reference case to keep in mind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6A923A-7D2B-4F8B-930F-5BF60ADB9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C56C29-5FEC-42DC-8E0F-6C279E0D5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CCFCDD-C971-45C8-BABB-9ADCB232C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8BEE9B-A6A6-4767-B8DD-EA56B4CDA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D28D67-E33A-4871-86C1-72006B3AB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496503-B587-4EE5-854A-B2C6C1C1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F8FA88-357B-4E60-9EB0-066EB7F68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Ref: Beidler et al., Nature 596, 221-226 (2021), reduced neoclassical energy transport in W7-X.</a:t>
            </a:r>
          </a:p>
        </p:txBody>
      </p:sp>
    </p:spTree>
    <p:extLst>
      <p:ext uri="{BB962C8B-B14F-4D97-AF65-F5344CB8AC3E}">
        <p14:creationId xmlns:p14="http://schemas.microsoft.com/office/powerpoint/2010/main" val="32275844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7D94EC2-4FB3-443C-B3F0-68E775947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FE823C-1B84-4B83-91FB-49DDC8E44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cc1ea483b8426b"/>
          <a:stretch xmlns:a="http://schemas.openxmlformats.org/drawingml/2006/main"/>
        </p:blipFill>
        <p:spPr>
          <a:xfrm xmlns:a="http://schemas.openxmlformats.org/drawingml/2006/main">
            <a:off x="1172441" y="1695450"/>
            <a:ext cx="6037118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4BE5D2-61C6-4B81-9A3A-14423950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FD2608-04DE-4C83-9FA8-B92990A93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540FEE-DEFD-4D29-9433-69313F852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Plot pitch before optimizing spectra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735BEB-2E47-42F1-A0A4-2BE162A30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9D889D-C603-425C-9163-8DE881FCA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Watch low-order rational surfaces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C88119-0DC6-4A6A-B542-9AEBACC03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6E02F0-87B6-487C-B714-F26330752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A profile can be a constraint, an objective, or a diagnostic.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305D30-7F1F-49A8-B6C3-EB26F5403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a36677eee14f7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F04C90-DADA-4C8A-8DD9-A4AA8FA67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Rotational transform is an optimization target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775E8D-D737-4794-B883-C3E928B5F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460561-4B16-4B2F-94EA-128272951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00F575-2488-4D6F-8BF3-B3580FA69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B04CA6-AEDA-445D-B2CA-3A793F34C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FC63FC-FA5B-4921-AB88-D99B1C2DA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59A765-63D2-46A1-8C4A-63E3A6C5F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63AE1A-F052-4205-B060-4A837A3F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Ref: Landreman, Medasani &amp; Zhu, Phys. Plasmas 28, 092505 (2021), good surfaces and quasisymmetry together.</a:t>
            </a:r>
          </a:p>
        </p:txBody>
      </p:sp>
    </p:spTree>
    <p:extLst>
      <p:ext uri="{BB962C8B-B14F-4D97-AF65-F5344CB8AC3E}">
        <p14:creationId xmlns:p14="http://schemas.microsoft.com/office/powerpoint/2010/main" val="80611031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9E6961F-43C6-4584-A47E-A52761454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BE56F7-F2E4-4A7B-A500-5FCE67A91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7699d422d04e76"/>
          <a:stretch xmlns:a="http://schemas.openxmlformats.org/drawingml/2006/main"/>
        </p:blipFill>
        <p:spPr>
          <a:xfrm xmlns:a="http://schemas.openxmlformats.org/drawingml/2006/main">
            <a:off x="1023212" y="1695450"/>
            <a:ext cx="6335577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E7841D-3133-4663-9BA7-7ACCA0B5E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7764F1-5E81-469C-9C38-76E44452B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AEBE3A-66BE-4FFD-9041-C41393D1C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One knob changes QS residual and aspect ratio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53E92D-CC3C-4EEF-B3D2-1EFC62942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B964C6-0D45-4721-A15B-FE504C41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This is the gradient intuition for stage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0E9244-FFE0-4280-BFE9-20DCBE3CF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0D1EC2-6A44-4E20-A356-300A19CC0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The optimizer needs knobs whose effects can be measured.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BA1072-353D-4B84-BAFA-A612699B5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a7045028a34b5a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700C67-FC98-493E-B923-612B04315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A small boundary mode can move the objective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F9D698-FC71-4265-9F6E-E6A5261E7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D54FE9-60C7-4E0E-98DB-D81CE71E6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B894D-D070-4B37-B81E-ECD666F30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A79800-EC62-44FA-BA30-8451244D3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CA129E-5DFA-4F50-B826-35EDB8734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FDFEA3-8DFB-4055-8692-9F1FE6C5F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10</a:t>
            </a:r>
          </a:p>
        </p:txBody>
      </p:sp>
    </p:spTree>
    <p:extLst>
      <p:ext uri="{BB962C8B-B14F-4D97-AF65-F5344CB8AC3E}">
        <p14:creationId xmlns:p14="http://schemas.microsoft.com/office/powerpoint/2010/main" val="104915666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48B8E2B-1B45-40E9-9397-1B13262D9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BEEF2A-D133-440A-B750-5C7680DE7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3D8F90-1736-4F7F-B831-95C0AB3E1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D61D49-EDB8-43AD-B0A8-D5568EA91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A264D2-6AC3-40DE-AAE4-B73114AE7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19B5C6-56ED-4351-9812-B925D969B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Record resolution and residuals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55B5E2-BC9D-4894-BC75-8189B77CB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24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963ABC-3498-4DB0-B6C8-6A5DCDF1D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 not compare designs before the solve is trustworthy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EB4F14-FAE9-4FC2-AE0F-E4C61E2DE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74B4A4-7ADD-4EDB-82BE-4E82997C3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a reliable lecture path alongside research runs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651EC0-E921-4417-B0DE-5C570CA29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3CB3F4-3334-473C-9DB3-511FAD84D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Validation rule: state the assumption, identify the metric, and explain what would change your mind.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BEA40B-BB9E-454E-9224-4CB4D53F1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5015240a64404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77012C-CD59-486D-B04D-9DC09CDF5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Equilibrium convergence is part of the result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BB136B-6BAC-4386-BEFC-4C4EC6D58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19DC5B-C958-4C7C-839A-DDACD4025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F43DEA-9110-476F-B068-6FF9A5163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2CEB7E-1012-4F05-9D0C-836FF5914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4CDF67-4729-4BC4-B0C0-4D2F3C62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4549DC-A427-46A4-8B4E-6C23FA5C2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11</a:t>
            </a:r>
          </a:p>
        </p:txBody>
      </p:sp>
    </p:spTree>
    <p:extLst>
      <p:ext uri="{BB962C8B-B14F-4D97-AF65-F5344CB8AC3E}">
        <p14:creationId xmlns:p14="http://schemas.microsoft.com/office/powerpoint/2010/main" val="44501405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F46FF78-65CB-4B3A-9AB5-7465B3074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BA8D08-8DAE-41C5-A407-7CC0275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caae00a8794ac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01E81B-C118-49A6-BDD8-A5B564245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The wout file is the first checked artifact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38F555-5DBE-4315-AA72-FF26B089A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7AB6C7-FB3D-46BF-8ACC-1B9B44F6D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4133E6-75B4-4ABC-8382-CE2D36AD4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737C1D-2FB1-4B33-87EB-0536DAA95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command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8A11BA-A4AE-4594-A36C-12CA0079F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2AB0D7-5B6B-4D44-9326-16BD54C3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DA821E-AC3A-40EB-B8E4-8C16B2B54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Inspect dimensions, surfaces, and mode counts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DEC4E7-E059-4E93-B244-0FAB16C9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84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C8D7BE-CB91-47E1-91BD-A2ABCFB1E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7970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public HSX/W7-X files when present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671070-AAF8-498A-9604-5B1697F87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78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241B36-FAB8-4F9D-B0B5-0EF948647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7345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Record what was actually read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61BF8C-AF3B-495C-9293-ACDB19099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4E8F6A-12DF-4F25-AD86-22D93EEF0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0BE792-3A9A-4547-8B0D-5BB3BA336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D429F3-D610-48E7-8509-ECE557C99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E19144-E5D2-49CD-8017-2A9AA1306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12</a:t>
            </a:r>
          </a:p>
        </p:txBody>
      </p:sp>
    </p:spTree>
    <p:extLst>
      <p:ext uri="{BB962C8B-B14F-4D97-AF65-F5344CB8AC3E}">
        <p14:creationId xmlns:p14="http://schemas.microsoft.com/office/powerpoint/2010/main" val="27709220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0467C16-617C-426F-93EF-B4C34A517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1F0ABC-FE29-4A6A-9047-7EF16482E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ca16438e584fc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160720-FED3-49C2-814C-80141BC4A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Demo break: first equilibrium object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FF176E-757D-43F1-B3A3-08A5DCA6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03E54A-7284-4ABD-A145-E83999B18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AEDA80-78B7-433A-BB58-DC7CC1B09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BB4E91-E028-44E4-97DF-ECC35E01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383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Notebook break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19925E-D435-4044-8511-3651D9FD0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527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Notebook: Vmec Jax First Equilibrium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D00073-3DA4-4F42-A773-BBA486C10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36F8C2-1C58-428D-B58A-9E28D752B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718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Locate the HSX wout file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60FA81-3B55-4707-AE5A-E019FDCE4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86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56855B-1155-4AA6-92BF-4F25D3221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9814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Plot surface and iota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319238-444E-4C2F-994B-69179E6CD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95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E68464-2C93-4527-AED8-BE66B788A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910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one boundary-mode proxy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3f4b56330b45a4"/>
          <a:stretch xmlns:a="http://schemas.openxmlformats.org/drawingml/2006/main"/>
        </p:blipFill>
        <p:spPr>
          <a:xfrm xmlns:a="http://schemas.openxmlformats.org/drawingml/2006/main">
            <a:off x="5745616" y="1657350"/>
            <a:ext cx="5082268" cy="31432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4C3627-53B3-45E2-AF4D-4AE9D2201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143500"/>
            <a:ext cx="533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B178A6-273C-4C84-8824-F3C9EEFF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267325"/>
            <a:ext cx="4914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Notebook path: notebooks/01_vmec_jax_first_equilibrium.ipynb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980222-E069-4847-AA9F-7B591E45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72E12A-EB99-4EF8-954E-4D601A8B6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522B81-ADE2-44AB-8B24-D60EE428E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AAAF37-6917-404D-A6B6-D8BA95A80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AA7B71-6D50-4293-BB63-5DC848CB1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13</a:t>
            </a:r>
          </a:p>
        </p:txBody>
      </p:sp>
    </p:spTree>
    <p:extLst>
      <p:ext uri="{BB962C8B-B14F-4D97-AF65-F5344CB8AC3E}">
        <p14:creationId xmlns:p14="http://schemas.microsoft.com/office/powerpoint/2010/main" val="206296880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FF2917-1D0C-4368-8F28-099285E07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F6BCD1-9240-446F-862D-9B0E9FE71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10634c105d403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C024DA-7C88-47BB-9B09-0AB40EFC0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5DCE95-C615-42F9-BABC-E8197FA02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5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C61768-3DE9-4DB8-9EDF-461D739A7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PART 2. Boozer coordinates make symmetry measurable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3364B3-DF99-444C-A88F-FE2712BBF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38550"/>
            <a:ext cx="140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1777EF-B657-404F-AC84-9DC033325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EA015C-F3F8-4DC7-B26A-148AE42A1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spectrum turns geometry into a table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A7E372-F670-483C-8AE3-0EFCA7505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29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FEAF4A-7BBE-4F88-82D7-9EC332C10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2440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Bad modes become penalties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B1A3D9-8CC2-49E3-B224-4742115FE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7C0ED5-6FBD-465E-A1B8-FA0D6EB38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806873-55BD-464C-B851-2014670DE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AC8FC3-BC6F-4268-8290-72256B254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148711-47A6-4111-8E8B-572259FC4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14</a:t>
            </a:r>
          </a:p>
        </p:txBody>
      </p:sp>
    </p:spTree>
    <p:extLst>
      <p:ext uri="{BB962C8B-B14F-4D97-AF65-F5344CB8AC3E}">
        <p14:creationId xmlns:p14="http://schemas.microsoft.com/office/powerpoint/2010/main" val="1084493397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23B16C8-9E2D-491E-8957-4DC45EF28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1355EA-7FC5-43F2-809E-1D90AEECA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12106a1ac84e6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5147AC-9885-4E08-9183-A8882CC38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What is a Boozer spectrum?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38F034-F258-48FC-BE87-ED36DC728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C81058-BA2E-4D3C-B63D-D7895A173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455295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57EAF3-E8F5-4687-8D3D-97A9C2E0F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4552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03706B-D92D-48D5-AFCD-64B165F8D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905000"/>
            <a:ext cx="3905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Boozer spectrum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C8517B-CC84-40C5-94FE-11401FC3D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38400"/>
            <a:ext cx="38481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Fourier representation of |B| in magnetic coordinates where guiding-center physics has a simple form.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64E602-FF92-4B64-9398-431917B0B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81400"/>
            <a:ext cx="37719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7DF76A-1E8B-48CA-B236-CBAD84FB2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724275"/>
            <a:ext cx="3467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rPr>
              <a:t>B(theta,zeta)=sum B_mn cos(m theta - n zeta)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122619-C64E-469A-938A-F08AF28E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581150"/>
            <a:ext cx="5219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70EC09-805B-46F9-9494-BE75CA1C8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58115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7625FF-93CC-4232-9FFD-84658E8B2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7145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Physical meaning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2467A3-ACE0-496D-864F-FA4057121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981200"/>
            <a:ext cx="4591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Quasisymmetry appears when most off-symmetry coefficients are small.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370A55-AC4A-460E-A61D-7663104DA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86050"/>
            <a:ext cx="5219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807208-5338-4CDC-8DD6-8389D22E5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8605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0751C3-7944-4C4B-B15D-F05BBB7CE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8194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What the optimizer sees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0C8BBA-922B-4C5E-B154-FF2970679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086100"/>
            <a:ext cx="4591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objective penalizes the modes that break the target symmetry line.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F0DA2E-8890-424E-ABF8-58AB791A2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790950"/>
            <a:ext cx="5219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D0416C-D7CF-421B-83D9-960812AB6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79095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6BFD8C-9372-4301-A2C7-83D8718DB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243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46A0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46A00"/>
                </a:solidFill>
                <a:latin typeface="Aptos Display"/>
                <a:ea typeface="Aptos Display"/>
                <a:cs typeface="Aptos Display"/>
              </a:rPr>
              <a:t>Failure mode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009BB6-A769-4C73-8FBD-AE2B1AA91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191000"/>
            <a:ext cx="4591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sparse spectrum is not enough if the equilibrium, coils, or transport gates fail.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4F3E79-4C6D-4611-B5D5-0058D97C5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200650"/>
            <a:ext cx="8667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F4A9DE-ED63-479D-BBCE-C4B4ECDD6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324475"/>
            <a:ext cx="8172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 coordinates turn hidden symmetry into a plot and a penalty.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4E7ED2C-1CF5-44D5-A7C1-47E321980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FD5449-A3ED-47A9-A1D6-ED58483B6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7E868DD-C023-4350-A230-6B6DD5304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DBBAE3C-6D99-4847-969C-AA4C0A922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260340F-2847-4B59-85A3-942704225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0D5E107-74CE-4FE4-8064-8B3EB4FEF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Ref: Landreman &amp; Paul, Phys. Rev. Lett. 128, 035001 (2022).</a:t>
            </a:r>
          </a:p>
        </p:txBody>
      </p:sp>
    </p:spTree>
    <p:extLst>
      <p:ext uri="{BB962C8B-B14F-4D97-AF65-F5344CB8AC3E}">
        <p14:creationId xmlns:p14="http://schemas.microsoft.com/office/powerpoint/2010/main" val="483092556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B2505DA-F055-4871-8936-2FB4B6252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DF5D53-87F7-4C72-98BF-A61EB08CB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81dc01524c4985"/>
          <a:stretch xmlns:a="http://schemas.openxmlformats.org/drawingml/2006/main"/>
        </p:blipFill>
        <p:spPr>
          <a:xfrm xmlns:a="http://schemas.openxmlformats.org/drawingml/2006/main">
            <a:off x="1387838" y="1695450"/>
            <a:ext cx="5606323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E1204A-6757-4C7D-B275-89A961E6E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9D32BC-E380-4275-81A9-C5EE088D5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BE9B6F-0E73-4FE5-B251-FC6687778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Clean bands suggest the intended symmetry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C0119B-E80A-4C1A-A1AA-9CA9DAAC3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8BB1E8-9DBC-4C3E-A3DC-D0701F887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Broken bands warn before the scalar metric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B7A462-1889-41B0-A6E5-4BB8A9044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C6E25D-AA89-4E52-BF96-044F7C584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the contour to connect symmetry intuition to the spectrum.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D28683-2651-45DE-957D-6D39EF77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33f23dcc594c10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A925A6-12A4-431E-BBD5-AC3ABC68D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Boozer coordinates make symmetry visible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F8054F-4217-49F9-AD9B-2FFA1E34F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D3F8C3-DED4-48FD-82A9-2E82C19C3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F485CD-0E0B-40C5-9A3A-DBA363985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E972AB-4B9E-41AF-91D5-E05BA6B58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C3776B-0E3C-476C-B32D-7D8BEB040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88D53D-0D51-4139-9C46-736DE9044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16</a:t>
            </a:r>
          </a:p>
        </p:txBody>
      </p:sp>
    </p:spTree>
    <p:extLst>
      <p:ext uri="{BB962C8B-B14F-4D97-AF65-F5344CB8AC3E}">
        <p14:creationId xmlns:p14="http://schemas.microsoft.com/office/powerpoint/2010/main" val="600224745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18D65D9-B89C-4AA1-A320-4CB2EEF1D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C104B0-8A49-4125-BB6F-A450E2167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182a83480c4d62"/>
          <a:stretch xmlns:a="http://schemas.openxmlformats.org/drawingml/2006/main"/>
        </p:blipFill>
        <p:spPr>
          <a:xfrm xmlns:a="http://schemas.openxmlformats.org/drawingml/2006/main">
            <a:off x="791398" y="1695450"/>
            <a:ext cx="6799204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6B7C46-EE1A-4CD9-9087-B0215238D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FD12B0-58F6-4A72-B804-D24CE9AFE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7BC44A-09BF-4401-BC54-045195B6F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Green modes preserve the intended line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2A618A-93DE-4791-97D2-7728645BE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FD72AE-9F05-4BD8-B425-50C2FAAF7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Red modes are symmetry-breaking targets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D9C324-B088-423E-AB38-792525016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137FFD-0CFF-4D9D-A8E6-F69863535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Symmetry-preserving and symmetry-breaking modes are marked explicitly.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50075A-BBB5-47DC-9EA8-2BDDE8898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5b68bbae074cf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F518FF-5CF3-4ED2-81F3-2C510DFAA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The spectrum tells the optimizer what to penalize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85AD43-7EA5-48DA-AD89-E6B4A6CD0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705F41-7FD4-4F15-B162-891FA04F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FFB311-939C-45AF-816D-0F901C391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E2CE82-343D-4074-B6AC-B1656038E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8D0E73-0CD7-4D84-9DDB-A0E243C75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05AE5D-108A-49E2-9C87-528DB86D0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EEF337-7F62-4F58-B3B1-F4428D6BF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Ref: Landreman &amp; Paul, Phys. Rev. Lett. 128, 035001 (2022), precise quasisymmetry.</a:t>
            </a:r>
          </a:p>
        </p:txBody>
      </p:sp>
    </p:spTree>
    <p:extLst>
      <p:ext uri="{BB962C8B-B14F-4D97-AF65-F5344CB8AC3E}">
        <p14:creationId xmlns:p14="http://schemas.microsoft.com/office/powerpoint/2010/main" val="959357849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2413A9F-7212-4815-9BE4-282012786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7AFA65-01DF-4D09-B9A4-D3CE14F6C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7dffdad17145e3"/>
          <a:stretch xmlns:a="http://schemas.openxmlformats.org/drawingml/2006/main"/>
        </p:blipFill>
        <p:spPr>
          <a:xfrm xmlns:a="http://schemas.openxmlformats.org/drawingml/2006/main">
            <a:off x="666750" y="1809036"/>
            <a:ext cx="7048500" cy="3506629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D418B4-3B2E-4F59-B321-F47440F1A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480FC0-1764-4571-B171-892C3C690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AE4F04-C37B-4502-BA08-3B8C01347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Perturb one coefficient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764B24-DE96-4286-9278-B61D79212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DB8E26-1130-4387-818F-51126AB41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Regenerate contour and residual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2FF503-6927-4EE1-ABCF-110719C2D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D3CE84-41C1-4469-8AFC-76CC79873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The exercise is to connect a table entry to a visible field-strength change.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172119-0ADF-484B-B38C-5DDBB6B14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e4536be4764cf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5EABDF-7F88-4E40-9FFA-30FCDFAEE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A bad mode changes the picture immediately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ADB01C-D641-4385-87AC-75ECA4D71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C88889-8FC5-49E4-8F1C-26EC9C146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673180-5785-410D-ADCD-5A4CBFEFD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9A5093-6918-43E8-AE74-060208855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76B05B-3DEA-4804-A148-5E3418912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337B1C-94A0-4B70-814B-1F58E197C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18</a:t>
            </a:r>
          </a:p>
        </p:txBody>
      </p:sp>
    </p:spTree>
    <p:extLst>
      <p:ext uri="{BB962C8B-B14F-4D97-AF65-F5344CB8AC3E}">
        <p14:creationId xmlns:p14="http://schemas.microsoft.com/office/powerpoint/2010/main" val="2147295689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7A854E1-1878-47CF-B87C-57F6FEC7B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49CC06-6716-4420-84FC-7EA94879C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fa96ae60594af4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D2AEAC-C38B-482F-8FDC-3D191E434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Several symmetry targets use the same workflow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66A88B-F586-4EA6-A1B3-66465430B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31E496-68A7-4E42-A57A-BE0E59037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C81500-F9FF-4CA7-9373-7552D3027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25D3DA-0EEE-4E74-8B54-C1891E4A4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83E6AC-8514-4F99-943A-E33140E8E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0DE3AA-E5A0-4415-A49F-ED5A0BFDC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46E00A-2914-48BF-ADBC-6E9366066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A20309-4BAB-45BF-ADD9-E75C0C4A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Quasi-axisymmetry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902C32-B29E-4F2D-A229-A3BEA3996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penalize modes off the QA 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2B929B-3585-4F09-B600-85FB80042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A8D5F4-6EC7-4616-9581-1E4C97C3A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6FC306-DBE0-46ED-9FA8-2645DFC37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Quasi-helical symmetry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3B3E5D-A839-47CC-9E23-7FA044FD2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the QH ridge clean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6D8498-139A-4623-A5BF-47B085552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34148C-D141-41A6-B89F-9C6CB36C4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9F1166-4DD7-408B-B4DE-F1D6860C5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Quasi-isodynamic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188DEB-07B2-45BE-B8B7-CD317C21B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different metrics but the same artifact discipline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86783D-1032-4BA0-84F5-6D4BB0230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07A837-0D42-4D2B-94EA-D65C5BD95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1B22FA-5D14-455B-A6D2-E0119E93C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A1AA34B-4A16-479A-A6F9-D399A7B37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44B419-5E1B-44FC-9C07-66A7D8867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19</a:t>
            </a:r>
          </a:p>
        </p:txBody>
      </p:sp>
    </p:spTree>
    <p:extLst>
      <p:ext uri="{BB962C8B-B14F-4D97-AF65-F5344CB8AC3E}">
        <p14:creationId xmlns:p14="http://schemas.microsoft.com/office/powerpoint/2010/main" val="992189179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F06C2C6-1ACE-4296-9F32-AA1BD9BD7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5F8B0F-EF6F-471E-A55B-0D0001D47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859d52db16489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D06791-4980-44F0-A786-F247D9B09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What is effective ripple?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E303AC-F190-4560-B648-5D5ADADDC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1A62B4-2740-4EB0-A946-F07D37A3E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455295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DC597F-0B48-4E77-84EB-A1D420DAF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4552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5A585D-2D72-449A-808D-25AC53060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905000"/>
            <a:ext cx="3905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Effective ripple, epsilon_eff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3F61D1-6EAB-474B-9666-01847110E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38400"/>
            <a:ext cx="38481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scalar proxy for ripple-driven trapped-particle radial transport in the low-collisionality neoclassical regime.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CB3A99-3AF9-4142-9CF1-ED5E2485B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81400"/>
            <a:ext cx="37719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B32837-5C25-4601-B255-E9D1AEEDD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724275"/>
            <a:ext cx="3467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rPr>
              <a:t>D_11 ~ epsilon_eff^(3/2) / nu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C7CAB1-AA88-4042-A0C1-4694AF1E1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581150"/>
            <a:ext cx="5219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5353E0-0040-497B-8BB5-B11831DBA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58115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8A5869-7A2F-40CA-920C-CC52BE151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7145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Physical meaning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5C590D-D335-4443-AB9E-C82C92744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981200"/>
            <a:ext cx="4591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Lower effective ripple usually means lower 1/nu neoclassical losses.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7298F8-704F-4CD6-9B0C-C7EC5187E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86050"/>
            <a:ext cx="5219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647292-A568-4586-BD89-091ACCD8B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8605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CF5178-19C0-4287-B7F2-7EE220B20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8194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What the optimizer sees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28938D-1E75-4311-A6E8-4A727D77B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086100"/>
            <a:ext cx="4591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an early screen before expensive drift-kinetic validation.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E60F2D-5634-4FB4-AE26-001245E7E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790950"/>
            <a:ext cx="5219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6055A5-CAFD-4AE3-89E7-2C7A9CA50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79095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8157E4-4B09-4A3B-9967-BB79E4D46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243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46A0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46A00"/>
                </a:solidFill>
                <a:latin typeface="Aptos Display"/>
                <a:ea typeface="Aptos Display"/>
                <a:cs typeface="Aptos Display"/>
              </a:rPr>
              <a:t>Failure mode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D1ADF8-38F6-4F68-A59C-4BC9C2D0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191000"/>
            <a:ext cx="4591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It does not include every transport channel, electric-field branch, or turbulence effect.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E2C14A-54C4-4165-9F71-1656879C0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200650"/>
            <a:ext cx="8667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F1CB12-E973-468A-B81F-B979D8C70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324475"/>
            <a:ext cx="8172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Effective ripple is a fast warning light, not the whole transport model.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593055-A41A-459A-BC00-1B031DD37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2C2D326-AED8-4062-88D2-9F7FB47AD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4ED4010-448C-4904-9E0F-80652007E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06FCD78-E60C-4E16-AA9F-E64A5E75D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F6EC648-F75C-41FD-A097-2E34D93AD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60758FB-7FA8-45AC-85AA-2F3574B9D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Ref: Beidler et al., Nature 596, 221-226 (2021).</a:t>
            </a:r>
          </a:p>
        </p:txBody>
      </p:sp>
    </p:spTree>
    <p:extLst>
      <p:ext uri="{BB962C8B-B14F-4D97-AF65-F5344CB8AC3E}">
        <p14:creationId xmlns:p14="http://schemas.microsoft.com/office/powerpoint/2010/main" val="1166268674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2ED5DE7-00A9-4AC7-A62C-1E00526C0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76F656-C243-47A0-BDFA-D635A01FD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000b4af72f43d1"/>
          <a:stretch xmlns:a="http://schemas.openxmlformats.org/drawingml/2006/main"/>
        </p:blipFill>
        <p:spPr>
          <a:xfrm xmlns:a="http://schemas.openxmlformats.org/drawingml/2006/main">
            <a:off x="906201" y="1695450"/>
            <a:ext cx="6569597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B869DA-61F4-4F9E-B96E-75ED11108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B54558-D898-482A-91E0-2D99A20C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BC3353-54B9-4508-AFEC-9A9FD2D8F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Lower is better for this screen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B1C38A-5EC6-4C44-8762-2735A37F7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E5B50B-E469-467B-AEAD-C640CE815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before expensive validation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A8E33B-E820-4571-8E4F-C3B8F4F0A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512B2E-F8B3-49A1-BBDC-1E7DAB2DE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Read the radial trend: lower effective ripple points to lower 1/nu neoclassical loss.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B11AC4-4154-4FF1-81BE-605E507E3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c4055df5844a6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3F8C54-C02A-4DAB-B6B9-6D092DFA4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Effective ripple is an early transport warning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509BB8-A5D0-4C05-8615-32D3962A7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FD127D-8319-40F5-A319-A086A9422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6CDD74-0365-4DB2-B265-0A56E175A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95175C-1FC0-4C95-B060-4235E7DCE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9E596C-3CF7-4274-BEDB-0B1098864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5691F7-0781-43A5-BD0B-37F2CB8BF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BA2D22-339E-456A-B163-71638C153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Ref: Beidler et al., Nature 596, 221-226 (2021), effective ripple as a W7-X optimization target.</a:t>
            </a:r>
          </a:p>
        </p:txBody>
      </p:sp>
    </p:spTree>
    <p:extLst>
      <p:ext uri="{BB962C8B-B14F-4D97-AF65-F5344CB8AC3E}">
        <p14:creationId xmlns:p14="http://schemas.microsoft.com/office/powerpoint/2010/main" val="1953894932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A453FFB-879D-4946-8803-4DFCE3757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53581D-8477-4F47-BD89-BABE7FEAB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dc052e3e184120"/>
          <a:stretch xmlns:a="http://schemas.openxmlformats.org/drawingml/2006/main"/>
        </p:blipFill>
        <p:spPr>
          <a:xfrm xmlns:a="http://schemas.openxmlformats.org/drawingml/2006/main">
            <a:off x="822254" y="1695450"/>
            <a:ext cx="6737492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2FA021-365F-43F6-9AC2-A40EA015E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4D91B4-D950-4E99-AFF1-3941593AD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A41E1B-F177-4139-9070-84762089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Finite differences make the sensitivity visible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40B7AE-B3E4-4BB0-A23B-419709CAA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60B3E6-9704-4FCF-9D76-6EE928BF3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Autodiff becomes important at scale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E1774B-1046-414E-8689-BBF3312F2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31221E-16BD-49B5-A1B7-EC58F002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The point is sensitivity ranking, not a production derivative.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38D62C-3A7D-439B-91F2-9B87A9A12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ea579f5c9446fa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E4A02E-3B26-409E-AF35-B6130DEDC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Gradients tell us which knobs matter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29D057-6A82-410D-8975-D086C9C4E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837750-BDBC-4FD0-BBE8-D737FC832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E7AA40-7565-4B90-8767-4D980425D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6EAF58-23AE-4457-A8B8-208ACFCD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980D08-9C8F-4D2D-BDFB-2280308EC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F2C436-84E0-438B-9B7A-74B38B389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22</a:t>
            </a:r>
          </a:p>
        </p:txBody>
      </p:sp>
    </p:spTree>
    <p:extLst>
      <p:ext uri="{BB962C8B-B14F-4D97-AF65-F5344CB8AC3E}">
        <p14:creationId xmlns:p14="http://schemas.microsoft.com/office/powerpoint/2010/main" val="187958133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11354B4-968A-4456-B87D-E61F2CE56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F084AF-24AD-45AC-B236-99CBECE0A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e5f983da2643f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AE5B5C-C6A6-47D0-8B6E-AEC75311F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89535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The scalar objective is a negotiation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B393F5-B1D0-4196-A27D-BC983ED71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62350"/>
            <a:ext cx="3238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F8120C-F312-4F01-BE97-3C01D5470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B526EC-659F-41B8-AE01-FB6806AC9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095750"/>
            <a:ext cx="6953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Weights encode scientific and engineering priorities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7EC678-41F7-4785-9EC1-E1D1C9D8F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D5A7BF-A60E-44B3-AC98-7057F5CB3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BE222D-F519-4C51-94C7-FCF063FD3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733CD9-3F2E-44EA-9FFB-5D84F4073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0B4AEE-9B24-4595-873B-D27A2198B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23</a:t>
            </a:r>
          </a:p>
        </p:txBody>
      </p:sp>
    </p:spTree>
    <p:extLst>
      <p:ext uri="{BB962C8B-B14F-4D97-AF65-F5344CB8AC3E}">
        <p14:creationId xmlns:p14="http://schemas.microsoft.com/office/powerpoint/2010/main" val="1126670456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4A99196-612E-4962-9EA5-21F341DE3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B87D82-0199-4E30-B07A-B74A2AA1D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8e631c6da74ad3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924F84-BFC0-46F8-972B-E8441D1D0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Demo break: spectrum and ripple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AC0B95-D6FB-46CB-BDDF-F9A3A1111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BB2F49-3430-4EB9-82E0-6E72951E1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6648B1-9BD0-4282-BA9F-F9F74400F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C81BF8-6A44-4C20-B621-BBFF3AC8A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383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Notebook break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18841E-0AA3-4261-970E-F2F773FA2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527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Notebook: Effective Ripple Neo Jax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39EBF9-F0A2-4FBA-BE0D-6675C2904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C1E2CE-F2A2-476E-9CA3-B7355EFCD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718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Circle bad modes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F448B4-F459-4880-8E99-2A836F8FD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86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1651B2-9403-4F60-B397-8DD80F1EB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9814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one scalar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471444-E2D5-49B9-9740-39916CA28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95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46434F-5A3E-4BD1-88AD-47DCB8F12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910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Explain what the plot proves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c71498e38d43d3"/>
          <a:stretch xmlns:a="http://schemas.openxmlformats.org/drawingml/2006/main"/>
        </p:blipFill>
        <p:spPr>
          <a:xfrm xmlns:a="http://schemas.openxmlformats.org/drawingml/2006/main">
            <a:off x="5619750" y="1764385"/>
            <a:ext cx="5334000" cy="292918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F0D1A4-F15F-4CDF-90CE-C73895063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143500"/>
            <a:ext cx="533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F0D80E-24ED-4E79-BAA1-4E974EF8D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267325"/>
            <a:ext cx="4914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Notebook path: notebooks/02_boozer_spectrum.ipynb + notebooks/03_effective_ripple_neo_jax.ipynb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2C6136-F747-411E-92C2-F07007888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F4177E-AB2E-4C5B-B907-86E9CC930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8175B0-34FD-40FD-88E0-C1D061869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1D7D45-497B-44C7-BEDA-FC412C2EB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0EDA60-9336-4758-BA04-AE98D8B66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24</a:t>
            </a:r>
          </a:p>
        </p:txBody>
      </p:sp>
    </p:spTree>
    <p:extLst>
      <p:ext uri="{BB962C8B-B14F-4D97-AF65-F5344CB8AC3E}">
        <p14:creationId xmlns:p14="http://schemas.microsoft.com/office/powerpoint/2010/main" val="1388988469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20D5B6-E3A7-4330-B523-B21EE5C25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D93C51-037F-4E0F-B9BC-A513000C1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B17FF7-862C-4E29-9EA8-A621B46D1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705E95-B5D7-426E-9F3D-399974884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260358-C5B8-4629-8630-328282499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157FD7-7EA1-4C95-BF3A-2CA84918B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clean surface is not a validated design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0AAE5C-B638-4097-AA6C-9A2F5031D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24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9C873C-2F50-4ED8-BD82-8CB3C4728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scalar can hide the wrong physics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E53E75-FCB3-44AA-864E-1D1490F86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FC2C63-7129-4D3E-988A-D6F604215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diagnostic figure must state its assumptions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96826B-074D-4FF3-B2E8-E92DE9DB6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53B494-9BF6-440B-B41A-F147AC39A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Validation rule: state the assumption, identify the metric, and explain what would change your mind.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EFD2F4-DBB0-4697-B2FB-6BD4A331E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301399c92f4dcb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A6BCC5-A305-49C4-B89F-375C0ECDC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Failure mode: optimizing a beautiful plot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943C20-5F6F-45DB-8B49-27849856F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4801F4-B7F3-4C55-8C98-78B121552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9A69F8-8BFB-4507-A5F2-1E168662B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859FBD-8DCD-498E-A080-99B58E087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DE297B-A601-4DF5-BA9B-26F1EF461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FD32E1-3F7F-4B45-909B-D984BB449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25</a:t>
            </a:r>
          </a:p>
        </p:txBody>
      </p:sp>
    </p:spTree>
    <p:extLst>
      <p:ext uri="{BB962C8B-B14F-4D97-AF65-F5344CB8AC3E}">
        <p14:creationId xmlns:p14="http://schemas.microsoft.com/office/powerpoint/2010/main" val="1862566908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AA4D38C-FD5A-49F9-BBE2-A0717928A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DDFDDB-2AB2-4D4D-8B5E-31A1D4DDB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db013867184dbb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0790EA-43DF-4CC3-B3EB-37430C84C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Lecture 1 what to remember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43E84B-373A-4CAE-A374-2D8851B14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206396-0E75-4450-99A2-FB6DFED5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14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86091D-ABC2-4BAD-B1F2-208E542DC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09750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Optimization starts with a parameterization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E15B6F-0AEF-422A-9B22-000A21A83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95563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8200AF-86EA-4A2C-B93A-431E7D26B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90788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wout file is a scientific 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DAF0F7-B738-4DAA-92B8-B8BFB3BD7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766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6F3177-E7CA-4CD3-B4CC-7B3982707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71825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Boozer spectra turn symmetry into penalties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86C9CE-D169-43B4-A811-C476C931C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57638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1DC60F-97C5-4F6E-B732-38DD4E171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52863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Metrics must stay connected to validation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277BF1-D784-4948-A939-024D8FDF0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838700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A43965-D3E5-472B-AF77-1FB4AF625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962525"/>
            <a:ext cx="7524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 good optimization result is a design argument that survives new metrics.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51F30C-5E19-42A2-9CEE-06232913F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2DC659-90C6-4627-B5F3-AAFCA81C6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8FE878-03D7-4EA2-91C9-093D33BB8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F69B2C-1F2F-43DE-8EDC-1BF327100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B8B178-5639-4AAB-A9F6-66A0BB9BD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26</a:t>
            </a:r>
          </a:p>
        </p:txBody>
      </p:sp>
    </p:spTree>
    <p:extLst>
      <p:ext uri="{BB962C8B-B14F-4D97-AF65-F5344CB8AC3E}">
        <p14:creationId xmlns:p14="http://schemas.microsoft.com/office/powerpoint/2010/main" val="950412298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C7532D-4ACE-40F2-9ED5-C798EF151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993963-BD38-4E6F-8873-740B0A440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da3b9ccdcf41b3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055D7C-C801-49F8-8B94-D33DFB94D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89535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A design loop starts when the artifact can be rerun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FFA8C3-0D1C-4E45-9865-43857F699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62350"/>
            <a:ext cx="3238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A7241F-5270-4910-BD29-F7482A864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44950-FD33-43BF-8D39-8E62D50D0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095750"/>
            <a:ext cx="6953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Repo and docs are part of the scientific object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972061-C358-4826-B970-02F39F24D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077D10-AF59-4C7F-A130-DE978A537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7C9453-5A02-4213-827B-C6B79ECEF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AA9B4B-1B38-49C6-8BBF-7771A83D9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E4D178-1B33-4015-B4E9-7697957B2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27</a:t>
            </a:r>
          </a:p>
        </p:txBody>
      </p:sp>
    </p:spTree>
    <p:extLst>
      <p:ext uri="{BB962C8B-B14F-4D97-AF65-F5344CB8AC3E}">
        <p14:creationId xmlns:p14="http://schemas.microsoft.com/office/powerpoint/2010/main" val="953626846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BE45883-0F4C-48E4-BC57-420234714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D3BED1-7649-411E-8E24-D2CBD156C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ada575d8c3440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8369DA-F3AC-4D19-A376-B276CD83D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D9B9D9-4B49-4E95-9021-9B34B53B3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5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0F9108-8B00-4FC2-86F4-5ABA502D0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APPENDIX. Lecture 1 checks and replacements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F4C855-3409-4581-8D31-B4A623437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38550"/>
            <a:ext cx="140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38683C-E680-4C4F-80D4-854EA48F4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B35E28-A569-485C-9AB9-A5ADAB08B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this section when a live package succeeds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A5FEE7-311B-49D7-95BD-73D41E480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29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82F4F4-BB75-4319-B2BD-B8AA5FD5D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2440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the reference demo path ready for timing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7DF6F4-5D21-4E2F-873E-2902788FB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6A24BA-35DC-4AFB-93ED-BB440DCE3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C08F58-F2AD-44FC-B317-FA60ADF7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901216-DCA9-4CF0-9C95-6959D0DC3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098803-6BA9-4E42-9D34-B82F34050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28</a:t>
            </a:r>
          </a:p>
        </p:txBody>
      </p:sp>
    </p:spTree>
    <p:extLst>
      <p:ext uri="{BB962C8B-B14F-4D97-AF65-F5344CB8AC3E}">
        <p14:creationId xmlns:p14="http://schemas.microsoft.com/office/powerpoint/2010/main" val="1211598735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F0BA141-78C8-448D-BB0D-B98D3557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06057D-8234-4773-91FD-2884C0E7C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77fe9f7f2a40a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4CBCAB-C9E2-4A5E-9A8A-C74852AA1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VMEC file review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7916B1-DA96-430C-A5C3-1F3D6A2F8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B15FAD-1E94-47C7-9000-A65AF1AB8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4D658E-8079-4677-8CA4-6A1C2CDAC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C139F5-6940-4134-BFEB-494E412DE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25CF1F-5E84-47B8-8860-CBC0569EB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EC8538-D727-4F1A-B14E-C58895817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8576D4-7AD1-4878-9765-528FC6442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CA6EE1-ECB8-4933-86D1-A676D0570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Dimensions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CF2C75-AB4A-4FA9-97E0-55D145E04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surfaces, modes, field periods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EEF592-E1BF-4279-BB6E-1B6256F0E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667BAD-FD4A-41A7-95E5-8B2EA3C68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A8EA18-3B28-4DFF-904A-57FD20670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Variables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2148A2-42F1-4EC4-92B4-479E0E01F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iota, pressure, boundary coefficients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E77628-4284-4A1D-A737-88C54CCA4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A64076-4442-4579-9626-FA64F5609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9EC18F-19EB-4C01-8397-F3B39EC26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Provenance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29C6B4-6FD9-407D-A416-F7413A2C1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public repo path and hash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CED530-6A50-4AFA-B7C9-02CC51A4C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BDF53F-8D51-4566-ABEA-3566035EB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CD2DF9-A661-4FA2-97A6-155DCCC94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F00983C-67F6-4590-83D5-4052EB9DC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B24F4C-8D1C-42DB-AA90-B94EF860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29</a:t>
            </a:r>
          </a:p>
        </p:txBody>
      </p:sp>
    </p:spTree>
    <p:extLst>
      <p:ext uri="{BB962C8B-B14F-4D97-AF65-F5344CB8AC3E}">
        <p14:creationId xmlns:p14="http://schemas.microsoft.com/office/powerpoint/2010/main" val="1480375121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191CB1D-25FB-4D74-8FD5-C28F3FA86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F4A93B-992E-48F9-8EAC-DE025829E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1e60ef0772483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EEE6D2-0221-4813-884A-A15DD371F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Boozer file review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91FFAE-549E-44B0-8122-EDC21A9E9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59D67A-383A-40A4-8954-60931A4F9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844F75-FED3-45A1-90FE-234D0708F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8329E5-D5FC-4741-B374-302D09324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CB3EB6-65AF-4923-95C9-62B8F7E7C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F459D4-7051-4520-8924-98ED854FD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901EAE-4F07-4C0C-A378-3A132DC7B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5654EF-6091-4A07-9699-471C1F949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Surface labels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70ECB8-55B6-4371-88EA-92DAE73C6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choose the same radial grid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545277-E13F-403C-9A1B-D7D85FFD0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5325C4-EEED-4446-89B9-80DDD321C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5CFCED-DC70-4CC8-81EB-2EAEB66A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Mode truncation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7FD8AB-6E74-477B-B9E3-C407C2A7D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report m/n limits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36EFC3-D6A1-4767-B094-005598440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B0CEF6-C826-4C11-84E3-2D8D18E60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F9A1F4-5A68-418F-A4B0-BAD52E689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Residual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5FF77D-1EB9-4323-933E-E17FEF9A4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separate symmetry-preserving from breaking modes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A6F226-6F52-45B2-ACD5-CF58698B5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4AF45B-0BA9-4744-A06A-F60E20415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E55152-CBC5-47F0-A0D7-9CBDC2D97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606499-7DAC-4856-8704-A0F7D6E07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80DFC3-8EB4-4F24-955F-609C78CA5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30</a:t>
            </a:r>
          </a:p>
        </p:txBody>
      </p:sp>
    </p:spTree>
    <p:extLst>
      <p:ext uri="{BB962C8B-B14F-4D97-AF65-F5344CB8AC3E}">
        <p14:creationId xmlns:p14="http://schemas.microsoft.com/office/powerpoint/2010/main" val="52951043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B1C1876-4AC0-4E81-AD5D-D5D590A45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19DA23-FFDE-461C-B269-C90CC9FB5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674285-E62E-4E66-99C2-68DA0AB92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12D0E7-AD9E-4F18-9A77-86044D1DE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69B568-097F-495A-B929-C0B8B6EB3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987503-47B9-4355-AB51-724E3DD06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Following the design-loop structure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D01D0C-BB93-4E27-BEE3-AE6C649F5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24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1F7D87-AB22-4ABF-804A-72A5AC8F9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Testing plotting and data plumbing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B2B7F6-390A-4C26-83DB-C4043C965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9DD473-5635-4C50-8E38-3451A4181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Preparing exercises with defensible qualitative answers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A1492B-924D-4569-804A-B3DF318BA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3D4783-914A-4B68-9CFD-3FD582FF9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Validation rule: state the assumption, identify the metric, and explain what would change your mind.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712C41-BFD9-4788-8F6A-B48009C79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301b3d7d514ee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6AD912-AE79-49B0-96D5-0AF8960D6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When a reference demo is enough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47698D-F207-4BE4-8B90-E9F238BAE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917170-3B57-4CC1-9E7D-9FF5980C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DEAE18-48A7-49EC-932D-CFA258F6F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C80238-230D-46AA-91FF-7887D7B2D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AAFC91-EF17-4C80-93A1-089C5DF6E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4817FE-E0FE-4787-9B7C-A3E14A068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31</a:t>
            </a:r>
          </a:p>
        </p:txBody>
      </p:sp>
    </p:spTree>
    <p:extLst>
      <p:ext uri="{BB962C8B-B14F-4D97-AF65-F5344CB8AC3E}">
        <p14:creationId xmlns:p14="http://schemas.microsoft.com/office/powerpoint/2010/main" val="1323747858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9941C03-F07C-4F52-8ABE-0E99EBA5D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8CB6AF-FA18-4FF5-B6A6-C1B739563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3C27EC-0309-4999-80E3-7FB624322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7B5878-CEC6-48B3-A832-C7CBC82EF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AFC603-57A0-492C-8CDD-7D5D4A061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BF135C-074D-48C5-A0BE-94BBFD0F9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Reporting a numerical value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C097C4-B030-4DE9-B8B6-940DC841F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24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5A98B4-FC2C-4B8C-81AD-834618BFB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Comparing HSX and W7-X quantitatively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206E4E-E920-4AAB-8931-7EFCE0CB9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85790B-A0E4-4A37-A285-DC7A2DB0C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Changing VMEC or Boozer resolution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C47585-FBE3-4A2C-997F-C0D758EE3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EF35BA-1E61-4684-AA87-0A266B207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Validation rule: state the assumption, identify the metric, and explain what would change your mind.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C0FA17-B603-4C61-A805-797837463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c72c504c5c447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76BEAA-0536-4783-9B36-418998A2E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When research mode is needed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451D19-D51A-4968-BC22-3F5884DC9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BD84EF-EA91-4457-B177-63B81E31C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4E5CBF-E562-4330-8874-2257B7033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705817-5587-4618-9697-BDC7592AA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04DDFA-37D2-40A6-8581-12E1C7F16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2A0C59-6A74-4E9A-AE02-50845710E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32</a:t>
            </a:r>
          </a:p>
        </p:txBody>
      </p:sp>
    </p:spTree>
    <p:extLst>
      <p:ext uri="{BB962C8B-B14F-4D97-AF65-F5344CB8AC3E}">
        <p14:creationId xmlns:p14="http://schemas.microsoft.com/office/powerpoint/2010/main" val="1421707019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CF06F2E-0B64-4C8D-857D-D617106B0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543DFD-CB54-4D95-B01B-D314F22AB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09a31da6fa472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45464C-418C-49C4-951A-46E0139CE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Research path: VMEC_JAX to Boozer transform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89259D-8338-4C3D-B3F1-A1030616E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24D4B8-6E6E-49D8-8A77-1A903776F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2F6D3D-DD5C-48CA-B65E-D19C61BC7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7B78A5-8AA3-4CA2-92FC-24E0CB92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command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5EE133-15E2-4012-B8B7-D5E7A8F8B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76DA47-1413-4B72-9729-6C41AEE38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61D8EA-729D-4E9B-A39E-B97F6E0C0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Start from a verified input or wout file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F76C9B-5B45-40A7-8B59-77B81C83C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84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F9F6A1-636C-483C-9E47-6B089F418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7970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Run a short equilibrium on the lecture machine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A3C8EF-A8D5-40FC-AA63-1C82AA86F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78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FEA053-5A38-46BF-BDA7-2768E680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7345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Replace screening arrays with documented solver outputs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BE7158-6950-4DC4-B271-742127D5B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4EF548-11B7-4D8A-800C-78CBD4E43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D35350-3366-4979-830D-6D70EE504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6EF806-BC8B-4E98-8F62-CE8FFA194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64E1E3-51F4-402D-AAF2-C8AAFA579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33</a:t>
            </a:r>
          </a:p>
        </p:txBody>
      </p:sp>
    </p:spTree>
    <p:extLst>
      <p:ext uri="{BB962C8B-B14F-4D97-AF65-F5344CB8AC3E}">
        <p14:creationId xmlns:p14="http://schemas.microsoft.com/office/powerpoint/2010/main" val="15141395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D59BA4C-8E8E-4094-A0DA-9552C0428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A2C4EF-A17B-4190-A457-840FE136C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8430a5c1254103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31D0E5-11D0-4F29-B1F4-9576B710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Metric acceptance checklist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B501D4-D280-4E1E-B9E8-B32F38E14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80A50F-D44A-4739-B486-CECB3BAD0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5C1094-373A-404D-8B0A-D21A0DAC1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C7F065-2CCB-4E8C-85D2-904511DB7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EA32DE-1CC0-4187-9A39-E81D9650D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A6EA8F-0CA5-41B2-A087-73A0BC615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538077-B70F-47B1-9973-5D4798442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75F184-2F03-4BD4-8D4E-31CFC6755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Reference figure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24EBA8-2FC2-49A7-81A8-5B2EBDB4C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for trends and discussion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FEE6BA-D172-4526-9AB8-0ED2ABA89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6E93B1-593E-48AF-9981-3465341F1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19FE41-80F7-4A94-AEE8-A336205DD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Real-code run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927E84-1EEF-40C8-ADF9-76076C42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for numerical claim after provenance check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15BD06-2B9A-4F7D-A7E9-614004E06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9AF054-6FB0-4BFF-8729-8E49C8F06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5E8EC8-D58D-4C13-BC20-BCA5BF9BB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STATUS.md record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BB08A9-AF43-4B41-93C3-7EF9CFE96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package, data source, and validation domain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E40268-D978-4A1E-B122-6346A4C72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11241A-01B8-4389-9DC5-CE9C6ED4C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ABDC68-E06C-4412-AC7C-6897462C2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B6645A-1BC0-4503-8B97-0D4F6F374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192818B-0206-4D6B-B2D8-4F9564B62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34</a:t>
            </a:r>
          </a:p>
        </p:txBody>
      </p:sp>
    </p:spTree>
    <p:extLst>
      <p:ext uri="{BB962C8B-B14F-4D97-AF65-F5344CB8AC3E}">
        <p14:creationId xmlns:p14="http://schemas.microsoft.com/office/powerpoint/2010/main" val="64053018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2D53C58-FC62-4E74-8FC2-52B01C35F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A9AA7C-E38A-4137-9DBD-A1E4CD96C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99060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174d61a5d541b9"/>
          <a:stretch xmlns:a="http://schemas.openxmlformats.org/drawingml/2006/main"/>
        </p:blipFill>
        <p:spPr>
          <a:xfrm xmlns:a="http://schemas.openxmlformats.org/drawingml/2006/main">
            <a:off x="4008967" y="1676400"/>
            <a:ext cx="3259667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358EAE-BD57-4710-A23C-9EBD3FA01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448300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F9816B-E22D-4788-8E15-7C218EB1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543550"/>
            <a:ext cx="819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Reference image for the surface discussion.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5FA50D-8BE7-4DE0-8080-2220D32CD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3065cae8a94ecf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75038C-0B83-4071-94B6-214AD7ACC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Reference figure: HSX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DBFCDD-1454-4D54-8FB2-C6020017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C4001F-A007-4786-9FA9-A836DA8EB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031F77-CFC6-4F3A-A577-9F76982E2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075B30-B72A-4307-85B7-C79530BDA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A91A1B-7CA7-4555-97BD-332715785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1CE079-58A7-49C2-B0F4-EF113C026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35</a:t>
            </a:r>
          </a:p>
        </p:txBody>
      </p:sp>
    </p:spTree>
    <p:extLst>
      <p:ext uri="{BB962C8B-B14F-4D97-AF65-F5344CB8AC3E}">
        <p14:creationId xmlns:p14="http://schemas.microsoft.com/office/powerpoint/2010/main" val="395891612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5260D39-99AE-4CE3-849D-FE349630C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28AAD6-D504-4F76-827A-B5CD88560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78e59722064e0b"/>
          <a:stretch xmlns:a="http://schemas.openxmlformats.org/drawingml/2006/main"/>
        </p:blipFill>
        <p:spPr>
          <a:xfrm xmlns:a="http://schemas.openxmlformats.org/drawingml/2006/main">
            <a:off x="1387838" y="1695450"/>
            <a:ext cx="5606323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25D885-5A60-435A-B028-39890F6B7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91F8A8-D59D-42A3-A9EB-0DC2CF106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C7B936-A135-44BF-A363-0C78EC4B7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to read the expected symmetry pattern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A01A8C-AFC8-4AE0-91AF-869808C63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E790D1-5F7E-4CB8-83CD-E34D4FD0D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Discuss the expected symmetry pattern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2A2387-381B-42FC-A3B5-CCA5FF745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B80429-E648-4434-85F4-D32303C68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Reference image for reading the contour before scalarizing.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12F564-277D-4D28-A16F-92D33B534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e9ee6d63c74dcf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BF14DF-A57E-4E2A-95A9-48740464F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Reference figure: Boozer contour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F0573C-E0F8-4C8F-9907-DB1408AE1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A9E3E1-DE01-4910-9AE6-3B0AFD8F6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E6BD0E-BFB7-4CE8-9F44-EC1439018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E6AFC4-D063-443D-AFBB-F5071E6F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0ECD27-C77D-487D-B63F-223E966A6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84FC7B-4241-4FAC-AE5E-5663E28C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36</a:t>
            </a:r>
          </a:p>
        </p:txBody>
      </p:sp>
    </p:spTree>
    <p:extLst>
      <p:ext uri="{BB962C8B-B14F-4D97-AF65-F5344CB8AC3E}">
        <p14:creationId xmlns:p14="http://schemas.microsoft.com/office/powerpoint/2010/main" val="140511800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F61DADF-CD8F-4C38-AF30-E23782A47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02C6E5-326D-42CD-B4A6-FAF3D1B9B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e62567385e406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766F60-AC9F-41CB-B214-5261F8309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Discussion: what did the optimizer see?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750977-928E-4E4D-A337-6C0E44A70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7FCB9E-3A8F-4B65-86AC-BA2D53121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BA37FA-FD2F-4497-849B-92D3DADA7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15FC0E-9E4B-462B-8475-2DDDB9B51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08FEF8-58B5-4872-8A55-509A57BB0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D099A0-8E54-4D2A-8D0F-A5B98347B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78A7F3-0580-40AA-9483-AC9049E12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521D8F-33F1-4E52-B2F1-C6FF072B1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Design variable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AC3073-3E37-47D6-990A-350E859CF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boundary modes and profiles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8E38CF-204B-4428-A168-349992AF2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17C4C6-DEEE-4B1D-BC5F-F2FF3A319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DDBB91-B455-4DEF-A8FB-03DF6CF18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Computed object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F9F932-02C8-4BCB-90D3-BEE4A2154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equilibrium, spectra, scalar metrics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38527B-DA9E-4009-A6E9-AD9641B6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A5CBFA-E64E-4E54-9664-A5733AB82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763E80-AE6B-4513-8BAE-3C1737B7C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Decision variable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AD9D3A-1DE7-4D3C-BEA9-A89E33CEC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scalar deserves trust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58C2E1-4C29-4C83-A04C-556FBE884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2344C3-F85F-482B-BB75-A24EF112B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6F96BA-0729-4B3C-8CC2-6CAD6EEEE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DD690F-0D87-46F0-9E6F-7E7F6A75D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C36BC27-3A85-43C3-B0F8-8F467CAB4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37</a:t>
            </a:r>
          </a:p>
        </p:txBody>
      </p:sp>
    </p:spTree>
    <p:extLst>
      <p:ext uri="{BB962C8B-B14F-4D97-AF65-F5344CB8AC3E}">
        <p14:creationId xmlns:p14="http://schemas.microsoft.com/office/powerpoint/2010/main" val="2139890367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10F3E2F-072B-4AC9-83FD-9F98FA84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BD094A-C2EC-48DF-8517-53555FF54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851488-7D49-4D43-9D57-FC1ECB4C7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19d6fd1fd843a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A0CA69-3900-453B-8659-4764E8E84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83D12F-8903-47B8-BDF7-0DDC531A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810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What to remember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5BDCA1-7FE8-49B8-9185-EDFCFB224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2890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D88D60-514B-4851-8215-98B30FE53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62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E008FC-1284-4D87-8C49-C6B4C7141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5755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the scientific object and the computed artifact together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252777-7FE1-42DC-84BE-064C12CB2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52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D7CDD6-B1C4-4FDB-B143-2FB4BA37F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4810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Rerun, perturb, compare, and explain before trusting the optimum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82DA6E-17EA-40CB-BAA3-CF8B7D63E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434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3AEEDB-E409-405B-A519-C4D868931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3865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Docs: https://sos2026-rjorge-stellarator-optimization.readthedocs.io/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6C6B44-1F71-4AFA-BC3C-61D175F7D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29300"/>
            <a:ext cx="7734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34828A-602D-40E2-AB11-D39CC781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5790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Repo lab handoff: rerun, perturb, compare, explain.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E798B1-7E66-4A18-B39B-325054D23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810250"/>
            <a:ext cx="2857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github.com/rogeriojorge/sos2026-rjorge-stellarator-optimization</a:t>
            </a:r>
          </a:p>
          <a:p xmlns:a="http://schemas.openxmlformats.org/drawingml/2006/main">
            <a:pPr algn="r">
              <a:defRPr sz="97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576924-8A02-427C-B5DB-69E371F2D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38</a:t>
            </a:r>
          </a:p>
        </p:txBody>
      </p:sp>
    </p:spTree>
    <p:extLst>
      <p:ext uri="{BB962C8B-B14F-4D97-AF65-F5344CB8AC3E}">
        <p14:creationId xmlns:p14="http://schemas.microsoft.com/office/powerpoint/2010/main" val="20767239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2026-05-24T12:47:40.9820000Z</dcterms:created>
  <dcterms:modified xsi:type="dcterms:W3CDTF">2026-05-24T12:47:40.9820000Z</dcterms:modified>
</coreProperties>
</file>