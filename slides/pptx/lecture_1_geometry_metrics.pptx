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adc9c8b917d4223" /><Relationship Type="http://schemas.openxmlformats.org/officeDocument/2006/relationships/extended-properties" Target="/docProps/app.xml" Id="R14698f1d5b3248bf" /><Relationship Type="http://schemas.openxmlformats.org/officeDocument/2006/relationships/officeDocument" Target="/ppt/presentation.xml" Id="R4272d156ec8345b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a0afa6daf284eb8"/>
  </p:sldMasterIdLst>
  <p:notesMasterIdLst>
    <p:notesMasterId xmlns:r="http://schemas.openxmlformats.org/officeDocument/2006/relationships" r:id="R2cf3e0b58a0848d9"/>
  </p:notesMasterIdLst>
  <p:sldIdLst>
    <p:sldId xmlns:r="http://schemas.openxmlformats.org/officeDocument/2006/relationships" id="256" r:id="Ra2d9166af4084a07"/>
    <p:sldId xmlns:r="http://schemas.openxmlformats.org/officeDocument/2006/relationships" id="257" r:id="R78ffd5fcdb724422"/>
    <p:sldId xmlns:r="http://schemas.openxmlformats.org/officeDocument/2006/relationships" id="258" r:id="R4e4381f788e84611"/>
    <p:sldId xmlns:r="http://schemas.openxmlformats.org/officeDocument/2006/relationships" id="259" r:id="Rb8f854898fef489a"/>
    <p:sldId xmlns:r="http://schemas.openxmlformats.org/officeDocument/2006/relationships" id="260" r:id="R486df7a4c76943ed"/>
    <p:sldId xmlns:r="http://schemas.openxmlformats.org/officeDocument/2006/relationships" id="261" r:id="Rb1c7f3385e654f59"/>
    <p:sldId xmlns:r="http://schemas.openxmlformats.org/officeDocument/2006/relationships" id="262" r:id="Ra97cb1007382481e"/>
    <p:sldId xmlns:r="http://schemas.openxmlformats.org/officeDocument/2006/relationships" id="263" r:id="Rb36613ea09f6450c"/>
    <p:sldId xmlns:r="http://schemas.openxmlformats.org/officeDocument/2006/relationships" id="264" r:id="R18e30d0ebee448ee"/>
    <p:sldId xmlns:r="http://schemas.openxmlformats.org/officeDocument/2006/relationships" id="265" r:id="R3696cd307b274222"/>
    <p:sldId xmlns:r="http://schemas.openxmlformats.org/officeDocument/2006/relationships" id="266" r:id="R6df7d5d15cb146e5"/>
    <p:sldId xmlns:r="http://schemas.openxmlformats.org/officeDocument/2006/relationships" id="267" r:id="R377b556621454db5"/>
    <p:sldId xmlns:r="http://schemas.openxmlformats.org/officeDocument/2006/relationships" id="268" r:id="Re7892ab34c1942f2"/>
    <p:sldId xmlns:r="http://schemas.openxmlformats.org/officeDocument/2006/relationships" id="269" r:id="Rfe3477d01dfc49f4"/>
    <p:sldId xmlns:r="http://schemas.openxmlformats.org/officeDocument/2006/relationships" id="270" r:id="Ra30dd628e5fb43ca"/>
    <p:sldId xmlns:r="http://schemas.openxmlformats.org/officeDocument/2006/relationships" id="271" r:id="R5a90fd72c7484264"/>
    <p:sldId xmlns:r="http://schemas.openxmlformats.org/officeDocument/2006/relationships" id="272" r:id="R9767b2841ad44749"/>
    <p:sldId xmlns:r="http://schemas.openxmlformats.org/officeDocument/2006/relationships" id="273" r:id="R2814e2a18ebd46b3"/>
    <p:sldId xmlns:r="http://schemas.openxmlformats.org/officeDocument/2006/relationships" id="274" r:id="Re45b3edb27774b0a"/>
    <p:sldId xmlns:r="http://schemas.openxmlformats.org/officeDocument/2006/relationships" id="275" r:id="R3bf9869c50514f70"/>
    <p:sldId xmlns:r="http://schemas.openxmlformats.org/officeDocument/2006/relationships" id="276" r:id="Rbb95a356fb4a4d7d"/>
    <p:sldId xmlns:r="http://schemas.openxmlformats.org/officeDocument/2006/relationships" id="277" r:id="R35f45a29bcde4d00"/>
    <p:sldId xmlns:r="http://schemas.openxmlformats.org/officeDocument/2006/relationships" id="278" r:id="R606fd70690f74070"/>
    <p:sldId xmlns:r="http://schemas.openxmlformats.org/officeDocument/2006/relationships" id="279" r:id="R181dfb3ba27d4874"/>
    <p:sldId xmlns:r="http://schemas.openxmlformats.org/officeDocument/2006/relationships" id="280" r:id="R8c59ed102b72412d"/>
    <p:sldId xmlns:r="http://schemas.openxmlformats.org/officeDocument/2006/relationships" id="281" r:id="Rb4d6cd66ce90409d"/>
    <p:sldId xmlns:r="http://schemas.openxmlformats.org/officeDocument/2006/relationships" id="282" r:id="R1d77fce4e48240d8"/>
    <p:sldId xmlns:r="http://schemas.openxmlformats.org/officeDocument/2006/relationships" id="283" r:id="Rae0489ebf5aa4d6a"/>
    <p:sldId xmlns:r="http://schemas.openxmlformats.org/officeDocument/2006/relationships" id="284" r:id="R09d86d04431143ce"/>
    <p:sldId xmlns:r="http://schemas.openxmlformats.org/officeDocument/2006/relationships" id="285" r:id="Rb4c2f936a8a64695"/>
    <p:sldId xmlns:r="http://schemas.openxmlformats.org/officeDocument/2006/relationships" id="286" r:id="Rd9c0571bb99c4e18"/>
    <p:sldId xmlns:r="http://schemas.openxmlformats.org/officeDocument/2006/relationships" id="287" r:id="R8a5606ff33f040f1"/>
    <p:sldId xmlns:r="http://schemas.openxmlformats.org/officeDocument/2006/relationships" id="288" r:id="R65868102e1dc4cb1"/>
    <p:sldId xmlns:r="http://schemas.openxmlformats.org/officeDocument/2006/relationships" id="289" r:id="R5553510b9ee8455b"/>
    <p:sldId xmlns:r="http://schemas.openxmlformats.org/officeDocument/2006/relationships" id="290" r:id="R5aa4717dae4e40f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0afa6daf284eb8" /><Relationship Type="http://schemas.openxmlformats.org/officeDocument/2006/relationships/theme" Target="/ppt/theme/theme1.xml" Id="Rfbbf355952944705" /><Relationship Type="http://schemas.openxmlformats.org/officeDocument/2006/relationships/notesMaster" Target="/ppt/notesMasters/notesMaster1.xml" Id="R2cf3e0b58a0848d9" /><Relationship Type="http://schemas.openxmlformats.org/officeDocument/2006/relationships/presProps" Target="/ppt/presProps.xml" Id="R6629d033287e456b" /><Relationship Type="http://schemas.openxmlformats.org/officeDocument/2006/relationships/viewProps" Target="/ppt/viewProps.xml" Id="R2ea86ca178454338" /><Relationship Type="http://schemas.openxmlformats.org/officeDocument/2006/relationships/tableStyles" Target="/ppt/tableStyles.xml" Id="R031b9723ea114c35" /><Relationship Type="http://schemas.openxmlformats.org/officeDocument/2006/relationships/slide" Target="/ppt/slides/slide1.xml" Id="Ra2d9166af4084a07" /><Relationship Type="http://schemas.openxmlformats.org/officeDocument/2006/relationships/slide" Target="/ppt/slides/slide2.xml" Id="R78ffd5fcdb724422" /><Relationship Type="http://schemas.openxmlformats.org/officeDocument/2006/relationships/slide" Target="/ppt/slides/slide3.xml" Id="R4e4381f788e84611" /><Relationship Type="http://schemas.openxmlformats.org/officeDocument/2006/relationships/slide" Target="/ppt/slides/slide4.xml" Id="Rb8f854898fef489a" /><Relationship Type="http://schemas.openxmlformats.org/officeDocument/2006/relationships/slide" Target="/ppt/slides/slide5.xml" Id="R486df7a4c76943ed" /><Relationship Type="http://schemas.openxmlformats.org/officeDocument/2006/relationships/slide" Target="/ppt/slides/slide6.xml" Id="Rb1c7f3385e654f59" /><Relationship Type="http://schemas.openxmlformats.org/officeDocument/2006/relationships/slide" Target="/ppt/slides/slide7.xml" Id="Ra97cb1007382481e" /><Relationship Type="http://schemas.openxmlformats.org/officeDocument/2006/relationships/slide" Target="/ppt/slides/slide8.xml" Id="Rb36613ea09f6450c" /><Relationship Type="http://schemas.openxmlformats.org/officeDocument/2006/relationships/slide" Target="/ppt/slides/slide9.xml" Id="R18e30d0ebee448ee" /><Relationship Type="http://schemas.openxmlformats.org/officeDocument/2006/relationships/slide" Target="/ppt/slides/slide10.xml" Id="R3696cd307b274222" /><Relationship Type="http://schemas.openxmlformats.org/officeDocument/2006/relationships/slide" Target="/ppt/slides/slide11.xml" Id="R6df7d5d15cb146e5" /><Relationship Type="http://schemas.openxmlformats.org/officeDocument/2006/relationships/slide" Target="/ppt/slides/slide12.xml" Id="R377b556621454db5" /><Relationship Type="http://schemas.openxmlformats.org/officeDocument/2006/relationships/slide" Target="/ppt/slides/slide13.xml" Id="Re7892ab34c1942f2" /><Relationship Type="http://schemas.openxmlformats.org/officeDocument/2006/relationships/slide" Target="/ppt/slides/slide14.xml" Id="Rfe3477d01dfc49f4" /><Relationship Type="http://schemas.openxmlformats.org/officeDocument/2006/relationships/slide" Target="/ppt/slides/slide15.xml" Id="Ra30dd628e5fb43ca" /><Relationship Type="http://schemas.openxmlformats.org/officeDocument/2006/relationships/slide" Target="/ppt/slides/slide16.xml" Id="R5a90fd72c7484264" /><Relationship Type="http://schemas.openxmlformats.org/officeDocument/2006/relationships/slide" Target="/ppt/slides/slide17.xml" Id="R9767b2841ad44749" /><Relationship Type="http://schemas.openxmlformats.org/officeDocument/2006/relationships/slide" Target="/ppt/slides/slide18.xml" Id="R2814e2a18ebd46b3" /><Relationship Type="http://schemas.openxmlformats.org/officeDocument/2006/relationships/slide" Target="/ppt/slides/slide19.xml" Id="Re45b3edb27774b0a" /><Relationship Type="http://schemas.openxmlformats.org/officeDocument/2006/relationships/slide" Target="/ppt/slides/slide20.xml" Id="R3bf9869c50514f70" /><Relationship Type="http://schemas.openxmlformats.org/officeDocument/2006/relationships/slide" Target="/ppt/slides/slide21.xml" Id="Rbb95a356fb4a4d7d" /><Relationship Type="http://schemas.openxmlformats.org/officeDocument/2006/relationships/slide" Target="/ppt/slides/slide22.xml" Id="R35f45a29bcde4d00" /><Relationship Type="http://schemas.openxmlformats.org/officeDocument/2006/relationships/slide" Target="/ppt/slides/slide23.xml" Id="R606fd70690f74070" /><Relationship Type="http://schemas.openxmlformats.org/officeDocument/2006/relationships/slide" Target="/ppt/slides/slide24.xml" Id="R181dfb3ba27d4874" /><Relationship Type="http://schemas.openxmlformats.org/officeDocument/2006/relationships/slide" Target="/ppt/slides/slide25.xml" Id="R8c59ed102b72412d" /><Relationship Type="http://schemas.openxmlformats.org/officeDocument/2006/relationships/slide" Target="/ppt/slides/slide26.xml" Id="Rb4d6cd66ce90409d" /><Relationship Type="http://schemas.openxmlformats.org/officeDocument/2006/relationships/slide" Target="/ppt/slides/slide27.xml" Id="R1d77fce4e48240d8" /><Relationship Type="http://schemas.openxmlformats.org/officeDocument/2006/relationships/slide" Target="/ppt/slides/slide28.xml" Id="Rae0489ebf5aa4d6a" /><Relationship Type="http://schemas.openxmlformats.org/officeDocument/2006/relationships/slide" Target="/ppt/slides/slide29.xml" Id="R09d86d04431143ce" /><Relationship Type="http://schemas.openxmlformats.org/officeDocument/2006/relationships/slide" Target="/ppt/slides/slide30.xml" Id="Rb4c2f936a8a64695" /><Relationship Type="http://schemas.openxmlformats.org/officeDocument/2006/relationships/slide" Target="/ppt/slides/slide31.xml" Id="Rd9c0571bb99c4e18" /><Relationship Type="http://schemas.openxmlformats.org/officeDocument/2006/relationships/slide" Target="/ppt/slides/slide32.xml" Id="R8a5606ff33f040f1" /><Relationship Type="http://schemas.openxmlformats.org/officeDocument/2006/relationships/slide" Target="/ppt/slides/slide33.xml" Id="R65868102e1dc4cb1" /><Relationship Type="http://schemas.openxmlformats.org/officeDocument/2006/relationships/slide" Target="/ppt/slides/slide34.xml" Id="R5553510b9ee8455b" /><Relationship Type="http://schemas.openxmlformats.org/officeDocument/2006/relationships/slide" Target="/ppt/slides/slide35.xml" Id="R5aa4717dae4e40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a5f9a76e0dc4d9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b749f8895254fdc" /><Relationship Type="http://schemas.openxmlformats.org/officeDocument/2006/relationships/notesMaster" Target="/ppt/notesMasters/notesMaster1.xml" Id="R55b96295cce846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1324ed85e8a49a2" /><Relationship Type="http://schemas.openxmlformats.org/officeDocument/2006/relationships/notesMaster" Target="/ppt/notesMasters/notesMaster1.xml" Id="Rcc9804202644453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8818ac65f8442af" /><Relationship Type="http://schemas.openxmlformats.org/officeDocument/2006/relationships/notesMaster" Target="/ppt/notesMasters/notesMaster1.xml" Id="Rf500ee33281b47b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98ca668191d4b3a" /><Relationship Type="http://schemas.openxmlformats.org/officeDocument/2006/relationships/notesMaster" Target="/ppt/notesMasters/notesMaster1.xml" Id="R44eefa6ad80d41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bf7ef6d9fd24225" /><Relationship Type="http://schemas.openxmlformats.org/officeDocument/2006/relationships/notesMaster" Target="/ppt/notesMasters/notesMaster1.xml" Id="Rb3243738a707411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a91b25a3dc44657" /><Relationship Type="http://schemas.openxmlformats.org/officeDocument/2006/relationships/notesMaster" Target="/ppt/notesMasters/notesMaster1.xml" Id="R76948dff82a7446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7431328e77b4f86" /><Relationship Type="http://schemas.openxmlformats.org/officeDocument/2006/relationships/notesMaster" Target="/ppt/notesMasters/notesMaster1.xml" Id="R41bd481fea534a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5ec41a7ae1749a8" /><Relationship Type="http://schemas.openxmlformats.org/officeDocument/2006/relationships/notesMaster" Target="/ppt/notesMasters/notesMaster1.xml" Id="R8c82d8f727ce423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1ce7b39bbb846c4" /><Relationship Type="http://schemas.openxmlformats.org/officeDocument/2006/relationships/notesMaster" Target="/ppt/notesMasters/notesMaster1.xml" Id="R39d1a121abdb460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6d03bbb73284223" /><Relationship Type="http://schemas.openxmlformats.org/officeDocument/2006/relationships/notesMaster" Target="/ppt/notesMasters/notesMaster1.xml" Id="R6c2c8d6955d1449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250f53786e642f6" /><Relationship Type="http://schemas.openxmlformats.org/officeDocument/2006/relationships/notesMaster" Target="/ppt/notesMasters/notesMaster1.xml" Id="Rbb1f8107a243433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33664f558f04aa1" /><Relationship Type="http://schemas.openxmlformats.org/officeDocument/2006/relationships/notesMaster" Target="/ppt/notesMasters/notesMaster1.xml" Id="Rdb919eb480aa459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0dceeb6a0b34d4f" /><Relationship Type="http://schemas.openxmlformats.org/officeDocument/2006/relationships/notesMaster" Target="/ppt/notesMasters/notesMaster1.xml" Id="Ra1cbd317d0ec444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8279e3a5ade4aba" /><Relationship Type="http://schemas.openxmlformats.org/officeDocument/2006/relationships/notesMaster" Target="/ppt/notesMasters/notesMaster1.xml" Id="Rdbf813b7ea1b4a0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935ea8dcca64754" /><Relationship Type="http://schemas.openxmlformats.org/officeDocument/2006/relationships/notesMaster" Target="/ppt/notesMasters/notesMaster1.xml" Id="R92788100e2bd456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b4b4687e7684123" /><Relationship Type="http://schemas.openxmlformats.org/officeDocument/2006/relationships/notesMaster" Target="/ppt/notesMasters/notesMaster1.xml" Id="R21ad2bd2e71d440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86fee6f03774c35" /><Relationship Type="http://schemas.openxmlformats.org/officeDocument/2006/relationships/notesMaster" Target="/ppt/notesMasters/notesMaster1.xml" Id="Re6242f30d3cf404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8521b12bfba4ca9" /><Relationship Type="http://schemas.openxmlformats.org/officeDocument/2006/relationships/notesMaster" Target="/ppt/notesMasters/notesMaster1.xml" Id="R2e670343365b43b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1801988dc3c425e" /><Relationship Type="http://schemas.openxmlformats.org/officeDocument/2006/relationships/notesMaster" Target="/ppt/notesMasters/notesMaster1.xml" Id="R15a9117dbd70409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568e17b557e4684" /><Relationship Type="http://schemas.openxmlformats.org/officeDocument/2006/relationships/notesMaster" Target="/ppt/notesMasters/notesMaster1.xml" Id="Rbd7408328200404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454c95383e141e8" /><Relationship Type="http://schemas.openxmlformats.org/officeDocument/2006/relationships/notesMaster" Target="/ppt/notesMasters/notesMaster1.xml" Id="R7e16bd5e5cc64de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035ca88752e45d4" /><Relationship Type="http://schemas.openxmlformats.org/officeDocument/2006/relationships/notesMaster" Target="/ppt/notesMasters/notesMaster1.xml" Id="R5f828ef1f4e6430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cd3ae659fef4bf1" /><Relationship Type="http://schemas.openxmlformats.org/officeDocument/2006/relationships/notesMaster" Target="/ppt/notesMasters/notesMaster1.xml" Id="Rfeef8f814f97422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cadc86ff3014ae2" /><Relationship Type="http://schemas.openxmlformats.org/officeDocument/2006/relationships/notesMaster" Target="/ppt/notesMasters/notesMaster1.xml" Id="Rc779df79519245a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a38cc0f348d427b" /><Relationship Type="http://schemas.openxmlformats.org/officeDocument/2006/relationships/notesMaster" Target="/ppt/notesMasters/notesMaster1.xml" Id="R695291eb961a416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73cc3680731409a" /><Relationship Type="http://schemas.openxmlformats.org/officeDocument/2006/relationships/notesMaster" Target="/ppt/notesMasters/notesMaster1.xml" Id="R69c3276183f04ee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d2ce731b660480d" /><Relationship Type="http://schemas.openxmlformats.org/officeDocument/2006/relationships/notesMaster" Target="/ppt/notesMasters/notesMaster1.xml" Id="R1098de427dd042fe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06fb8425c704a95" /><Relationship Type="http://schemas.openxmlformats.org/officeDocument/2006/relationships/notesMaster" Target="/ppt/notesMasters/notesMaster1.xml" Id="R7d1832492cf74b9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9d30f5d2dad49a9" /><Relationship Type="http://schemas.openxmlformats.org/officeDocument/2006/relationships/notesMaster" Target="/ppt/notesMasters/notesMaster1.xml" Id="R2c773e828f0f4db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c144eafa4c274066" /><Relationship Type="http://schemas.openxmlformats.org/officeDocument/2006/relationships/notesMaster" Target="/ppt/notesMasters/notesMaster1.xml" Id="Rf67c26d49825432d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e0c4e80e2a6480f" /><Relationship Type="http://schemas.openxmlformats.org/officeDocument/2006/relationships/notesMaster" Target="/ppt/notesMasters/notesMaster1.xml" Id="Rb12a63f2b6864cd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24052e91c07d4e0c" /><Relationship Type="http://schemas.openxmlformats.org/officeDocument/2006/relationships/notesMaster" Target="/ppt/notesMasters/notesMaster1.xml" Id="R39b5a7849ef24b39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f2f82cf3e544136" /><Relationship Type="http://schemas.openxmlformats.org/officeDocument/2006/relationships/notesMaster" Target="/ppt/notesMasters/notesMaster1.xml" Id="R5464aa7cb8a54f3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e189dd3ec3a4b72" /><Relationship Type="http://schemas.openxmlformats.org/officeDocument/2006/relationships/notesMaster" Target="/ppt/notesMasters/notesMaster1.xml" Id="Rc65f23be9f4e4d9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3a20fe6c4d24abc" /><Relationship Type="http://schemas.openxmlformats.org/officeDocument/2006/relationships/notesMaster" Target="/ppt/notesMasters/notesMaster1.xml" Id="Rc635e6e0162f46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345968d3584711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8da9319a50fd4e1d" /><Relationship Type="http://schemas.openxmlformats.org/officeDocument/2006/relationships/slideLayout" Target="/ppt/slideLayouts/slideLayout2.xml" Id="R92f53d0c7a1945c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2f53d0c7a1945c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af689d8e204f20" /><Relationship Type="http://schemas.openxmlformats.org/officeDocument/2006/relationships/image" Target="/ppt/media/image.png" Id="R1dd5441d356f49c6" /><Relationship Type="http://schemas.openxmlformats.org/officeDocument/2006/relationships/image" Target="/ppt/media/image2.png" Id="R1cbfa9046f1640dc" /><Relationship Type="http://schemas.openxmlformats.org/officeDocument/2006/relationships/notesSlide" Target="/ppt/notesSlides/notesSlide1.xml" Id="R77c6fc7ae26b4dd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955d1042d94451" /><Relationship Type="http://schemas.openxmlformats.org/officeDocument/2006/relationships/image" Target="/ppt/media/image3.png" Id="R06cf7a52af29491c" /><Relationship Type="http://schemas.openxmlformats.org/officeDocument/2006/relationships/notesSlide" Target="/ppt/notesSlides/notesSlide2.xml" Id="Rb871a597e1f244f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1161417cf64a6b" /><Relationship Type="http://schemas.openxmlformats.org/officeDocument/2006/relationships/image" Target="/ppt/media/image4.png" Id="Rc575edde6b024882" /><Relationship Type="http://schemas.openxmlformats.org/officeDocument/2006/relationships/notesSlide" Target="/ppt/notesSlides/notesSlide3.xml" Id="R4f2779ec42e64df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0370130d2a4783" /><Relationship Type="http://schemas.openxmlformats.org/officeDocument/2006/relationships/image" Target="/ppt/media/image5.png" Id="Rc60569f315f947dc" /><Relationship Type="http://schemas.openxmlformats.org/officeDocument/2006/relationships/notesSlide" Target="/ppt/notesSlides/notesSlide4.xml" Id="R5ebdcaad7baf41a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8d43c3ec9a49a7" /><Relationship Type="http://schemas.openxmlformats.org/officeDocument/2006/relationships/image" Target="/ppt/media/image6.png" Id="Rda51f4bc9c2b4d72" /><Relationship Type="http://schemas.openxmlformats.org/officeDocument/2006/relationships/notesSlide" Target="/ppt/notesSlides/notesSlide5.xml" Id="R6d474b14adda4e8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40ff3c0bc74158" /><Relationship Type="http://schemas.openxmlformats.org/officeDocument/2006/relationships/image" Target="/ppt/media/image7.png" Id="R3f396bcabd634214" /><Relationship Type="http://schemas.openxmlformats.org/officeDocument/2006/relationships/image" Target="/ppt/media/image8.png" Id="R8ae76ed1ec9c4209" /><Relationship Type="http://schemas.openxmlformats.org/officeDocument/2006/relationships/notesSlide" Target="/ppt/notesSlides/notesSlide6.xml" Id="R63dfa2a6f24b444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1a6ea5abb8433e" /><Relationship Type="http://schemas.openxmlformats.org/officeDocument/2006/relationships/image" Target="/ppt/media/image9.png" Id="R9394a5fde93e4642" /><Relationship Type="http://schemas.openxmlformats.org/officeDocument/2006/relationships/image" Target="/ppt/media/image10.png" Id="R82d7753e1a42450e" /><Relationship Type="http://schemas.openxmlformats.org/officeDocument/2006/relationships/notesSlide" Target="/ppt/notesSlides/notesSlide7.xml" Id="R50bc1e3e4fe24bf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f0e78d679541e1" /><Relationship Type="http://schemas.openxmlformats.org/officeDocument/2006/relationships/image" Target="/ppt/media/image11.png" Id="R1570984c26b14550" /><Relationship Type="http://schemas.openxmlformats.org/officeDocument/2006/relationships/image" Target="/ppt/media/image12.png" Id="R4fff2c1738b54a69" /><Relationship Type="http://schemas.openxmlformats.org/officeDocument/2006/relationships/notesSlide" Target="/ppt/notesSlides/notesSlide8.xml" Id="R01dbfdb3e25743b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cfd103baf64d4a" /><Relationship Type="http://schemas.openxmlformats.org/officeDocument/2006/relationships/image" Target="/ppt/media/image13.png" Id="R92391f4ce54b4d86" /><Relationship Type="http://schemas.openxmlformats.org/officeDocument/2006/relationships/image" Target="/ppt/media/image14.png" Id="Rafa30ae05f8146e6" /><Relationship Type="http://schemas.openxmlformats.org/officeDocument/2006/relationships/notesSlide" Target="/ppt/notesSlides/notesSlide9.xml" Id="R5ed68ba3f6de40b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42f8269d504a14" /><Relationship Type="http://schemas.openxmlformats.org/officeDocument/2006/relationships/image" Target="/ppt/media/image15.png" Id="R7c851e3502a443a1" /><Relationship Type="http://schemas.openxmlformats.org/officeDocument/2006/relationships/notesSlide" Target="/ppt/notesSlides/notesSlide10.xml" Id="R844bdef98a0145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b37b016f3044b6" /><Relationship Type="http://schemas.openxmlformats.org/officeDocument/2006/relationships/image" Target="/ppt/media/image16.png" Id="Red3ea36d6b6a4470" /><Relationship Type="http://schemas.openxmlformats.org/officeDocument/2006/relationships/notesSlide" Target="/ppt/notesSlides/notesSlide11.xml" Id="R8ce1d5f86f2e435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2f9f47657e44be" /><Relationship Type="http://schemas.openxmlformats.org/officeDocument/2006/relationships/image" Target="/ppt/media/image17.png" Id="R89d9a3163ed54a72" /><Relationship Type="http://schemas.openxmlformats.org/officeDocument/2006/relationships/image" Target="/ppt/media/image18.png" Id="R2e4ac20960d9478b" /><Relationship Type="http://schemas.openxmlformats.org/officeDocument/2006/relationships/notesSlide" Target="/ppt/notesSlides/notesSlide12.xml" Id="R4f5b8bf592a84ca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7b01b958d84632" /><Relationship Type="http://schemas.openxmlformats.org/officeDocument/2006/relationships/image" Target="/ppt/media/image19.png" Id="Rbce165290e29431e" /><Relationship Type="http://schemas.openxmlformats.org/officeDocument/2006/relationships/notesSlide" Target="/ppt/notesSlides/notesSlide13.xml" Id="R2ffc139619fe48a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4f56724f0f4666" /><Relationship Type="http://schemas.openxmlformats.org/officeDocument/2006/relationships/image" Target="/ppt/media/image20.png" Id="Rd1fbd6d3a5924c3f" /><Relationship Type="http://schemas.openxmlformats.org/officeDocument/2006/relationships/image" Target="/ppt/media/image21.png" Id="Rac7194a6169e454d" /><Relationship Type="http://schemas.openxmlformats.org/officeDocument/2006/relationships/notesSlide" Target="/ppt/notesSlides/notesSlide14.xml" Id="Rcde697c40b1a4d9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d58f1eb16f450f" /><Relationship Type="http://schemas.openxmlformats.org/officeDocument/2006/relationships/image" Target="/ppt/media/image22.png" Id="Rd7ed973c723c43e3" /><Relationship Type="http://schemas.openxmlformats.org/officeDocument/2006/relationships/image" Target="/ppt/media/image23.png" Id="Ra6de4ea53fcb4c87" /><Relationship Type="http://schemas.openxmlformats.org/officeDocument/2006/relationships/notesSlide" Target="/ppt/notesSlides/notesSlide15.xml" Id="R50a92999a1394bf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da4882800d42b8" /><Relationship Type="http://schemas.openxmlformats.org/officeDocument/2006/relationships/image" Target="/ppt/media/image24.png" Id="R842751626e73446c" /><Relationship Type="http://schemas.openxmlformats.org/officeDocument/2006/relationships/image" Target="/ppt/media/image25.png" Id="R49c33cfbf56c4556" /><Relationship Type="http://schemas.openxmlformats.org/officeDocument/2006/relationships/notesSlide" Target="/ppt/notesSlides/notesSlide16.xml" Id="R7713fd008f7c4db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4bb262ad5d4bcd" /><Relationship Type="http://schemas.openxmlformats.org/officeDocument/2006/relationships/image" Target="/ppt/media/image26.png" Id="R4a10f9542e534085" /><Relationship Type="http://schemas.openxmlformats.org/officeDocument/2006/relationships/notesSlide" Target="/ppt/notesSlides/notesSlide17.xml" Id="R752510433888409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d6549d7b1245ce" /><Relationship Type="http://schemas.openxmlformats.org/officeDocument/2006/relationships/image" Target="/ppt/media/image27.png" Id="R74b9eb9003444d67" /><Relationship Type="http://schemas.openxmlformats.org/officeDocument/2006/relationships/image" Target="/ppt/media/image28.png" Id="Rcd32e8f014a94442" /><Relationship Type="http://schemas.openxmlformats.org/officeDocument/2006/relationships/notesSlide" Target="/ppt/notesSlides/notesSlide18.xml" Id="R0471300f9a78486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0d9980ad0c46d9" /><Relationship Type="http://schemas.openxmlformats.org/officeDocument/2006/relationships/image" Target="/ppt/media/image29.png" Id="R33fb3c7ee79549c6" /><Relationship Type="http://schemas.openxmlformats.org/officeDocument/2006/relationships/image" Target="/ppt/media/image30.png" Id="R50319e858bdc4928" /><Relationship Type="http://schemas.openxmlformats.org/officeDocument/2006/relationships/notesSlide" Target="/ppt/notesSlides/notesSlide19.xml" Id="Rcddef3451645489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3f43a561b441d1" /><Relationship Type="http://schemas.openxmlformats.org/officeDocument/2006/relationships/image" Target="/ppt/media/image31.png" Id="R7ed53264aa744dcf" /><Relationship Type="http://schemas.openxmlformats.org/officeDocument/2006/relationships/notesSlide" Target="/ppt/notesSlides/notesSlide20.xml" Id="Rc6fae080c85940c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0ef6cfbde34c87" /><Relationship Type="http://schemas.openxmlformats.org/officeDocument/2006/relationships/image" Target="/ppt/media/image32.png" Id="R4ae71904d9f240ca" /><Relationship Type="http://schemas.openxmlformats.org/officeDocument/2006/relationships/image" Target="/ppt/media/image33.png" Id="Ra85ed872f5ea4dee" /><Relationship Type="http://schemas.openxmlformats.org/officeDocument/2006/relationships/notesSlide" Target="/ppt/notesSlides/notesSlide21.xml" Id="Rd1d669f76d9c4c8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6f224bba8e49b3" /><Relationship Type="http://schemas.openxmlformats.org/officeDocument/2006/relationships/image" Target="/ppt/media/image34.png" Id="R6b5850bc548b46ef" /><Relationship Type="http://schemas.openxmlformats.org/officeDocument/2006/relationships/notesSlide" Target="/ppt/notesSlides/notesSlide22.xml" Id="R0c8ca82196084ea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74dae117f7419f" /><Relationship Type="http://schemas.openxmlformats.org/officeDocument/2006/relationships/image" Target="/ppt/media/image35.png" Id="R232a57e1f15247a4" /><Relationship Type="http://schemas.openxmlformats.org/officeDocument/2006/relationships/notesSlide" Target="/ppt/notesSlides/notesSlide23.xml" Id="R3635d7be8b654dc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24f66270d847ed" /><Relationship Type="http://schemas.openxmlformats.org/officeDocument/2006/relationships/image" Target="/ppt/media/image36.png" Id="Rc7f09bddf9ae48f8" /><Relationship Type="http://schemas.openxmlformats.org/officeDocument/2006/relationships/notesSlide" Target="/ppt/notesSlides/notesSlide24.xml" Id="R55e49fbc7406425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84157947b74c49" /><Relationship Type="http://schemas.openxmlformats.org/officeDocument/2006/relationships/image" Target="/ppt/media/image37.png" Id="R05b3ba1fab5b46d6" /><Relationship Type="http://schemas.openxmlformats.org/officeDocument/2006/relationships/notesSlide" Target="/ppt/notesSlides/notesSlide25.xml" Id="R5c4d68912e294ce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2b7212a84c45ed" /><Relationship Type="http://schemas.openxmlformats.org/officeDocument/2006/relationships/image" Target="/ppt/media/image38.png" Id="Ra1de8a37a3f2484e" /><Relationship Type="http://schemas.openxmlformats.org/officeDocument/2006/relationships/notesSlide" Target="/ppt/notesSlides/notesSlide26.xml" Id="Rc09553b829b046a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b11bd9709d45a3" /><Relationship Type="http://schemas.openxmlformats.org/officeDocument/2006/relationships/image" Target="/ppt/media/image39.png" Id="R468803e75a524424" /><Relationship Type="http://schemas.openxmlformats.org/officeDocument/2006/relationships/notesSlide" Target="/ppt/notesSlides/notesSlide27.xml" Id="Rb5bcd6710c324b3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598358203d4f8a" /><Relationship Type="http://schemas.openxmlformats.org/officeDocument/2006/relationships/image" Target="/ppt/media/image40.png" Id="R855f292fb1a5487a" /><Relationship Type="http://schemas.openxmlformats.org/officeDocument/2006/relationships/notesSlide" Target="/ppt/notesSlides/notesSlide28.xml" Id="R4c1861659df3429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14ebe182fd498a" /><Relationship Type="http://schemas.openxmlformats.org/officeDocument/2006/relationships/image" Target="/ppt/media/image41.png" Id="R219802392b364a1d" /><Relationship Type="http://schemas.openxmlformats.org/officeDocument/2006/relationships/notesSlide" Target="/ppt/notesSlides/notesSlide29.xml" Id="R267a9f8a0ad84e7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6debfcd61444c8" /><Relationship Type="http://schemas.openxmlformats.org/officeDocument/2006/relationships/image" Target="/ppt/media/image42.png" Id="Rea1ac10aec9c4d8e" /><Relationship Type="http://schemas.openxmlformats.org/officeDocument/2006/relationships/notesSlide" Target="/ppt/notesSlides/notesSlide30.xml" Id="R32b3533900ea4f2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89b5ccfaa24e3a" /><Relationship Type="http://schemas.openxmlformats.org/officeDocument/2006/relationships/image" Target="/ppt/media/image43.png" Id="R6fdc2ec647384476" /><Relationship Type="http://schemas.openxmlformats.org/officeDocument/2006/relationships/notesSlide" Target="/ppt/notesSlides/notesSlide31.xml" Id="Rbfbc7014aeba4d22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d57fb80fb44f3b" /><Relationship Type="http://schemas.openxmlformats.org/officeDocument/2006/relationships/image" Target="/ppt/media/image44.png" Id="R3482058f524d4924" /><Relationship Type="http://schemas.openxmlformats.org/officeDocument/2006/relationships/image" Target="/ppt/media/image45.png" Id="Rb6527e79527b4001" /><Relationship Type="http://schemas.openxmlformats.org/officeDocument/2006/relationships/notesSlide" Target="/ppt/notesSlides/notesSlide32.xml" Id="Rc11dcd21024143c8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3774fe64e84936" /><Relationship Type="http://schemas.openxmlformats.org/officeDocument/2006/relationships/image" Target="/ppt/media/image46.png" Id="R99a9ab93edfd4405" /><Relationship Type="http://schemas.openxmlformats.org/officeDocument/2006/relationships/image" Target="/ppt/media/image47.png" Id="R386597657b614c0d" /><Relationship Type="http://schemas.openxmlformats.org/officeDocument/2006/relationships/notesSlide" Target="/ppt/notesSlides/notesSlide33.xml" Id="R7b484430c66e4b76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070e2bb64c4fec" /><Relationship Type="http://schemas.openxmlformats.org/officeDocument/2006/relationships/image" Target="/ppt/media/image48.png" Id="R915ecd924f754263" /><Relationship Type="http://schemas.openxmlformats.org/officeDocument/2006/relationships/notesSlide" Target="/ppt/notesSlides/notesSlide34.xml" Id="Re7230a0f44be4899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f97a6f2a9d4381" /><Relationship Type="http://schemas.openxmlformats.org/officeDocument/2006/relationships/image" Target="/ppt/media/image49.png" Id="R49168ac2410a41c7" /><Relationship Type="http://schemas.openxmlformats.org/officeDocument/2006/relationships/notesSlide" Target="/ppt/notesSlides/notesSlide35.xml" Id="R0e4b6a82b015422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E154E6-9B40-4A3F-BDC7-446C6CE74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55C17C-C40F-417D-8F0C-C211346B5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d5441d356f49c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FA9A7F-454B-409B-BF26-D8917D4D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68580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Can we design a stellarator by following gradients?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E0714D-0170-4F37-942A-20A68A85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527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DC79C7-B254-4D87-B821-9AD23E87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81940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Lecture 1: what the optimizer actually sees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4BFF73-2FAE-4E3B-ACB6-2D53966C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3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3622A5-59F2-41ED-B05C-3D3625550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Equilibrium, Boozer spectrum, and metrics become the design language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40A769-CC41-40FF-9632-B2A69B6D6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9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57267D-57DA-4BB8-A308-FC2F39411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Docs: https://sos2026-rjorge-stellarator-optimization.readthedocs.io/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4C4E11-2B1B-47E6-9A73-F770E4B1B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66800"/>
            <a:ext cx="41719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bfa9046f1640dc"/>
          <a:stretch xmlns:a="http://schemas.openxmlformats.org/drawingml/2006/main"/>
        </p:blipFill>
        <p:spPr>
          <a:xfrm xmlns:a="http://schemas.openxmlformats.org/drawingml/2006/main">
            <a:off x="7277100" y="1682225"/>
            <a:ext cx="3752850" cy="18743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09DF36-5603-468F-A33C-DDB49906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76900"/>
            <a:ext cx="12192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078F4E-75DA-466F-BB56-4385834BD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24550"/>
            <a:ext cx="542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CEA-IRFM / Renaissance Fusion School on Stellarators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CE456C-C39C-4263-B7C9-CBFB68BC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Aix-en-Provence,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FD48E1-5700-4350-B541-B3B6B597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0388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Rogerio Jorge, University of Wisconsin-Madison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458DB3-18C0-485D-9F5F-5D6674A57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Repo: github.com/rogeriojorge/sos2026-rjorge-stellarator-optimization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8D7A86-124B-4AC4-9F11-D735C9277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286500"/>
            <a:ext cx="3714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Docs: 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26F0DD-A501-4E9E-A77E-459F8CD60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Slide 01</a:t>
            </a:r>
          </a:p>
        </p:txBody>
      </p:sp>
    </p:spTree>
    <p:extLst>
      <p:ext uri="{BB962C8B-B14F-4D97-AF65-F5344CB8AC3E}">
        <p14:creationId xmlns:p14="http://schemas.microsoft.com/office/powerpoint/2010/main" val="13861362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7A038E-C714-4B8D-95CE-18B0FC83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A90ACB-3EE1-4028-B136-2AB9D9292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cf7a52af29491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F4F054-6DB4-45B8-AAEA-8237246BF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2D8841-E1B1-49BF-A5E5-D5D790A0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00BDDE-1E7A-4A2B-B7C9-1258EF741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1. From field lines to hidden symmetry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1DC373-158A-4BA8-AA8B-9F2AC8AB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9DD00C-4174-47BC-A7F7-09C9EC06B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7755B1-A650-4478-8A64-D1D5D395A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Goal: turn confinement physics into computable objectives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4B4462-540B-4EDF-A122-7BC0FB07A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211C25-DE94-417E-9661-A401734ED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Caveat: geometry freedom creates an inverse problem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05F3F2-BDCE-43F0-B573-D4077395C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34E954-3867-4013-AB7C-C613768F1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87BF4D-A9D6-4BA8-BE2C-1910D8BAC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0924AB-CA92-403F-9600-CCF7AA2EB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9BFD36-3A53-463C-87CB-98EE7427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02</a:t>
            </a:r>
          </a:p>
        </p:txBody>
      </p:sp>
    </p:spTree>
    <p:extLst>
      <p:ext uri="{BB962C8B-B14F-4D97-AF65-F5344CB8AC3E}">
        <p14:creationId xmlns:p14="http://schemas.microsoft.com/office/powerpoint/2010/main" val="130413842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0CC083-56C6-40CF-B96B-4A19AF7FE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2F31A-D3F2-4999-A525-9EF8E4C66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75edde6b02488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430AFE-6978-45BD-A3C0-784628A89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8953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Metrics are compressed physics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612CAF-9B97-4CD1-AA18-9526C320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029473-0E60-4819-B629-CE988585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DE1450-53E7-46C8-9BC6-F8ED7AD9F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695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They are useful only when we know what was compressed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1DC693-0334-479B-87C8-9AE2CB1B7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7A2DD4-55C9-41D4-B10E-17900CDB2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CBAA17-6BA7-4130-8F46-C0F610ED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99ED61-7A4E-417A-BCD6-6BF9E3C82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9D3E3D-61C3-4B41-ABF0-06F7DD508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03</a:t>
            </a:r>
          </a:p>
        </p:txBody>
      </p:sp>
    </p:spTree>
    <p:extLst>
      <p:ext uri="{BB962C8B-B14F-4D97-AF65-F5344CB8AC3E}">
        <p14:creationId xmlns:p14="http://schemas.microsoft.com/office/powerpoint/2010/main" val="58590561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B75CEA-5F0F-42F6-AC13-69695B28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0BECA7-5E1F-4544-A335-CC4CE907D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0569f315f947d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105938-A577-46ED-9FA9-8E830D49F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Three literature gates shape the 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90F93D-D7C6-4029-8C7C-74D980449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553C4C-FEBB-4BD1-8D7D-D991B361A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434A6D-B4BB-4DD2-B99D-0FAB548BA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8AC9FD-26B1-4980-A591-D095BD93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4F6A2E-DEF3-497C-B8AA-4A59A5006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F52392-9EFF-499D-BB6F-0FD5FD6E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5FFDB0-32C6-4514-A186-9B36A9C80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D7E88E-F92D-46E3-99E2-FED7ED3C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Precise quasisymmetry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B3EEC0-0EC3-4CAF-8A53-763BAA44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make the Boozer spectrum sparse, then test what remains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212F4-553C-4805-8140-78EA5E98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092FC9-5C96-4B64-ABC4-2DCF8686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9E70AC-879E-49AE-88A3-2D8E6179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Good magnetic surfaces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38C594-A67D-438C-9CAB-E5D2C70E3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compare surface-based objectives with island and chaos diagnostics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D5DA64-1B2B-4731-85CD-B4D2F796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812703-39EE-4032-B4FA-71B6AAB63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E73335-DE17-4896-A6D8-895DC7CA4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W7-X validation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CCE62E-74AE-4186-93A6-55D9790BF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reduced neoclassical transport is real progress, but it is one gate in the loop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566999-B68C-4F25-9275-BF936009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F8967D-1275-49CC-9BD5-F449B149E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8DDD7A-BFD7-4933-97A5-58E934A3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E8E6BF-DE82-48EF-8CE8-904D1BC8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AA89B8-07B4-4876-8B0F-DBB029022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0120E0-A646-4D81-9617-1017CD66D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Refs: Landreman &amp; Paul PRL 128, 035001 (2022); Landreman et al. Phys. Plasmas 28, 092505 (2021); Beidler et al. Nature 596, 221-226 (2021).</a:t>
            </a:r>
          </a:p>
        </p:txBody>
      </p:sp>
    </p:spTree>
    <p:extLst>
      <p:ext uri="{BB962C8B-B14F-4D97-AF65-F5344CB8AC3E}">
        <p14:creationId xmlns:p14="http://schemas.microsoft.com/office/powerpoint/2010/main" val="58118927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13ED7C-224B-400A-8CEB-6B9FE6CFE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5371BC-F482-4F8F-A326-06DBC1D90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51f4bc9c2b4d7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0C7935-31E0-4A86-BB47-C0BF3195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optimizer sees artifacts with provenance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1A9800-E4C7-48F4-A61E-697E5222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B1BEDC-975A-4409-B1C4-E33A50782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9525">
            <a:solidFill>
              <a:srgbClr val="C5050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4F6D23-0B16-40C1-B3C6-F076AD78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575BE2-6B9B-4A69-A3EC-8BD612CF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B1534D-BA92-41CA-A763-2AA5FB71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EDFA1C-B355-414A-BB50-0E13D9077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Boozer spectrum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07DF66-020F-4472-9FE6-B71A6AF8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07BD9C-8DC7-4931-ABEC-23F5F4D3F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CB72A1-EDD7-45E4-A618-918A49758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3D3AC7-42D5-4EC7-8314-61A572D71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4DC6CB-96B4-4F3A-9072-2366D370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6F5312-0A19-4C1A-B2EA-0B1117559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435804-D16E-4DFF-9819-02C5918E1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824838-336F-444F-9985-B8CE6971C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E72EAD-E295-433D-9351-82B13A460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AC1336-6F89-4B0A-BE4A-4E60C0DE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E30A1F-F7B1-4D40-8C97-ACC8A786E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3EDEEF-12D9-4CBE-987E-EFC3E9D5A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7EF45F-3479-4652-A7DA-71F2081F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1D1DDD-7E5A-46B5-8108-0F491C342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882B70-8348-412A-AADA-D67DC55B1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6AE5A0-883E-4AA6-8DE0-F5110A1A5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95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3F6DA5-4054-4006-AC85-1E9528FF7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910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Boundary and profiles create an equilibrium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35C5A0-26B2-4E1E-A488-725EF8C4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910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264E9D-8295-488B-905A-AECA88999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863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Spectra and scalars turn physics into objectives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0BA71F-B496-4B68-90CE-6DD5C2511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86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2F63E1-5D65-4BED-BC4C-DB1BBC2C6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816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Every scalar needs a validation gate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BEE2A7-9789-4436-B606-6E9B91262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CA56C5-4193-4E71-82BA-A285387A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679A701-7B55-4B05-B6BD-0AAAAF3BF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2139D1-FA32-4BA2-8208-C089A019A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4A6AE2-4996-4F6F-8EF4-1E4CC381E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05</a:t>
            </a:r>
          </a:p>
        </p:txBody>
      </p:sp>
    </p:spTree>
    <p:extLst>
      <p:ext uri="{BB962C8B-B14F-4D97-AF65-F5344CB8AC3E}">
        <p14:creationId xmlns:p14="http://schemas.microsoft.com/office/powerpoint/2010/main" val="70263048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450BAE-C41E-4CCD-AB36-90933632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CC3255-F062-464A-89D6-33A1D78B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99060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396bcabd634214"/>
          <a:stretch xmlns:a="http://schemas.openxmlformats.org/drawingml/2006/main"/>
        </p:blipFill>
        <p:spPr>
          <a:xfrm xmlns:a="http://schemas.openxmlformats.org/drawingml/2006/main">
            <a:off x="1900767" y="1676400"/>
            <a:ext cx="7476067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93C3C2-6287-4D33-8C27-8F1D4F598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483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FBBE90-6B44-4708-AFD6-919CCA86E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543550"/>
            <a:ext cx="819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A visible surface is a design variable, not yet a validated device.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BB21E4-662B-487B-99E7-B4E84A37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e76ed1ec9c420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8E05C4-A833-45B5-AAF9-06F948335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first object is a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409C01-E209-48FD-9BD7-400D06E8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79D369-E67D-4C81-8459-37A3BF6B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76B5C3-E484-4B14-A132-D23F5E6A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B9A543-0DB4-4350-9BDC-8356477CB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95882-ABF9-48F7-A9AF-CFE760A9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1DA3CF-3711-4A3B-9189-C8BA6F021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CB23BD-16A1-4F7E-8F81-2BA2A2A45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VMEC background: Hirshman &amp; Whitson, Phys. Fluids 26, 3553 (1983); public cases from landreman/vmec_equilibria.</a:t>
            </a:r>
          </a:p>
        </p:txBody>
      </p:sp>
    </p:spTree>
    <p:extLst>
      <p:ext uri="{BB962C8B-B14F-4D97-AF65-F5344CB8AC3E}">
        <p14:creationId xmlns:p14="http://schemas.microsoft.com/office/powerpoint/2010/main" val="62180950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FADF85-E81A-4091-88D6-5D7164F6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3E5C2A-C5D0-4FEC-9DF2-3775A6FF9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99060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94a5fde93e4642"/>
          <a:stretch xmlns:a="http://schemas.openxmlformats.org/drawingml/2006/main"/>
        </p:blipFill>
        <p:spPr>
          <a:xfrm xmlns:a="http://schemas.openxmlformats.org/drawingml/2006/main">
            <a:off x="1676400" y="1676400"/>
            <a:ext cx="7924800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6DF7CA-DB9B-48C7-A085-A3AC4757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483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EB15BE-ACAE-4DD9-BA2B-6A4F9AB4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543550"/>
            <a:ext cx="819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 reference case anchors the design discussion without duplicating geometry lectures.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E8C2CD-CE6A-4194-9011-BCD33AEA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d7753e1a42450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4F9315-A9C1-4230-85E2-5AAEC47B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W7-X is the reference case to keep in mind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F4D43E-16FA-41D3-B6DB-2E260960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EC5D77-1877-4B38-9CEA-24EFA244B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4CF9DE-F56A-4EB9-A5A4-8711A2B93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CEBFD6-1F9E-4CE0-B081-7DCD3DCC6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37554D-6340-4034-900E-7E4B54F7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FE46E7-8567-47A7-B24F-80EF8258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8D3C5A-BEF7-4701-93BB-9DEB393DA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Beidler et al., Nature 596, 221-226 (2021), reduced neoclassical energy transport in W7-X.</a:t>
            </a:r>
          </a:p>
        </p:txBody>
      </p:sp>
    </p:spTree>
    <p:extLst>
      <p:ext uri="{BB962C8B-B14F-4D97-AF65-F5344CB8AC3E}">
        <p14:creationId xmlns:p14="http://schemas.microsoft.com/office/powerpoint/2010/main" val="25129830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8BF2BD-11F7-4EB0-9951-2E1C22A0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5975E8-9E17-49B2-9A09-0040D13F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70984c26b14550"/>
          <a:stretch xmlns:a="http://schemas.openxmlformats.org/drawingml/2006/main"/>
        </p:blipFill>
        <p:spPr>
          <a:xfrm xmlns:a="http://schemas.openxmlformats.org/drawingml/2006/main">
            <a:off x="1172441" y="1695450"/>
            <a:ext cx="6037118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4AABD9-268D-4153-B1FB-3F2C111CE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FDA7F0-61C5-44D3-B798-6FAEC436B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E87A0D-62B7-4F2E-920B-93DEA73B0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pitch before optimizing spectra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D05809-5BCC-482D-B372-D36F2EFDE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93980E-83CE-44E6-8D48-8ACB9E21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Watch low-order rational surfaces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6FB3A0-D208-4D15-98CE-88CC10DD4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26E40A-1103-4EBB-B8CF-5668DE42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A profile can be a constraint, an objective, or a diagnostic.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5459A1-20F2-4880-AEBE-0857E191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f2c1738b54a6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FF6CAA-C9E1-42B0-9557-DD12A7AA3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Rotational transform is an optimization target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C1B297-9DD3-4E34-B52C-899DE6FC4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932CCC-2D9B-4CBB-8D92-E3C54EF5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A1FCAD-AF1E-4CC2-AE09-C2F8BF386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0EEB34-0004-49A6-91E4-46D8A5D7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D38EEA-CE05-42E9-8B8B-9E12E78E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C90726-EF44-4B2B-9447-F6B84C95E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531983-7E21-42AB-BA0E-B8BF8D64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Landreman, Medasani &amp; Zhu, Phys. Plasmas 28, 092505 (2021), good surfaces and quasisymmetry together.</a:t>
            </a:r>
          </a:p>
        </p:txBody>
      </p:sp>
    </p:spTree>
    <p:extLst>
      <p:ext uri="{BB962C8B-B14F-4D97-AF65-F5344CB8AC3E}">
        <p14:creationId xmlns:p14="http://schemas.microsoft.com/office/powerpoint/2010/main" val="90753337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5AC9D9-3737-4893-99C9-7A1E78301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9F8BB3-9F57-4829-8069-DBC36A6BE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391f4ce54b4d86"/>
          <a:stretch xmlns:a="http://schemas.openxmlformats.org/drawingml/2006/main"/>
        </p:blipFill>
        <p:spPr>
          <a:xfrm xmlns:a="http://schemas.openxmlformats.org/drawingml/2006/main">
            <a:off x="1023212" y="1695450"/>
            <a:ext cx="6335577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A5765C-BFCE-4C5B-BDB8-CE0B3A7D2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D96877-AA00-4CF7-88C8-86B67E323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A34D98-7D51-428F-8718-58EF7643D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One knob changes QS residual and aspect ratio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65CC65-B5B1-43C3-828B-6EA5493C2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A0F07B-51CA-4339-B43F-30485EEC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This is the gradient intuition for stage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16B757-215F-41FC-B137-5A768FC0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4CF13B-CF1D-442A-BF29-7F7C5F79F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 optimizer needs knobs whose effects can be measured.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91A624-8185-4125-AC9B-20D87F608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a30ae05f8146e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791AFB-3D28-4BE2-A0D5-737BF436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 small boundary mode can move the objective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165271-E7FA-48A9-A2FF-5BBBD7BB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57DE13-D570-4C5D-941A-B9E86E89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734CE8-72A2-481B-B73E-8867589A1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BB729F-99F3-4DB6-BB42-146BA9A7E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00CC5F-DAAD-4BE6-BD79-6B7BFCC79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81A8F2-AF12-4B2C-B1F1-1CE1A4214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09</a:t>
            </a:r>
          </a:p>
        </p:txBody>
      </p:sp>
    </p:spTree>
    <p:extLst>
      <p:ext uri="{BB962C8B-B14F-4D97-AF65-F5344CB8AC3E}">
        <p14:creationId xmlns:p14="http://schemas.microsoft.com/office/powerpoint/2010/main" val="93653737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3D798F-9F32-48BB-9D7A-0917E5F4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775C6E-769D-4559-BC07-21C59BBB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58DA83-65F2-43A2-B069-5F922071B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82E49-9F7C-40CD-ABF2-EA9A3AB4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473C0C-F6FC-4FA0-8D9C-EB0B74AB8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82C623-2CD7-45C0-BF65-E339AA731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Record resolution and residuals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C4DEBC-240C-4169-B775-D1B42D85A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ECEB89-646E-4395-9DB3-2C037221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 not compare designs before the solve is trustworthy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66A82B-777E-4261-A610-A906A6766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512E12-8EF2-44C2-B656-6E4146596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Cached mode keeps the teaching path alive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F1C72A-51E3-4AC0-BDDB-9BC4C4116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3FA920-101D-4F58-9761-19EC8539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2A7704-2C4B-453A-BB03-AB04AACE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851e3502a443a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02D52B-D6F4-4F7F-AA3C-1A96F758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Equilibrium convergence is part of the result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E903DB-F8E1-4D54-B4B8-36794C925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D3EF7B-AA39-4649-97D1-C4AA5732D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348726-053E-483E-AA7C-891A71A0E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532BA0-BEF9-4F43-824C-D3CF7278B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1A4802-F74E-4790-B03E-A813009E8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EA9B5D-C388-4C0F-B2F6-A7972E084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10</a:t>
            </a:r>
          </a:p>
        </p:txBody>
      </p:sp>
    </p:spTree>
    <p:extLst>
      <p:ext uri="{BB962C8B-B14F-4D97-AF65-F5344CB8AC3E}">
        <p14:creationId xmlns:p14="http://schemas.microsoft.com/office/powerpoint/2010/main" val="13227751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61E99B-ECBB-4D1C-87F7-6FC1551B2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8F2EBD-A6C6-423C-8414-FB25C17B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3ea36d6b6a447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1DD3A3-46B0-4E5F-A00E-2C78CB90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wout file is the first checked artifact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16B54B-1CD8-46F6-ABF4-1500E52F5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939257-94FC-463A-8EE1-BD6C5482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798021-0B18-48A8-8440-72E8828A0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C58EEE-DD96-4D05-A2AD-777EAE802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C8F991-C878-48F9-807A-E4ADD1820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B2F0C2-2C7D-4573-AADF-E715DEB2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D66F0C-5426-4DE1-B026-685370F2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Inspect dimensions, surfaces, and mode counts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85CBEC-7B2D-46FE-B534-E732B7D9F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84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C62685-75A3-415D-A6F0-4B2BB16D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7970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public HSX/W7-X files when present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CDC83-0FAD-4E16-B692-F52F41B02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78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DCCC2F-3767-46D0-A13F-BB09FA4F5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734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Record what was actually read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3F772C-5DFF-49DE-A5A0-76CA2326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85C214-A328-4118-B546-C592A636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0339D9-FFC3-4175-BA89-60AC5733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2A20C2-137B-4B9E-B88F-18F94572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BEA871-1BCB-432C-B274-74BDCAB0B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11</a:t>
            </a:r>
          </a:p>
        </p:txBody>
      </p:sp>
    </p:spTree>
    <p:extLst>
      <p:ext uri="{BB962C8B-B14F-4D97-AF65-F5344CB8AC3E}">
        <p14:creationId xmlns:p14="http://schemas.microsoft.com/office/powerpoint/2010/main" val="139364909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C7D1BE-719F-4906-B307-3F6966AD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FC1ADB-1864-4491-8411-D9B413FB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d9a3163ed54a7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5C0283-2294-459C-B151-201F577EA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Demo break: first equilibrium object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943F45-AA2E-481C-A8A6-064DA3C73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E1CC4D-4CF4-4B7C-923C-EBD20E3E7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8C777A-CFFF-4699-B709-19924F26D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2A17B9-B228-460B-B4BB-44F51740B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8C193B-8F2D-453B-8D60-D00B94EC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notebooks/01_vmec_jax_first_equilibrium.ipynb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D8478F-690F-44D4-B009-2A9C6A53A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45CE81-DC15-4F7B-848B-DACA16B19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Locate the HSX wout 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ADBC2F-6CA9-4063-9B93-FC06A776B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1C2BE0-67CF-477C-92BD-F1409ACA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surface and iota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BAFFD8-0B5C-40F4-BA2C-E1D57025F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95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CCA533-845B-4F53-8BCA-8048CBFD4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910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boundary-mode proxy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4ac20960d9478b"/>
          <a:stretch xmlns:a="http://schemas.openxmlformats.org/drawingml/2006/main"/>
        </p:blipFill>
        <p:spPr>
          <a:xfrm xmlns:a="http://schemas.openxmlformats.org/drawingml/2006/main">
            <a:off x="5745616" y="1657350"/>
            <a:ext cx="5082268" cy="31432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75639D-DB81-47CA-8525-E131ACCE9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43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2FED1D-6A4C-4041-96AD-CAD0E97A5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67325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Cached mode first. Repo: https://github.com/rogeriojorge/sos2026-rjorge-stellarator-optimization | Docs: https://sos2026-rjorge-stellarator-optimization.readthedocs.io/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075BDD-582C-44D4-B52B-86BC5F237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BB3D85-E593-46AB-BA34-9FFBF250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3B60E9-3C5E-41EE-9282-5AAEBAF9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01A722-7C7B-4E15-81B7-CADA72980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A15DDF-FABA-4F4A-AB0F-3DC2A833D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12</a:t>
            </a:r>
          </a:p>
        </p:txBody>
      </p:sp>
    </p:spTree>
    <p:extLst>
      <p:ext uri="{BB962C8B-B14F-4D97-AF65-F5344CB8AC3E}">
        <p14:creationId xmlns:p14="http://schemas.microsoft.com/office/powerpoint/2010/main" val="88935187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271077-BD2B-4DCF-A00B-2BA332E9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455F86-02FA-4DE4-95D0-576810CAD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e165290e29431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6277EE-C480-4920-825D-3E5AB21D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859508-2B7F-4ACA-884A-BA10D59F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3CE0DF-2C8F-4B6D-836D-34D48B6AE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2. Boozer coordinates make symmetry measurable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5E53A0-963B-4CAF-BC6C-D4A635245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F755FE-2484-460A-BBE9-0A994979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768E46-F2A1-460B-A031-15A067B0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spectrum turns geometry into a table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BE1737-7CA1-421C-A7E6-4D700022D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B4F047-6882-4574-B113-8E8662D6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Bad modes become penalties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2CBDDF-57EE-469C-B9C5-31219335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19C694-6506-4D81-9781-C58ED8B2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DB1222-97BC-4B73-A6D6-E3BE5821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4B3AE4-416E-4205-BCAA-3599F2B9B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0D77B4-5A2D-4C45-A460-E9ADD408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13</a:t>
            </a:r>
          </a:p>
        </p:txBody>
      </p:sp>
    </p:spTree>
    <p:extLst>
      <p:ext uri="{BB962C8B-B14F-4D97-AF65-F5344CB8AC3E}">
        <p14:creationId xmlns:p14="http://schemas.microsoft.com/office/powerpoint/2010/main" val="190544388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7AB691-6E4C-4583-A5E5-A117D4F3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C6CB0C-5057-4F63-8BA5-2847181B4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fbd6d3a5924c3f"/>
          <a:stretch xmlns:a="http://schemas.openxmlformats.org/drawingml/2006/main"/>
        </p:blipFill>
        <p:spPr>
          <a:xfrm xmlns:a="http://schemas.openxmlformats.org/drawingml/2006/main">
            <a:off x="1387838" y="1695450"/>
            <a:ext cx="5606323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C1A3A6-F3D6-4B80-992B-F5ADAC7DB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524D00-5942-44C2-B243-F840492D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72DDF9-E6C8-47BC-9C40-27EDB94A2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Clean bands suggest the intended symmetry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DD25FB-BD8D-460C-8FE2-87B001F6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FBD876-E25F-4B1D-A9B8-557942C6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Broken bands warn before the scalar metric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9986EC-27DF-47BB-9464-2F2A8C5BB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07CA1A-B671-4969-A2D2-C147560C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This contour is a teaching diagnostic, not a fresh Boozer transform.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B959B1-A873-4502-8DED-0A26AF6E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7194a6169e454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E1135D-8CB5-41E8-8A76-F4C6ACAFE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Boozer coordinates make symmetry visible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C72E8C-7A3F-438B-A67F-AE6E0AAC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98BAB4-DD9B-45E4-9F9A-C9B536CC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3B9F4B-28B0-43E6-BC97-80FAC288E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2F9ACB-6382-4053-9E7D-F32705C5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118677-C6B7-4D18-ABFA-E38C876D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F2C8CE-62A7-4588-8EA2-B53EB06C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14</a:t>
            </a:r>
          </a:p>
        </p:txBody>
      </p:sp>
    </p:spTree>
    <p:extLst>
      <p:ext uri="{BB962C8B-B14F-4D97-AF65-F5344CB8AC3E}">
        <p14:creationId xmlns:p14="http://schemas.microsoft.com/office/powerpoint/2010/main" val="173350253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1A47B9-B02C-4F5F-AE83-4DA93BD91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6B975-B1E1-42ED-B24C-390F54FA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ed973c723c43e3"/>
          <a:stretch xmlns:a="http://schemas.openxmlformats.org/drawingml/2006/main"/>
        </p:blipFill>
        <p:spPr>
          <a:xfrm xmlns:a="http://schemas.openxmlformats.org/drawingml/2006/main">
            <a:off x="791398" y="1695450"/>
            <a:ext cx="6799204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F685B3-724C-4F1C-912F-0A6013F0D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B97ED2-BD97-4449-A73A-6BA3108AA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8B7473-74A4-4303-B400-066F358C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Green modes preserve the intended 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A45652-A9C6-49BC-A44A-73F9B89E5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09497C-2EF8-4017-8DBD-B5A3AA260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Red modes are symmetry-breaking targets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F66C15-647B-485C-977B-CCBAF143D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7511A1-CC3E-4CC3-AAF5-A7E861EC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Good and bad modes are marked explicitly for the classroom scan.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EE3653-1659-4047-88BE-5A93BD1D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de4ea53fcb4c8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17B28B-5A0B-46FD-B8AE-5615F714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spectrum tells the optimizer what to penalize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7D141A-4D1E-4A7D-B16A-BF1D1C46F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60017F-5CBB-4DD7-954B-D15EECD4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B9AD0F-8286-4E69-BC6F-91403E70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7EE938-1B32-4DE9-B30A-44352B06A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739867-B153-4360-B29E-81C0EA5A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C076DA-5B60-4959-8A11-F45DEDF54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9E4F1D-A71C-44BE-BFC5-7766A7FF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Landreman &amp; Paul, Phys. Rev. Lett. 128, 035001 (2022), precise quasisymmetry.</a:t>
            </a:r>
          </a:p>
        </p:txBody>
      </p:sp>
    </p:spTree>
    <p:extLst>
      <p:ext uri="{BB962C8B-B14F-4D97-AF65-F5344CB8AC3E}">
        <p14:creationId xmlns:p14="http://schemas.microsoft.com/office/powerpoint/2010/main" val="64458633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CA3CF5-C131-4ADA-923F-1D2048FCC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BEFC2C-4653-4893-96CF-A85DEC68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2751626e73446c"/>
          <a:stretch xmlns:a="http://schemas.openxmlformats.org/drawingml/2006/main"/>
        </p:blipFill>
        <p:spPr>
          <a:xfrm xmlns:a="http://schemas.openxmlformats.org/drawingml/2006/main">
            <a:off x="666750" y="1809036"/>
            <a:ext cx="7048500" cy="3506629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AEB10D-85B9-4E2D-8E1A-5F153FA9D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834C53-D1E6-4803-A9D1-74CA802D2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DDD87A-E700-4AD2-B745-B8E60C070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Perturb one coefficient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A2FD59-BA26-4711-9AEB-6F6861939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5623A2-229D-481C-9661-8883DB04D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Regenerate contour and residual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4513A7-0581-4621-9650-0B2FDF016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D7D4F2-DBBD-4B8F-B1C6-E5CBEA08C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 exercise is to connect a table entry to a visible field-strength change.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61243F-3050-497F-AA4D-C99A10B7A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c33cfbf56c455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A91EA7-3B00-4E15-9202-418007020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 bad mode changes the picture immediately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FC6C8F-E123-4D87-BDEC-B40F2468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CE2D7C-E327-430A-91B5-B3C263ABF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08701A-1539-40CA-9617-B4A397450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145E9D-2E85-4C10-9DB5-C599D4BB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C28B52-6D7C-4ACA-BBEA-27BEE896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B100BB-5F64-4EC7-A9F7-4263F6505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16</a:t>
            </a:r>
          </a:p>
        </p:txBody>
      </p:sp>
    </p:spTree>
    <p:extLst>
      <p:ext uri="{BB962C8B-B14F-4D97-AF65-F5344CB8AC3E}">
        <p14:creationId xmlns:p14="http://schemas.microsoft.com/office/powerpoint/2010/main" val="1485861429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85453F-44CC-481D-8B2E-585A595B0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89F223-6C44-484E-AEE8-6E1CDFDE7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10f9542e53408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97BD81-B8A4-4ED7-8A4D-AB46F9DC7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Several symmetry targets use the same 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FA02DA-11C4-40B5-8333-3BDC0A758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16B92B-9B0E-460E-B643-5983B5FD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096E4B-DF16-4884-95F4-66860FCC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7B9FF5-6928-415E-8E9C-EFAC6BE2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ADE67A-EB76-4A72-9F8D-0EE361A5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A562E8-BA3B-42E1-84A6-A09CC0A7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25757C-4273-485E-9BBF-E56772F6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0846EA-E8EB-4E9C-8914-EA216D70A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Quasi-axisymmetry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BB56C2-076C-4D0E-B635-7B1B3407F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penalize modes off the QA 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E56F89-F36A-40AB-825E-D7A4DC225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7DB741-545B-418B-9D9A-0C353D66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E17B07-BD6F-4A8A-9BC3-CE2EFDDBE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Quasi-helical symmetry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59BE9C-E1BC-4D31-9AFF-850ADCAC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QH ridge clean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9D5A79-BAEE-4B2D-A232-82BB02578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6ADE15-48A2-4E33-BBC8-F2B4845AC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07246A-8B2F-4DA6-8064-B4521D841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Quasi-isodynamic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312F57-A971-49DC-A54C-4F2F61C2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different metrics but the same artifact discipline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FB0395-95A0-455A-9E85-7C8A549F2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F0BED7-55BE-4F9D-BAFA-E6BC6EBB2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F7A29E-5A2B-499A-91D4-259683F68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1F7A48-45CE-4E78-98B6-EC1BB224F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94495A-7E54-44A0-B917-74436EFA5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17</a:t>
            </a:r>
          </a:p>
        </p:txBody>
      </p:sp>
    </p:spTree>
    <p:extLst>
      <p:ext uri="{BB962C8B-B14F-4D97-AF65-F5344CB8AC3E}">
        <p14:creationId xmlns:p14="http://schemas.microsoft.com/office/powerpoint/2010/main" val="2143333646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5A0C9F-2140-4FA0-8408-5C43CF05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5262E4-A84C-46F4-8046-466310755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b9eb9003444d67"/>
          <a:stretch xmlns:a="http://schemas.openxmlformats.org/drawingml/2006/main"/>
        </p:blipFill>
        <p:spPr>
          <a:xfrm xmlns:a="http://schemas.openxmlformats.org/drawingml/2006/main">
            <a:off x="702378" y="1695450"/>
            <a:ext cx="6977243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72B0CA-5E7D-4BC4-AB7C-8E95B5D25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D10D14-C0D1-463E-96C4-B0B475CA8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D8F417-5321-4821-A607-EB593461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Lower is better for this screen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562CE5-EC34-4F48-B9A2-28D8241D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561371-64CC-48D7-B23D-64965A76C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before expensive validation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3A3727-4BFC-49AC-9F09-174C3D01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14CBE7-EFB8-418F-9157-74179D36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This cached curve teaches how to read a metric; it is not a new NEO result.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014525-6BBB-4B80-8265-76F2D68A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32e8f014a9444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D6312-B246-4D15-A37E-F90698FCE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Effective ripple is an early transport warning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F015EE-E1BE-44F2-9CAA-9B2352464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BBAC9D-A820-463E-80F0-F0C7AEC52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9FE9E3-F154-4B60-8308-AEB19E647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26AFC9-2D0B-473B-AA76-3047059A0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170AEA-0127-4F41-9B6B-351516FD9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522463-871D-4B2F-9B9A-BC81B2F33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558D81-CB13-4C10-8074-C9AD4DAC6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Beidler et al., Nature 596, 221-226 (2021), effective ripple as a W7-X optimization target.</a:t>
            </a:r>
          </a:p>
        </p:txBody>
      </p:sp>
    </p:spTree>
    <p:extLst>
      <p:ext uri="{BB962C8B-B14F-4D97-AF65-F5344CB8AC3E}">
        <p14:creationId xmlns:p14="http://schemas.microsoft.com/office/powerpoint/2010/main" val="366227044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637983-B84A-446D-A68D-C0305C3A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A8E526-C3ED-4455-831D-3F35B4E6E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fb3c7ee79549c6"/>
          <a:stretch xmlns:a="http://schemas.openxmlformats.org/drawingml/2006/main"/>
        </p:blipFill>
        <p:spPr>
          <a:xfrm xmlns:a="http://schemas.openxmlformats.org/drawingml/2006/main">
            <a:off x="1128517" y="1695450"/>
            <a:ext cx="6124966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56367D-D36A-42A3-94F8-EDD3F80F2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A482F6-CA26-4273-8046-9C0D339A7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4E47E4-3207-48D0-8DD4-C2E4A94F5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Finite differences are robust for teaching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545FDA-690D-4AA6-ACAD-8464EAB44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A1AF9B-AC9F-43A1-99E6-15988AE7E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Autodiff becomes important at scale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1A1659-D159-44AE-8A14-29CB80058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7B7369-A126-417B-8C56-FEA3F3149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 point is sensitivity ranking, not a production derivative.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4ABD70-C2E4-434F-B865-3D258C7CD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319e858bdc492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A430A5-B848-416D-9CBA-A1BC19284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Gradients tell us which knobs matter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EEA500-8355-4B55-A115-089E92CC8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18D45C-48D2-4177-BBCD-0B954DBB8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CA5180-2202-4689-83E2-C944563C8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35CCB5-0E89-4267-852E-86B4435AF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3141A5-136F-4E8E-A5BF-D227EF213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A2D818-B9A6-4532-A289-44122277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19</a:t>
            </a:r>
          </a:p>
        </p:txBody>
      </p:sp>
    </p:spTree>
    <p:extLst>
      <p:ext uri="{BB962C8B-B14F-4D97-AF65-F5344CB8AC3E}">
        <p14:creationId xmlns:p14="http://schemas.microsoft.com/office/powerpoint/2010/main" val="72184796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5BF105-E64F-4EFB-9069-5FE8CDE9C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D18089-E075-42E5-9910-0225FD047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d53264aa744dc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93C383-F1BF-4AB4-A963-F60B54C6B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8953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scalar objective is a negotiation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B78E2C-34B6-4C74-8846-E6DB7531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AEED07-34BE-4E2D-8AEE-C401FAD8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9E28C9-2A10-4CE5-9853-B74E3768A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695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Weights encode scientific and engineering priorities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28E23D-CDA1-453C-B803-346E1ABD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AA1A7A-BE2D-4D33-AC9A-CD0894EF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12C4FA-5BC3-4A44-8CFA-95C0CAFA4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827412-7276-4E45-A904-B4F615CE7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E8FB45-07D6-419B-AFB0-A2DEC436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20</a:t>
            </a:r>
          </a:p>
        </p:txBody>
      </p:sp>
    </p:spTree>
    <p:extLst>
      <p:ext uri="{BB962C8B-B14F-4D97-AF65-F5344CB8AC3E}">
        <p14:creationId xmlns:p14="http://schemas.microsoft.com/office/powerpoint/2010/main" val="1059897692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E4E290-7E55-48D7-9D09-B537CC10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F4E788-815D-4FE7-8CDD-496AE356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e71904d9f240c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5E798B-0A1D-444F-BB7C-7FA2FB948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Demo break: spectrum and ripple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98E388-5E87-460B-85F2-43935D86C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2398EB-06FE-407B-BB72-9B8DAB772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466725-0EE1-4FE1-A3F4-6FABC06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1B3BF3-5C40-426E-B958-3921B756A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804255-7841-457C-8FC1-34197447F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notebooks/02_boozer_spectrum.ipynb + notebooks/03_effective_ripple_neo_jax.ipynb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CF37A3-5AA5-4EC8-ADAE-7B5031C7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998BC5-2CEC-48F9-86F4-B7AA79FB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Circle bad modes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FB7655-B78B-4FA8-AFCD-6E7518FEE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F225A2-6635-451D-9662-9FC699BFD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scalar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5C3BFC-317E-47B6-8026-88A5B0C51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95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F72CE6-7C84-42D4-9143-219870F81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910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what the plot proves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5ed872f5ea4dee"/>
          <a:stretch xmlns:a="http://schemas.openxmlformats.org/drawingml/2006/main"/>
        </p:blipFill>
        <p:spPr>
          <a:xfrm xmlns:a="http://schemas.openxmlformats.org/drawingml/2006/main">
            <a:off x="5619750" y="1764385"/>
            <a:ext cx="5334000" cy="292918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89F112-D13C-4A48-9594-95B84E8C8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43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6C08AB-930E-4626-BA20-55E080A68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67325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Cached mode first. Repo: https://github.com/rogeriojorge/sos2026-rjorge-stellarator-optimization | Docs: https://sos2026-rjorge-stellarator-optimization.readthedocs.io/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008FB0-AC02-4D2A-B00C-0EB6AE0C4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6E79AB-8459-4618-9840-FB13724E9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333AC7-4D6F-4956-BDCC-15139E60C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F394F4-6276-47E6-868C-8233F66A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2F165C-2A79-4951-BE94-09F8AF4E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21</a:t>
            </a:r>
          </a:p>
        </p:txBody>
      </p:sp>
    </p:spTree>
    <p:extLst>
      <p:ext uri="{BB962C8B-B14F-4D97-AF65-F5344CB8AC3E}">
        <p14:creationId xmlns:p14="http://schemas.microsoft.com/office/powerpoint/2010/main" val="560048435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D05C64-218C-45B9-9F7E-E34F6CF1C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600722-32C1-41DF-B793-0CE0D785B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D7E69E-09E4-4095-8683-5C24B5367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5EA0DF-9973-44B4-9C7E-914DC339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7CC689-8169-4643-BA8E-838C7E86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DA0404-CB8F-4593-A3EF-03FA5D50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clean surface is not a validated design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A59B8D-F95B-44F7-B52F-7D2B8F6D0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E2070A-9624-49A1-8510-093D27A4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scalar can hide the wrong physics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24EEF-C8BC-4F27-9EC4-5D75A361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771597-BE75-47E7-B3E7-FDFA3500F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cached figure must say what it 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B223A4-34CE-483E-A311-B6F9AA0D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983C60-3EBA-4532-9595-80E9F2CC4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EB8768-8844-4218-A0FF-B86083312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5850bc548b46e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32FB8A-CE8C-48C3-82F3-F0919B27C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Failure mode: optimizing a beautiful plot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EE5434-986B-4B66-BE92-28E1A8436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842182-A642-43D6-B086-0508C2A4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3CEF8E-20EC-4911-B473-E42E04C8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A129D6-C603-4049-A946-1A79C1CC0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A6A254-35BD-4CB8-926B-D2DEED836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0AECDB-D8B9-42E6-A34A-C45C2704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22</a:t>
            </a:r>
          </a:p>
        </p:txBody>
      </p:sp>
    </p:spTree>
    <p:extLst>
      <p:ext uri="{BB962C8B-B14F-4D97-AF65-F5344CB8AC3E}">
        <p14:creationId xmlns:p14="http://schemas.microsoft.com/office/powerpoint/2010/main" val="1325855137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841E87-F3CA-4646-9DB7-4B3463916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9E019C-4A87-4E58-9695-EAFB7511E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2a57e1f15247a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011007-D5CE-4964-8988-1314F208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Lecture 1 what to remember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22826B-522B-464E-A00D-639C40AD3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44AEB1-1E8B-412B-8880-906A3A1F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403409-A6B9-40B2-9F0F-17364DCF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Optimization starts with a parameterization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BE89C9-702C-4208-A971-9082E1B1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95563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125DB5-08F5-4817-8E95-F1002FAA9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90788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wout file is a scientific 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B434A5-E368-4822-95CA-1FB03E4EE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76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69C71A-FB2C-48FB-BEE8-0B8082A5C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71825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Boozer spectra turn symmetry into penalties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4D09DB-0DDA-4766-9FC0-37194AC69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57638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E57322-88AC-42CC-A9EC-16AA4D86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52863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Metrics must stay connected to validation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302FA8-4601-4263-95B6-A6599469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4D0B7A-D42E-42B6-9C9B-448AE9AC1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76AEC7-3839-44FA-8B95-D89412B7B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64E5A1-FECA-4C0A-8A2F-FE6CD3987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2CADD6-8377-4B13-9A94-FD3F8248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D718DE-7420-4D0D-B827-8B8510C3F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735EC4-7A62-43EA-A0C5-1F7EC0A9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23</a:t>
            </a:r>
          </a:p>
        </p:txBody>
      </p:sp>
    </p:spTree>
    <p:extLst>
      <p:ext uri="{BB962C8B-B14F-4D97-AF65-F5344CB8AC3E}">
        <p14:creationId xmlns:p14="http://schemas.microsoft.com/office/powerpoint/2010/main" val="8385659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D9A212-4203-4ACA-A349-E44138F4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21D6A9-F654-4EAC-A0FB-C8E4C000C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f09bddf9ae48f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745DA2-6918-4AEC-B26E-312C2FEF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8953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 design loop starts when the artifact can be rerun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33FC74-2A1A-4579-9B2A-22C08396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476F55-8C15-43E7-B342-082AB5DD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D041A5-30E8-486A-87CB-ACBCA0E5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695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Repo and docs are part of the scientific object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7A22F0-A421-4AC0-B524-5A19F6540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92C05A-1983-48A5-BB8B-9672488A9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C10F27-E14E-42F9-972B-7788F9DEB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226879-61E0-4378-A874-38E95F5D8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0D7A63-1031-4A89-AED4-EC0849209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24</a:t>
            </a:r>
          </a:p>
        </p:txBody>
      </p:sp>
    </p:spTree>
    <p:extLst>
      <p:ext uri="{BB962C8B-B14F-4D97-AF65-F5344CB8AC3E}">
        <p14:creationId xmlns:p14="http://schemas.microsoft.com/office/powerpoint/2010/main" val="1182465562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F11B67-89F0-4855-B5F8-E8CA35FD8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1CB674-405B-492C-8A20-FA7F685E7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b3ba1fab5b46d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A7AAC8-8A4F-4ED8-8BC6-B309C53D1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290965-8672-418B-9CCA-2659B3DBE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847529-D27A-420F-A31F-C3A8F53C3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APPENDIX. Lecture 1 checks and replacements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C0D763-04D7-48ED-A8E9-9DF2B0ADE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CA9CC8-FA6D-4512-87EE-06260C52B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68769B-B739-4A24-83FD-258543186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this section when a live package succeeds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5F07BE-BAA9-4986-BB5A-2E97A727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6E8F7A-8C02-4915-BEEE-67B6F8502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cached mode as the classroom baseline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D46C5C-AEC7-4695-B8CD-CDF98326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695324-3597-4977-A5C4-063EB34A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A3CDAC-C3E1-4AD2-A3CE-5CBC34B1B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51D0E1-48C8-402C-8577-C6F34C56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B89B88-FB9B-4186-930A-8BCE40CF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25</a:t>
            </a:r>
          </a:p>
        </p:txBody>
      </p:sp>
    </p:spTree>
    <p:extLst>
      <p:ext uri="{BB962C8B-B14F-4D97-AF65-F5344CB8AC3E}">
        <p14:creationId xmlns:p14="http://schemas.microsoft.com/office/powerpoint/2010/main" val="88891774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BE4837-2C29-4544-9385-6969D795D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C7233D-FCD4-4545-A785-DEE96FAC7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de8a37a3f2484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355309-E54F-4F9F-A59A-3CBD51EA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VMEC file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0930D6-3E9F-488F-B026-31F86429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347700-D1CB-4831-920F-B3527787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D3117C-1DCA-41B6-9E1C-03850F4DC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438268-6F08-42EC-A4F4-D0C2A88D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AADF48-604F-4C7E-A692-ED9D09D03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D55C6A-5910-443F-BD6E-77326A43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5FD047-1208-4491-AE5F-539C55F5B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C3DD28-1518-45BA-BE5B-576F7C02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Dimensions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55DA5E-4EEC-49BC-A64F-25F1389CF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surfaces, modes, field periods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929311-11E6-4A79-A656-988BAE68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EB9F63-CB60-4162-AB30-8F680FD91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B28840-0C68-4642-84BA-C829B837E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Variables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D8BF07-7BE3-47D6-8621-7E2CC5E9B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iota, pressure, boundary coefficients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4FFE0A-2605-43CD-8FAA-3C23DA7E9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0E8018-23D7-4B65-B468-145F7D51E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7F753F-353A-45AF-A9E0-D7497179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Provenance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6CFB67-7B9A-4EB6-B8CC-82738C185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public repo path and hash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D1C089-68CE-459E-BA97-A4177C265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4ADB85-DEB9-4A0B-B32F-E2D34F0A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E77FB7-6B9A-48CA-BA74-C6EE3D439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45F558-962A-472D-AA9E-30F1E951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B0E518-B296-4A24-8FA7-8CF8586AD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26</a:t>
            </a:r>
          </a:p>
        </p:txBody>
      </p:sp>
    </p:spTree>
    <p:extLst>
      <p:ext uri="{BB962C8B-B14F-4D97-AF65-F5344CB8AC3E}">
        <p14:creationId xmlns:p14="http://schemas.microsoft.com/office/powerpoint/2010/main" val="203021647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05179B-57A2-4B1B-9BE5-2C11319C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735FA3-8283-4B49-BA55-74B2AF8D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8803e75a52442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058C34-031C-411C-A7B4-860170611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Boozer file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03DF44-5F03-4A85-8C23-9748A06CD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FEE672-1B1E-45BB-9224-7BC612173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D9F2DA-8CE3-4FAC-B1AA-C7D44FEB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893C89-922B-4ACF-ADF8-A14833C2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3E087F-B001-49AD-BDBF-8285D17ED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1D01E7-EF26-4B60-8193-6CEC2A72C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116F69-B891-4009-9308-A79AC73FF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0D6FC3-F353-4172-A834-B571DA0F8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Surface labels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675838-11E8-4851-A01E-49F9D4E5E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choose the same radial grid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6687C1-807A-4F27-8BB8-095237313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B68D79-7E4B-4F0D-B026-12D23F15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34BDA6-9992-4E93-A101-B816EF677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Mode truncation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375F91-25B0-4248-8F8D-1A3CE06DD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report m/n limits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163156-D54F-4D36-B434-8F2CF7E03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14BB45-CFEC-432C-A83A-B7C54E24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4DA485-A952-45AF-B018-A85F9670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Residual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E15238-6F36-4AE4-9828-0254975D5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separate symmetry-preserving from breaking modes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FDFBF8-FE65-497E-9930-7B2CD66D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F93AC0-67CC-4DF2-95BE-B60FA36D4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D650AC-82D2-44FC-B835-719B43122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10EB8B-E60A-413C-A74C-92D6A9B0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F66AB4-0E08-407F-BAC4-EA925BB5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27</a:t>
            </a:r>
          </a:p>
        </p:txBody>
      </p:sp>
    </p:spTree>
    <p:extLst>
      <p:ext uri="{BB962C8B-B14F-4D97-AF65-F5344CB8AC3E}">
        <p14:creationId xmlns:p14="http://schemas.microsoft.com/office/powerpoint/2010/main" val="1574055455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48A749-ECEB-4F2E-BB9A-4F4B11FC2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61C378-21F1-4193-8276-FC1FCECFB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46521C-8167-48D0-907E-43232565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F206BA-CF36-4ABC-BE57-7581722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138D2C-DE04-4BBA-B981-16D3A2C6D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516C62-BD7E-40BA-A262-0BDC78AD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Teaching the loop structure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27B201-5E42-47AF-8412-79EF43293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49A2F9-E994-4FB8-AD01-8FBFEBD9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Testing plotting and data plumbing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D99784-6829-4FF0-94D3-06D179FB4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F8BCEF-D880-48EC-BA5F-CF0EE25F9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Preparing exercises with qualitative answers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3D5426-4487-435F-9F83-1FA9D9046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2F2E98-2DED-4FDD-B757-0CCD8DBE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53B88E-7538-46DD-8997-5861CF56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5f292fb1a5487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B4C5D4-73FA-4DDE-BB6D-ABA029A82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When cached mode is enough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E4BC43-A7C5-4FB3-A566-55FD1FDB4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82ED7D-2B5F-4285-89DE-ED5684C33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35031C-0888-4FDA-BDE2-92A7C02FA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D1CFAF-523E-41B1-AFB9-5689BC4C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21FF2B-AE96-4E5A-8491-49E52FA6D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AF1823-936F-4AB2-B8BD-8FEDECC38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28</a:t>
            </a:r>
          </a:p>
        </p:txBody>
      </p:sp>
    </p:spTree>
    <p:extLst>
      <p:ext uri="{BB962C8B-B14F-4D97-AF65-F5344CB8AC3E}">
        <p14:creationId xmlns:p14="http://schemas.microsoft.com/office/powerpoint/2010/main" val="634511617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BBC1E6-C3B9-4A43-9D71-4781BB9F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25FDAF-C2DA-41FE-ADE4-CCA33C0C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836A57-8289-4900-9109-C00751F5A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1E7123-5A2B-4F1B-83C7-1C58BCE9E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262FAA-98C4-4B3F-9647-638B38EB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2F0622-A2E0-4222-851F-9690EB4AA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Reporting a numerical value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EB4893-C5F8-40C8-87C6-CC64BFF14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36338A-B62B-4BD1-BACC-74CC32EBE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Comparing HSX and W7-X quantitatively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673464-556A-4FC4-805D-0C62CF5F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046C38-20A1-478C-B1B0-E09438E30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Changing VMEC or Boozer resolution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5858D8-9772-489E-B73F-7E85639E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1B7837-D2D8-48DB-B8E7-D7BBD480A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48E82D-41CA-43F8-90E9-9A6A9F54A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9802392b364a1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92F15F-8160-4C35-BAFE-6508049AB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When research mode is needed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D00FC0-2019-44C3-927B-5CF3D77C6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68AE6E-241F-45AC-9B7F-D5EDA73A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F0C8E4-8EE9-4BAF-8524-13A913234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FD1C25-4820-494D-BDB9-105B9A452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053E0B-6DE7-44D0-8EC8-ED9773DB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5694EB-6E54-419D-AD19-E59D67D27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29</a:t>
            </a:r>
          </a:p>
        </p:txBody>
      </p:sp>
    </p:spTree>
    <p:extLst>
      <p:ext uri="{BB962C8B-B14F-4D97-AF65-F5344CB8AC3E}">
        <p14:creationId xmlns:p14="http://schemas.microsoft.com/office/powerpoint/2010/main" val="535084751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1F12FA-1DF2-4556-B1A1-813340F5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2707C2-05A9-4CB5-B7D3-C91C5C24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1ac10aec9c4d8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86CEAB-CDEB-41D3-9ECF-293F12AE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Research path: VMEC_JAX to Boozer transform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85E67A-0322-4B44-9004-DDB5B9D08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2CDDA7-8A76-4967-A2C3-4B6219E52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F9F393-F5B8-45D8-87D8-6310892C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5034C2-4515-4086-9044-03392DC1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505E0C-B6B1-4687-87E4-1C95499B8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5C7504-6137-4ED2-A26A-D55F332A9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B400B2-2704-4E39-B8C1-AB7DEF82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Start from a verified input or wout 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5A663E-8149-42CF-AEF1-AF26F6FD3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84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B945CD-E02C-42A5-9A6A-27E79CCD9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7970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Run a tiny equilibrium on the lecture machine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ADD065-CD62-4E9A-88D5-0AAB94D3C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78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C1D8C4-1370-4F0E-B9C3-FDED1A98A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734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Replace cached arrays with documented outputs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525390-EAA7-4D61-BD6E-4E453158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A37F8E-38A1-4532-AE54-9BFEE403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D32396-0E74-4986-85B0-4DB68E27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94BC42-4130-4211-A8D4-F744386B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DB9690-13BB-4507-8A95-5BA7AB70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30</a:t>
            </a:r>
          </a:p>
        </p:txBody>
      </p:sp>
    </p:spTree>
    <p:extLst>
      <p:ext uri="{BB962C8B-B14F-4D97-AF65-F5344CB8AC3E}">
        <p14:creationId xmlns:p14="http://schemas.microsoft.com/office/powerpoint/2010/main" val="2075669634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985A54F-3ADD-4431-BBF4-C356F2CCF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4D0DAC-B5BE-4F4D-A634-8EBAB8FA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dc2ec64738447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795B09-F427-474D-9A95-6893C94A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Metric acceptance checklist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CD1CC2-6341-403F-949E-AA0BEF2F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ECD8D0-162E-47C0-B3E8-394997C3C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37982C-592C-4E6D-A647-AEE350E5D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DBCBCB-CDE0-44B5-9425-D3C3D57B5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E39F5C-B19F-46C3-8AF5-161C13FAD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393D7B-08F7-40AF-8FB3-4CD283EEA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44228E-FC14-43F5-A2C2-40272AAB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946E44-9CF0-428E-832D-A591AFC4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Cached figure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22D661-A894-497E-BA50-20B79015E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for trend and classroom discussion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08525A-7993-4E25-8D11-2C05D470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B450D3-87A5-4E1D-8D94-2FCE3D29D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95E612-AA66-4ED6-81A5-385F8AC6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Real-code run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2BD9AE-C5D4-4A0A-A0D4-34EEA8D0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for numerical claim after provenance check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16EAAF-26A1-414F-BACF-6AB20F171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DC6FBF-194F-4AE8-8033-0712C7732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7A68F1-4079-40D7-AFFE-C8736388E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STATUS.md record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94FA98-08CE-40A0-B0AD-B3CBED17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package, data source, and validation domain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D7792B-4F68-4049-9A8A-5C169ED94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533D63-6029-4E9F-B63F-B9686708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7532AE-4570-4D32-B86A-820643FEF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B9699B-031C-4C1F-97B5-CD19A4FEC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8D2418-E37E-41AC-83A0-F512DAB0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31</a:t>
            </a:r>
          </a:p>
        </p:txBody>
      </p:sp>
    </p:spTree>
    <p:extLst>
      <p:ext uri="{BB962C8B-B14F-4D97-AF65-F5344CB8AC3E}">
        <p14:creationId xmlns:p14="http://schemas.microsoft.com/office/powerpoint/2010/main" val="117194605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819952-E353-40E8-95A1-C3E8A6DEA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28BD9A-3883-4527-95FA-A9288B5A1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99060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82058f524d4924"/>
          <a:stretch xmlns:a="http://schemas.openxmlformats.org/drawingml/2006/main"/>
        </p:blipFill>
        <p:spPr>
          <a:xfrm xmlns:a="http://schemas.openxmlformats.org/drawingml/2006/main">
            <a:off x="1900767" y="1676400"/>
            <a:ext cx="7476067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062BC5-69BA-4B92-9D92-4ADC8CD8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483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FCBE3A-C9E4-4596-A65B-380B6FE4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543550"/>
            <a:ext cx="819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Fallback image for a short live-demo recovery.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661399-2E7F-4035-BCD2-FD639B89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527e79527b400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DAF9E1-0A75-4DF1-9D7C-BD8B4FF1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Backup figure: HSX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6B2B11-E63E-4BDC-AEBC-7BFC1F128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EC73CE-198F-4C9C-97DD-C91B0BC90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A916B6-86CB-4022-B76A-C9C13A0A9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9BDF49-8EFE-42E8-A20B-32E998630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33016A-7FC7-4B64-8826-55D804F9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9B3C1D-F931-434E-9461-E928C77BB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32</a:t>
            </a:r>
          </a:p>
        </p:txBody>
      </p:sp>
    </p:spTree>
    <p:extLst>
      <p:ext uri="{BB962C8B-B14F-4D97-AF65-F5344CB8AC3E}">
        <p14:creationId xmlns:p14="http://schemas.microsoft.com/office/powerpoint/2010/main" val="1428443861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5F8285-BEEC-442F-8F35-C0208C66C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EEA678-E65B-46D5-9D17-7234F19C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a9ab93edfd4405"/>
          <a:stretch xmlns:a="http://schemas.openxmlformats.org/drawingml/2006/main"/>
        </p:blipFill>
        <p:spPr>
          <a:xfrm xmlns:a="http://schemas.openxmlformats.org/drawingml/2006/main">
            <a:off x="1387838" y="1695450"/>
            <a:ext cx="5606323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881B1D-6A6B-4A3F-B3D1-C6F057EE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011CC9-CC0F-4064-9FEB-6F57805A6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398431-E68E-409C-84E8-1DC7BE7A2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if the transform is slow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5C8518-768B-4838-BF87-FA5776A1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A9DE20-C123-4CC4-9013-F38F24B1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Discuss the expected symmetry pattern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D6A552-B18B-4969-A79D-7E98D53E7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E9A1CA-A680-4362-BD7B-35F22862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Fallback image for reading the contour before scalarizing.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1D06DD-BFD1-4BF7-AD4B-0DD911049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6597657b614c0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575890-258A-4941-8377-E5210DF07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Backup figure: Boozer contour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D4009F-13BD-4690-84DD-9277C11C6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AAAD34-0612-4AA8-9EE4-0B309D998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7BB47E-FA20-4315-99C5-61D6FECF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50C198-A7C4-455A-8A9F-E038F4455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77D396-3061-49D2-8B4C-554E47F6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11BB5A-EBCE-4B6F-90DE-CE14EF868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33</a:t>
            </a:r>
          </a:p>
        </p:txBody>
      </p:sp>
    </p:spTree>
    <p:extLst>
      <p:ext uri="{BB962C8B-B14F-4D97-AF65-F5344CB8AC3E}">
        <p14:creationId xmlns:p14="http://schemas.microsoft.com/office/powerpoint/2010/main" val="1034998874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473184-BF8F-438E-AF32-A022CEA82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AD9D1C-AA64-436E-95F3-31479E3B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5ecd924f75426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C5BE08-9948-4076-914D-AF067926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Discussion: what did the optimizer see?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4116D6-7982-4CA4-AD02-F114312B9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C69ABC-8A89-41B0-B935-8EA3BBC11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EA8AE7-0BFC-4863-A7D9-214DE5F84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9991EE-F8C5-41F2-A781-B12133DE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EAB132-8AD9-4E0A-9547-314CA2F0E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97CD66-166A-42F4-92AD-576D2BDE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A98C71-1723-4B6D-8BA7-13B0ED70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A9E4CF-416D-41A4-833B-66FA0B84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Design variable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794099-D6BE-46C6-A92D-55B3496C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boundary modes and profiles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446F33-2EDF-4BB2-84FB-FB3360A77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582250-F2DF-429A-93E5-E58A74A6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B3F843-1E19-4CFC-BE8B-24E487BF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Computed object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F9BF55-B07F-4571-98DF-9F5E575CF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equilibrium, spectra, scalar metrics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579202-7BA4-4EE4-93AE-BB90B1026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41D39D-3673-4818-88FA-19D761EF0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24E375-FF29-4163-AC07-9E5EA923F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Decision variable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1C4766-8BCD-4AC7-AAC2-95B34124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scalar deserves trust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881ADD-6A14-4C9A-9B87-A84207B2A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9F12DB-47A3-4819-B279-0FFA50E2F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CC07A6-FCEA-4051-B4DB-BFCB7D2CF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F6DC54-BFF7-4431-9DB4-C2C481CBE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26EF97-B3E6-44A8-AC35-8CEE772F6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34</a:t>
            </a:r>
          </a:p>
        </p:txBody>
      </p:sp>
    </p:spTree>
    <p:extLst>
      <p:ext uri="{BB962C8B-B14F-4D97-AF65-F5344CB8AC3E}">
        <p14:creationId xmlns:p14="http://schemas.microsoft.com/office/powerpoint/2010/main" val="620293528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05B2F2-FD93-413D-9FC7-28EE9CBB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6D281B-819D-4466-9FD2-42419CA46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8B18B1-F655-445D-AF04-175C0D51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168ac2410a41c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04F6F5-5F23-49D5-BB9F-DC208DCF2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EE84F3-439A-4E04-B4C2-8ECBB51D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810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to remember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A5A6B3-9AF1-4EF8-B9D2-A62AA0D5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C85C2E-8E89-471F-8D73-8B48E4CBF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62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40B7F1-3AF4-41E4-8022-2D4C5F4D6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575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scientific object and the computed artifact together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E433DF-3E4B-4C8E-BABE-59130426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52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650CB8-55EF-4123-ADE9-4B94F4421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481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Rerun, perturb, compare, and explain before trusting the optimum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F0B6E1-4848-43D9-9003-1D5D4AB2E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D0442D-35B9-45E0-A910-11B9C8EC2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Docs: https://sos2026-rjorge-stellarator-optimization.readthedocs.io/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A8E7D8-9353-43EB-A5D8-C4F260A0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29300"/>
            <a:ext cx="7734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35B0E6-6E07-4AD9-BBAF-AD23995D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Repo lab handoff: rerun, perturb, compare, explain.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4B6E35-0BFC-4BF0-B55A-5977D4CA4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81025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github.com/rogeriojorge/sos2026-rjorge-stellarator-optimization</a:t>
            </a:r>
          </a:p>
          <a:p xmlns:a="http://schemas.openxmlformats.org/drawingml/2006/main">
            <a:pPr algn="r">
              <a:defRPr sz="9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6C4940-5268-46D4-9ABB-BFAEBA7C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35</a:t>
            </a:r>
          </a:p>
        </p:txBody>
      </p:sp>
    </p:spTree>
    <p:extLst>
      <p:ext uri="{BB962C8B-B14F-4D97-AF65-F5344CB8AC3E}">
        <p14:creationId xmlns:p14="http://schemas.microsoft.com/office/powerpoint/2010/main" val="16286169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2026-05-24T02:05:47.5330000Z</dcterms:created>
  <dcterms:modified xsi:type="dcterms:W3CDTF">2026-05-24T02:05:47.5330000Z</dcterms:modified>
</coreProperties>
</file>