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52b085cd354722" /><Relationship Type="http://schemas.openxmlformats.org/officeDocument/2006/relationships/extended-properties" Target="/docProps/app.xml" Id="Rf1416082c59e45c0" /><Relationship Type="http://schemas.openxmlformats.org/officeDocument/2006/relationships/officeDocument" Target="/ppt/presentation.xml" Id="R6e86959d81004b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6c3bc0c71145ae"/>
  </p:sldMasterIdLst>
  <p:notesMasterIdLst>
    <p:notesMasterId xmlns:r="http://schemas.openxmlformats.org/officeDocument/2006/relationships" r:id="Ra9b7848c82e543be"/>
  </p:notesMasterIdLst>
  <p:sldIdLst>
    <p:sldId xmlns:r="http://schemas.openxmlformats.org/officeDocument/2006/relationships" id="256" r:id="R44917649a56a4cb4"/>
    <p:sldId xmlns:r="http://schemas.openxmlformats.org/officeDocument/2006/relationships" id="257" r:id="Ra4d79e1edf8b4b80"/>
    <p:sldId xmlns:r="http://schemas.openxmlformats.org/officeDocument/2006/relationships" id="258" r:id="R10d89dc1fd374df8"/>
    <p:sldId xmlns:r="http://schemas.openxmlformats.org/officeDocument/2006/relationships" id="259" r:id="Re855007e3fc54695"/>
    <p:sldId xmlns:r="http://schemas.openxmlformats.org/officeDocument/2006/relationships" id="260" r:id="R3366b20c031640cf"/>
    <p:sldId xmlns:r="http://schemas.openxmlformats.org/officeDocument/2006/relationships" id="261" r:id="R749bb48b12b0419e"/>
    <p:sldId xmlns:r="http://schemas.openxmlformats.org/officeDocument/2006/relationships" id="262" r:id="R6266ed4f1c894f06"/>
    <p:sldId xmlns:r="http://schemas.openxmlformats.org/officeDocument/2006/relationships" id="263" r:id="Rcf5393b1dfd04ba6"/>
    <p:sldId xmlns:r="http://schemas.openxmlformats.org/officeDocument/2006/relationships" id="264" r:id="Rb92771a3bc184ea0"/>
    <p:sldId xmlns:r="http://schemas.openxmlformats.org/officeDocument/2006/relationships" id="265" r:id="R74e70b67a36546cf"/>
    <p:sldId xmlns:r="http://schemas.openxmlformats.org/officeDocument/2006/relationships" id="266" r:id="R0316b2a2ea88439c"/>
    <p:sldId xmlns:r="http://schemas.openxmlformats.org/officeDocument/2006/relationships" id="267" r:id="R08fb2d4761d2482c"/>
    <p:sldId xmlns:r="http://schemas.openxmlformats.org/officeDocument/2006/relationships" id="268" r:id="R274102f6a99b479e"/>
    <p:sldId xmlns:r="http://schemas.openxmlformats.org/officeDocument/2006/relationships" id="269" r:id="R4a12d9efeeb94859"/>
    <p:sldId xmlns:r="http://schemas.openxmlformats.org/officeDocument/2006/relationships" id="270" r:id="R66f85ffc359d4e86"/>
    <p:sldId xmlns:r="http://schemas.openxmlformats.org/officeDocument/2006/relationships" id="271" r:id="R6fe1ab32ab924ac5"/>
    <p:sldId xmlns:r="http://schemas.openxmlformats.org/officeDocument/2006/relationships" id="272" r:id="R575f640b256044ce"/>
    <p:sldId xmlns:r="http://schemas.openxmlformats.org/officeDocument/2006/relationships" id="273" r:id="R4d3db1eab409447a"/>
    <p:sldId xmlns:r="http://schemas.openxmlformats.org/officeDocument/2006/relationships" id="274" r:id="R6d0d170287364d84"/>
    <p:sldId xmlns:r="http://schemas.openxmlformats.org/officeDocument/2006/relationships" id="275" r:id="Rb17b1aaf7a5c4d1f"/>
    <p:sldId xmlns:r="http://schemas.openxmlformats.org/officeDocument/2006/relationships" id="276" r:id="R8896fb203970499e"/>
    <p:sldId xmlns:r="http://schemas.openxmlformats.org/officeDocument/2006/relationships" id="277" r:id="R3e521f0a474e4d6f"/>
    <p:sldId xmlns:r="http://schemas.openxmlformats.org/officeDocument/2006/relationships" id="278" r:id="R0ad5efba994041cf"/>
    <p:sldId xmlns:r="http://schemas.openxmlformats.org/officeDocument/2006/relationships" id="279" r:id="Rec2ef64b49614ffa"/>
    <p:sldId xmlns:r="http://schemas.openxmlformats.org/officeDocument/2006/relationships" id="280" r:id="Rfbbb71c1a4a8442d"/>
    <p:sldId xmlns:r="http://schemas.openxmlformats.org/officeDocument/2006/relationships" id="281" r:id="R7e3afc237a8746bf"/>
    <p:sldId xmlns:r="http://schemas.openxmlformats.org/officeDocument/2006/relationships" id="282" r:id="R36826f8c125c4217"/>
    <p:sldId xmlns:r="http://schemas.openxmlformats.org/officeDocument/2006/relationships" id="283" r:id="R98f07b21e97b4ac7"/>
    <p:sldId xmlns:r="http://schemas.openxmlformats.org/officeDocument/2006/relationships" id="284" r:id="R69582f9df336459f"/>
    <p:sldId xmlns:r="http://schemas.openxmlformats.org/officeDocument/2006/relationships" id="285" r:id="R46412872dc2349f6"/>
    <p:sldId xmlns:r="http://schemas.openxmlformats.org/officeDocument/2006/relationships" id="286" r:id="Rcbc726d59a0e4356"/>
    <p:sldId xmlns:r="http://schemas.openxmlformats.org/officeDocument/2006/relationships" id="287" r:id="R02933117553b4cc0"/>
    <p:sldId xmlns:r="http://schemas.openxmlformats.org/officeDocument/2006/relationships" id="288" r:id="Rc1e9eb47342649e4"/>
    <p:sldId xmlns:r="http://schemas.openxmlformats.org/officeDocument/2006/relationships" id="289" r:id="R1c52e9ba44f14180"/>
    <p:sldId xmlns:r="http://schemas.openxmlformats.org/officeDocument/2006/relationships" id="290" r:id="Re280ca2121214ce7"/>
    <p:sldId xmlns:r="http://schemas.openxmlformats.org/officeDocument/2006/relationships" id="291" r:id="Rfdeedd0931c04797"/>
    <p:sldId xmlns:r="http://schemas.openxmlformats.org/officeDocument/2006/relationships" id="292" r:id="Ra649a9fec2f04c29"/>
    <p:sldId xmlns:r="http://schemas.openxmlformats.org/officeDocument/2006/relationships" id="293" r:id="Rd0c3204fef05495e"/>
    <p:sldId xmlns:r="http://schemas.openxmlformats.org/officeDocument/2006/relationships" id="294" r:id="Rb6bf340b581a4297"/>
    <p:sldId xmlns:r="http://schemas.openxmlformats.org/officeDocument/2006/relationships" id="295" r:id="Rd97d7ec4983045b5"/>
    <p:sldId xmlns:r="http://schemas.openxmlformats.org/officeDocument/2006/relationships" id="296" r:id="R137fe065a8104ef9"/>
    <p:sldId xmlns:r="http://schemas.openxmlformats.org/officeDocument/2006/relationships" id="297" r:id="R873f1eb93fb04c23"/>
    <p:sldId xmlns:r="http://schemas.openxmlformats.org/officeDocument/2006/relationships" id="298" r:id="R0a3c728ec2e34d04"/>
    <p:sldId xmlns:r="http://schemas.openxmlformats.org/officeDocument/2006/relationships" id="299" r:id="R072f8167394c4fe4"/>
    <p:sldId xmlns:r="http://schemas.openxmlformats.org/officeDocument/2006/relationships" id="300" r:id="R4c27c92cdd0d4e4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c3bc0c71145ae" /><Relationship Type="http://schemas.openxmlformats.org/officeDocument/2006/relationships/theme" Target="/ppt/theme/theme1.xml" Id="Rb3e7afe9680f4dd0" /><Relationship Type="http://schemas.openxmlformats.org/officeDocument/2006/relationships/notesMaster" Target="/ppt/notesMasters/notesMaster1.xml" Id="Ra9b7848c82e543be" /><Relationship Type="http://schemas.openxmlformats.org/officeDocument/2006/relationships/presProps" Target="/ppt/presProps.xml" Id="R454e10b7025548ca" /><Relationship Type="http://schemas.openxmlformats.org/officeDocument/2006/relationships/viewProps" Target="/ppt/viewProps.xml" Id="R45cb5e6b45c748dc" /><Relationship Type="http://schemas.openxmlformats.org/officeDocument/2006/relationships/tableStyles" Target="/ppt/tableStyles.xml" Id="Rc1474e24d34e420e" /><Relationship Type="http://schemas.openxmlformats.org/officeDocument/2006/relationships/slide" Target="/ppt/slides/slide1.xml" Id="R44917649a56a4cb4" /><Relationship Type="http://schemas.openxmlformats.org/officeDocument/2006/relationships/slide" Target="/ppt/slides/slide2.xml" Id="Ra4d79e1edf8b4b80" /><Relationship Type="http://schemas.openxmlformats.org/officeDocument/2006/relationships/slide" Target="/ppt/slides/slide3.xml" Id="R10d89dc1fd374df8" /><Relationship Type="http://schemas.openxmlformats.org/officeDocument/2006/relationships/slide" Target="/ppt/slides/slide4.xml" Id="Re855007e3fc54695" /><Relationship Type="http://schemas.openxmlformats.org/officeDocument/2006/relationships/slide" Target="/ppt/slides/slide5.xml" Id="R3366b20c031640cf" /><Relationship Type="http://schemas.openxmlformats.org/officeDocument/2006/relationships/slide" Target="/ppt/slides/slide6.xml" Id="R749bb48b12b0419e" /><Relationship Type="http://schemas.openxmlformats.org/officeDocument/2006/relationships/slide" Target="/ppt/slides/slide7.xml" Id="R6266ed4f1c894f06" /><Relationship Type="http://schemas.openxmlformats.org/officeDocument/2006/relationships/slide" Target="/ppt/slides/slide8.xml" Id="Rcf5393b1dfd04ba6" /><Relationship Type="http://schemas.openxmlformats.org/officeDocument/2006/relationships/slide" Target="/ppt/slides/slide9.xml" Id="Rb92771a3bc184ea0" /><Relationship Type="http://schemas.openxmlformats.org/officeDocument/2006/relationships/slide" Target="/ppt/slides/slide10.xml" Id="R74e70b67a36546cf" /><Relationship Type="http://schemas.openxmlformats.org/officeDocument/2006/relationships/slide" Target="/ppt/slides/slide11.xml" Id="R0316b2a2ea88439c" /><Relationship Type="http://schemas.openxmlformats.org/officeDocument/2006/relationships/slide" Target="/ppt/slides/slide12.xml" Id="R08fb2d4761d2482c" /><Relationship Type="http://schemas.openxmlformats.org/officeDocument/2006/relationships/slide" Target="/ppt/slides/slide13.xml" Id="R274102f6a99b479e" /><Relationship Type="http://schemas.openxmlformats.org/officeDocument/2006/relationships/slide" Target="/ppt/slides/slide14.xml" Id="R4a12d9efeeb94859" /><Relationship Type="http://schemas.openxmlformats.org/officeDocument/2006/relationships/slide" Target="/ppt/slides/slide15.xml" Id="R66f85ffc359d4e86" /><Relationship Type="http://schemas.openxmlformats.org/officeDocument/2006/relationships/slide" Target="/ppt/slides/slide16.xml" Id="R6fe1ab32ab924ac5" /><Relationship Type="http://schemas.openxmlformats.org/officeDocument/2006/relationships/slide" Target="/ppt/slides/slide17.xml" Id="R575f640b256044ce" /><Relationship Type="http://schemas.openxmlformats.org/officeDocument/2006/relationships/slide" Target="/ppt/slides/slide18.xml" Id="R4d3db1eab409447a" /><Relationship Type="http://schemas.openxmlformats.org/officeDocument/2006/relationships/slide" Target="/ppt/slides/slide19.xml" Id="R6d0d170287364d84" /><Relationship Type="http://schemas.openxmlformats.org/officeDocument/2006/relationships/slide" Target="/ppt/slides/slide20.xml" Id="Rb17b1aaf7a5c4d1f" /><Relationship Type="http://schemas.openxmlformats.org/officeDocument/2006/relationships/slide" Target="/ppt/slides/slide21.xml" Id="R8896fb203970499e" /><Relationship Type="http://schemas.openxmlformats.org/officeDocument/2006/relationships/slide" Target="/ppt/slides/slide22.xml" Id="R3e521f0a474e4d6f" /><Relationship Type="http://schemas.openxmlformats.org/officeDocument/2006/relationships/slide" Target="/ppt/slides/slide23.xml" Id="R0ad5efba994041cf" /><Relationship Type="http://schemas.openxmlformats.org/officeDocument/2006/relationships/slide" Target="/ppt/slides/slide24.xml" Id="Rec2ef64b49614ffa" /><Relationship Type="http://schemas.openxmlformats.org/officeDocument/2006/relationships/slide" Target="/ppt/slides/slide25.xml" Id="Rfbbb71c1a4a8442d" /><Relationship Type="http://schemas.openxmlformats.org/officeDocument/2006/relationships/slide" Target="/ppt/slides/slide26.xml" Id="R7e3afc237a8746bf" /><Relationship Type="http://schemas.openxmlformats.org/officeDocument/2006/relationships/slide" Target="/ppt/slides/slide27.xml" Id="R36826f8c125c4217" /><Relationship Type="http://schemas.openxmlformats.org/officeDocument/2006/relationships/slide" Target="/ppt/slides/slide28.xml" Id="R98f07b21e97b4ac7" /><Relationship Type="http://schemas.openxmlformats.org/officeDocument/2006/relationships/slide" Target="/ppt/slides/slide29.xml" Id="R69582f9df336459f" /><Relationship Type="http://schemas.openxmlformats.org/officeDocument/2006/relationships/slide" Target="/ppt/slides/slide30.xml" Id="R46412872dc2349f6" /><Relationship Type="http://schemas.openxmlformats.org/officeDocument/2006/relationships/slide" Target="/ppt/slides/slide31.xml" Id="Rcbc726d59a0e4356" /><Relationship Type="http://schemas.openxmlformats.org/officeDocument/2006/relationships/slide" Target="/ppt/slides/slide32.xml" Id="R02933117553b4cc0" /><Relationship Type="http://schemas.openxmlformats.org/officeDocument/2006/relationships/slide" Target="/ppt/slides/slide33.xml" Id="Rc1e9eb47342649e4" /><Relationship Type="http://schemas.openxmlformats.org/officeDocument/2006/relationships/slide" Target="/ppt/slides/slide34.xml" Id="R1c52e9ba44f14180" /><Relationship Type="http://schemas.openxmlformats.org/officeDocument/2006/relationships/slide" Target="/ppt/slides/slide35.xml" Id="Re280ca2121214ce7" /><Relationship Type="http://schemas.openxmlformats.org/officeDocument/2006/relationships/slide" Target="/ppt/slides/slide36.xml" Id="Rfdeedd0931c04797" /><Relationship Type="http://schemas.openxmlformats.org/officeDocument/2006/relationships/slide" Target="/ppt/slides/slide37.xml" Id="Ra649a9fec2f04c29" /><Relationship Type="http://schemas.openxmlformats.org/officeDocument/2006/relationships/slide" Target="/ppt/slides/slide38.xml" Id="Rd0c3204fef05495e" /><Relationship Type="http://schemas.openxmlformats.org/officeDocument/2006/relationships/slide" Target="/ppt/slides/slide39.xml" Id="Rb6bf340b581a4297" /><Relationship Type="http://schemas.openxmlformats.org/officeDocument/2006/relationships/slide" Target="/ppt/slides/slide40.xml" Id="Rd97d7ec4983045b5" /><Relationship Type="http://schemas.openxmlformats.org/officeDocument/2006/relationships/slide" Target="/ppt/slides/slide41.xml" Id="R137fe065a8104ef9" /><Relationship Type="http://schemas.openxmlformats.org/officeDocument/2006/relationships/slide" Target="/ppt/slides/slide42.xml" Id="R873f1eb93fb04c23" /><Relationship Type="http://schemas.openxmlformats.org/officeDocument/2006/relationships/slide" Target="/ppt/slides/slide43.xml" Id="R0a3c728ec2e34d04" /><Relationship Type="http://schemas.openxmlformats.org/officeDocument/2006/relationships/slide" Target="/ppt/slides/slide44.xml" Id="R072f8167394c4fe4" /><Relationship Type="http://schemas.openxmlformats.org/officeDocument/2006/relationships/slide" Target="/ppt/slides/slide45.xml" Id="R4c27c92cdd0d4e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4cadf64c4824c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08da4795554063" /><Relationship Type="http://schemas.openxmlformats.org/officeDocument/2006/relationships/notesMaster" Target="/ppt/notesMasters/notesMaster1.xml" Id="R9eb9f40eb30b4d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b20fd2253e45f2" /><Relationship Type="http://schemas.openxmlformats.org/officeDocument/2006/relationships/notesMaster" Target="/ppt/notesMasters/notesMaster1.xml" Id="R15c52229db1046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b5fd2c8d0342c3" /><Relationship Type="http://schemas.openxmlformats.org/officeDocument/2006/relationships/notesMaster" Target="/ppt/notesMasters/notesMaster1.xml" Id="R20e00f7267734f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0928c8d021472d" /><Relationship Type="http://schemas.openxmlformats.org/officeDocument/2006/relationships/notesMaster" Target="/ppt/notesMasters/notesMaster1.xml" Id="R66260901a54a45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52f0c6fbfc40a9" /><Relationship Type="http://schemas.openxmlformats.org/officeDocument/2006/relationships/notesMaster" Target="/ppt/notesMasters/notesMaster1.xml" Id="R12bdd50623494b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a2be0343614e63" /><Relationship Type="http://schemas.openxmlformats.org/officeDocument/2006/relationships/notesMaster" Target="/ppt/notesMasters/notesMaster1.xml" Id="R2db608d2f0474e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231fa9218a41c6" /><Relationship Type="http://schemas.openxmlformats.org/officeDocument/2006/relationships/notesMaster" Target="/ppt/notesMasters/notesMaster1.xml" Id="R410de51026d644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3e1678094e4992" /><Relationship Type="http://schemas.openxmlformats.org/officeDocument/2006/relationships/notesMaster" Target="/ppt/notesMasters/notesMaster1.xml" Id="R2b3b4d98548a4e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9709b9846c46d1" /><Relationship Type="http://schemas.openxmlformats.org/officeDocument/2006/relationships/notesMaster" Target="/ppt/notesMasters/notesMaster1.xml" Id="R99c78060afec43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349fd162fc430c" /><Relationship Type="http://schemas.openxmlformats.org/officeDocument/2006/relationships/notesMaster" Target="/ppt/notesMasters/notesMaster1.xml" Id="Rad2cfc92b8e64e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a95d832e7b4b8a" /><Relationship Type="http://schemas.openxmlformats.org/officeDocument/2006/relationships/notesMaster" Target="/ppt/notesMasters/notesMaster1.xml" Id="R823179b89f5f47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b53cb18d3774b76" /><Relationship Type="http://schemas.openxmlformats.org/officeDocument/2006/relationships/notesMaster" Target="/ppt/notesMasters/notesMaster1.xml" Id="Rdf83457d615b49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7bbbef85c945df" /><Relationship Type="http://schemas.openxmlformats.org/officeDocument/2006/relationships/notesMaster" Target="/ppt/notesMasters/notesMaster1.xml" Id="Rb7d18d3886914b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23255820ffd4b8a" /><Relationship Type="http://schemas.openxmlformats.org/officeDocument/2006/relationships/notesMaster" Target="/ppt/notesMasters/notesMaster1.xml" Id="R8a1de7b3258f48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dc92775844c41ab" /><Relationship Type="http://schemas.openxmlformats.org/officeDocument/2006/relationships/notesMaster" Target="/ppt/notesMasters/notesMaster1.xml" Id="R6c3d0ad56146440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a2503e005d847c2" /><Relationship Type="http://schemas.openxmlformats.org/officeDocument/2006/relationships/notesMaster" Target="/ppt/notesMasters/notesMaster1.xml" Id="R083becb27bff42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d569ac4ce941bf" /><Relationship Type="http://schemas.openxmlformats.org/officeDocument/2006/relationships/notesMaster" Target="/ppt/notesMasters/notesMaster1.xml" Id="R488ae2f7dc9044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6d17aeae484f81" /><Relationship Type="http://schemas.openxmlformats.org/officeDocument/2006/relationships/notesMaster" Target="/ppt/notesMasters/notesMaster1.xml" Id="Rdd8ad4634aec41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979de38c1546c1" /><Relationship Type="http://schemas.openxmlformats.org/officeDocument/2006/relationships/notesMaster" Target="/ppt/notesMasters/notesMaster1.xml" Id="R4f37c64c07ed482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645b57c990485b" /><Relationship Type="http://schemas.openxmlformats.org/officeDocument/2006/relationships/notesMaster" Target="/ppt/notesMasters/notesMaster1.xml" Id="R0212252d5fb14c8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11e4713460463f" /><Relationship Type="http://schemas.openxmlformats.org/officeDocument/2006/relationships/notesMaster" Target="/ppt/notesMasters/notesMaster1.xml" Id="Rae0371044e81434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d8f180f2aff407d" /><Relationship Type="http://schemas.openxmlformats.org/officeDocument/2006/relationships/notesMaster" Target="/ppt/notesMasters/notesMaster1.xml" Id="R2fad8bd3157641d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9928e0651774a06" /><Relationship Type="http://schemas.openxmlformats.org/officeDocument/2006/relationships/notesMaster" Target="/ppt/notesMasters/notesMaster1.xml" Id="R8703441966244af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fa2a394f2554e1f" /><Relationship Type="http://schemas.openxmlformats.org/officeDocument/2006/relationships/notesMaster" Target="/ppt/notesMasters/notesMaster1.xml" Id="Rb5299e78fcdd415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1f3ef0219594f98" /><Relationship Type="http://schemas.openxmlformats.org/officeDocument/2006/relationships/notesMaster" Target="/ppt/notesMasters/notesMaster1.xml" Id="Re7c763215eeb46d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b44ab75c2574bbf" /><Relationship Type="http://schemas.openxmlformats.org/officeDocument/2006/relationships/notesMaster" Target="/ppt/notesMasters/notesMaster1.xml" Id="R7492e248ed9f427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858e5ef5536417d" /><Relationship Type="http://schemas.openxmlformats.org/officeDocument/2006/relationships/notesMaster" Target="/ppt/notesMasters/notesMaster1.xml" Id="Rffb265ad44c343d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2987bda7c354c7d" /><Relationship Type="http://schemas.openxmlformats.org/officeDocument/2006/relationships/notesMaster" Target="/ppt/notesMasters/notesMaster1.xml" Id="R5fd7d88770b24d9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5a907f14d6643ed" /><Relationship Type="http://schemas.openxmlformats.org/officeDocument/2006/relationships/notesMaster" Target="/ppt/notesMasters/notesMaster1.xml" Id="Rec651160684e42f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9a9496e7e3d491c" /><Relationship Type="http://schemas.openxmlformats.org/officeDocument/2006/relationships/notesMaster" Target="/ppt/notesMasters/notesMaster1.xml" Id="R616eb13b76114db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50bcdca45404cdf" /><Relationship Type="http://schemas.openxmlformats.org/officeDocument/2006/relationships/notesMaster" Target="/ppt/notesMasters/notesMaster1.xml" Id="R2c72522becb6405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fcc2be877ee4b95" /><Relationship Type="http://schemas.openxmlformats.org/officeDocument/2006/relationships/notesMaster" Target="/ppt/notesMasters/notesMaster1.xml" Id="R4748bba502e844e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868a172e3014182" /><Relationship Type="http://schemas.openxmlformats.org/officeDocument/2006/relationships/notesMaster" Target="/ppt/notesMasters/notesMaster1.xml" Id="Rb84270d74043445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837f9d07ac04ad3" /><Relationship Type="http://schemas.openxmlformats.org/officeDocument/2006/relationships/notesMaster" Target="/ppt/notesMasters/notesMaster1.xml" Id="R1e3bb8f3f856400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9527c4a1a02421d" /><Relationship Type="http://schemas.openxmlformats.org/officeDocument/2006/relationships/notesMaster" Target="/ppt/notesMasters/notesMaster1.xml" Id="R5ea481191f264c0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b34b971c2e24d16" /><Relationship Type="http://schemas.openxmlformats.org/officeDocument/2006/relationships/notesMaster" Target="/ppt/notesMasters/notesMaster1.xml" Id="R951f945b5893428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89d5baf43b243b0" /><Relationship Type="http://schemas.openxmlformats.org/officeDocument/2006/relationships/notesMaster" Target="/ppt/notesMasters/notesMaster1.xml" Id="Rdafd912835c9427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0f6e822459b4e04" /><Relationship Type="http://schemas.openxmlformats.org/officeDocument/2006/relationships/notesMaster" Target="/ppt/notesMasters/notesMaster1.xml" Id="Re437939561604cd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379f3b556814f14" /><Relationship Type="http://schemas.openxmlformats.org/officeDocument/2006/relationships/notesMaster" Target="/ppt/notesMasters/notesMaster1.xml" Id="R2db6b41c00ac47e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2cf3df026224660" /><Relationship Type="http://schemas.openxmlformats.org/officeDocument/2006/relationships/notesMaster" Target="/ppt/notesMasters/notesMaster1.xml" Id="R467efe4caeec424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37c7528a352483c" /><Relationship Type="http://schemas.openxmlformats.org/officeDocument/2006/relationships/notesMaster" Target="/ppt/notesMasters/notesMaster1.xml" Id="Rf5b562aec92e4b6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e1ca371c9ec47ff" /><Relationship Type="http://schemas.openxmlformats.org/officeDocument/2006/relationships/notesMaster" Target="/ppt/notesMasters/notesMaster1.xml" Id="R78f8b210216d41d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06b2d7c0c94442d" /><Relationship Type="http://schemas.openxmlformats.org/officeDocument/2006/relationships/notesMaster" Target="/ppt/notesMasters/notesMaster1.xml" Id="R84ba43ac0dac426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4e329fbeaf14ef1" /><Relationship Type="http://schemas.openxmlformats.org/officeDocument/2006/relationships/notesMaster" Target="/ppt/notesMasters/notesMaster1.xml" Id="Rfd2f1955dce04a3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13df13f14044dac" /><Relationship Type="http://schemas.openxmlformats.org/officeDocument/2006/relationships/notesMaster" Target="/ppt/notesMasters/notesMaster1.xml" Id="R3ed3f37aca5f4c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cb313e55494ae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6737b223eb14b68" /><Relationship Type="http://schemas.openxmlformats.org/officeDocument/2006/relationships/slideLayout" Target="/ppt/slideLayouts/slideLayout2.xml" Id="Re6f5f1f65ce845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f5f1f65ce845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e23ea8c0db49bb" /><Relationship Type="http://schemas.openxmlformats.org/officeDocument/2006/relationships/image" Target="/ppt/media/image.png" Id="Rba3caf16fb6e4a86" /><Relationship Type="http://schemas.openxmlformats.org/officeDocument/2006/relationships/notesSlide" Target="/ppt/notesSlides/notesSlide1.xml" Id="Re79a10cc2f3f46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8aa848814e4a0a" /><Relationship Type="http://schemas.openxmlformats.org/officeDocument/2006/relationships/notesSlide" Target="/ppt/notesSlides/notesSlide2.xml" Id="R15bc4e76b76f44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5488cd332c4f93" /><Relationship Type="http://schemas.openxmlformats.org/officeDocument/2006/relationships/notesSlide" Target="/ppt/notesSlides/notesSlide3.xml" Id="R27d463aa9ec040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c09c0f17b34d60" /><Relationship Type="http://schemas.openxmlformats.org/officeDocument/2006/relationships/notesSlide" Target="/ppt/notesSlides/notesSlide4.xml" Id="R4d9dc14e6c8046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9199ec4f614e2d" /><Relationship Type="http://schemas.openxmlformats.org/officeDocument/2006/relationships/notesSlide" Target="/ppt/notesSlides/notesSlide5.xml" Id="Rdaa9917aed3148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b268426bf40ba" /><Relationship Type="http://schemas.openxmlformats.org/officeDocument/2006/relationships/notesSlide" Target="/ppt/notesSlides/notesSlide6.xml" Id="R99ac9bc794ff42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348305a5ea40fc" /><Relationship Type="http://schemas.openxmlformats.org/officeDocument/2006/relationships/notesSlide" Target="/ppt/notesSlides/notesSlide7.xml" Id="Re6775c28534a46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f7edd0f4334477" /><Relationship Type="http://schemas.openxmlformats.org/officeDocument/2006/relationships/notesSlide" Target="/ppt/notesSlides/notesSlide8.xml" Id="R1320e8e23f6344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06afd99f884085" /><Relationship Type="http://schemas.openxmlformats.org/officeDocument/2006/relationships/notesSlide" Target="/ppt/notesSlides/notesSlide9.xml" Id="R0356ef3f70f347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c114e18c7d4a6f" /><Relationship Type="http://schemas.openxmlformats.org/officeDocument/2006/relationships/image" Target="/ppt/media/image2.png" Id="Rcb8e1f3bd7bb4471" /><Relationship Type="http://schemas.openxmlformats.org/officeDocument/2006/relationships/notesSlide" Target="/ppt/notesSlides/notesSlide10.xml" Id="Rf74ca4fa47de4f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9d70d925ec41a7" /><Relationship Type="http://schemas.openxmlformats.org/officeDocument/2006/relationships/image" Target="/ppt/media/image3.png" Id="R5316820b2048492b" /><Relationship Type="http://schemas.openxmlformats.org/officeDocument/2006/relationships/notesSlide" Target="/ppt/notesSlides/notesSlide11.xml" Id="R2e131c67e5fe40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3a1df14c2b46be" /><Relationship Type="http://schemas.openxmlformats.org/officeDocument/2006/relationships/notesSlide" Target="/ppt/notesSlides/notesSlide12.xml" Id="R4b1611894b344d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3e28828e3e43ba" /><Relationship Type="http://schemas.openxmlformats.org/officeDocument/2006/relationships/notesSlide" Target="/ppt/notesSlides/notesSlide13.xml" Id="Ra2a931e7ca1c43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ca7dfb96dc448c" /><Relationship Type="http://schemas.openxmlformats.org/officeDocument/2006/relationships/notesSlide" Target="/ppt/notesSlides/notesSlide14.xml" Id="R720fbcb938674e4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82a7f756c94704" /><Relationship Type="http://schemas.openxmlformats.org/officeDocument/2006/relationships/image" Target="/ppt/media/image4.png" Id="R14627327ac144a10" /><Relationship Type="http://schemas.openxmlformats.org/officeDocument/2006/relationships/notesSlide" Target="/ppt/notesSlides/notesSlide15.xml" Id="R61a23f05904945c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e5adcdfd314198" /><Relationship Type="http://schemas.openxmlformats.org/officeDocument/2006/relationships/image" Target="/ppt/media/image5.png" Id="Rc076e9cf7c164bc5" /><Relationship Type="http://schemas.openxmlformats.org/officeDocument/2006/relationships/notesSlide" Target="/ppt/notesSlides/notesSlide16.xml" Id="R2f95239c8c5a436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7f25e87cce4d00" /><Relationship Type="http://schemas.openxmlformats.org/officeDocument/2006/relationships/notesSlide" Target="/ppt/notesSlides/notesSlide17.xml" Id="Rd54f86f2b91e4ec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18a5c44a4b4da5" /><Relationship Type="http://schemas.openxmlformats.org/officeDocument/2006/relationships/notesSlide" Target="/ppt/notesSlides/notesSlide18.xml" Id="Rf014e190532b4bf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88129bb7e34ab1" /><Relationship Type="http://schemas.openxmlformats.org/officeDocument/2006/relationships/notesSlide" Target="/ppt/notesSlides/notesSlide19.xml" Id="R6b2cf0d757cb48a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0dcf3e518147c2" /><Relationship Type="http://schemas.openxmlformats.org/officeDocument/2006/relationships/notesSlide" Target="/ppt/notesSlides/notesSlide20.xml" Id="R4b30433d5e7a411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66cfc4d436482e" /><Relationship Type="http://schemas.openxmlformats.org/officeDocument/2006/relationships/notesSlide" Target="/ppt/notesSlides/notesSlide21.xml" Id="R280b433aa57d44c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9aaa97926a45a8" /><Relationship Type="http://schemas.openxmlformats.org/officeDocument/2006/relationships/image" Target="/ppt/media/image6.png" Id="Rcc2caf765c484586" /><Relationship Type="http://schemas.openxmlformats.org/officeDocument/2006/relationships/notesSlide" Target="/ppt/notesSlides/notesSlide22.xml" Id="Rd4b010dcae064e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3ef10e41b645a4" /><Relationship Type="http://schemas.openxmlformats.org/officeDocument/2006/relationships/image" Target="/ppt/media/image7.png" Id="R78a6cf9622fe49f8" /><Relationship Type="http://schemas.openxmlformats.org/officeDocument/2006/relationships/notesSlide" Target="/ppt/notesSlides/notesSlide23.xml" Id="R120ab5143c4740e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0ffea454ba4a3d" /><Relationship Type="http://schemas.openxmlformats.org/officeDocument/2006/relationships/notesSlide" Target="/ppt/notesSlides/notesSlide24.xml" Id="R27f4963a32b84cb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f81c1540974258" /><Relationship Type="http://schemas.openxmlformats.org/officeDocument/2006/relationships/notesSlide" Target="/ppt/notesSlides/notesSlide25.xml" Id="Rc0dff9f46b674a7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1654c9474143dc" /><Relationship Type="http://schemas.openxmlformats.org/officeDocument/2006/relationships/notesSlide" Target="/ppt/notesSlides/notesSlide26.xml" Id="R229d2bd74f5b4a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ec8958e33a4e37" /><Relationship Type="http://schemas.openxmlformats.org/officeDocument/2006/relationships/notesSlide" Target="/ppt/notesSlides/notesSlide27.xml" Id="R10b3d2642ec0420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457e37562e4a78" /><Relationship Type="http://schemas.openxmlformats.org/officeDocument/2006/relationships/notesSlide" Target="/ppt/notesSlides/notesSlide28.xml" Id="R987c4113ad404ed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b76b347069485c" /><Relationship Type="http://schemas.openxmlformats.org/officeDocument/2006/relationships/notesSlide" Target="/ppt/notesSlides/notesSlide29.xml" Id="R50802244285e440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e747eec9f542b3" /><Relationship Type="http://schemas.openxmlformats.org/officeDocument/2006/relationships/notesSlide" Target="/ppt/notesSlides/notesSlide30.xml" Id="R2883bc3b5da141e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945f49427c4c5d" /><Relationship Type="http://schemas.openxmlformats.org/officeDocument/2006/relationships/notesSlide" Target="/ppt/notesSlides/notesSlide31.xml" Id="R3c9ec24f3cf64df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56baae34174266" /><Relationship Type="http://schemas.openxmlformats.org/officeDocument/2006/relationships/notesSlide" Target="/ppt/notesSlides/notesSlide32.xml" Id="Rda9de18c2b7a438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b5f0237ee74b11" /><Relationship Type="http://schemas.openxmlformats.org/officeDocument/2006/relationships/notesSlide" Target="/ppt/notesSlides/notesSlide33.xml" Id="R292e820649fa404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e2db6561ca479b" /><Relationship Type="http://schemas.openxmlformats.org/officeDocument/2006/relationships/notesSlide" Target="/ppt/notesSlides/notesSlide34.xml" Id="R684b186099f04fe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87692b29524cc7" /><Relationship Type="http://schemas.openxmlformats.org/officeDocument/2006/relationships/notesSlide" Target="/ppt/notesSlides/notesSlide35.xml" Id="R4957010640af49c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d431b26e404c81" /><Relationship Type="http://schemas.openxmlformats.org/officeDocument/2006/relationships/notesSlide" Target="/ppt/notesSlides/notesSlide36.xml" Id="R3e44a98b37714f9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9f2c8a370a4725" /><Relationship Type="http://schemas.openxmlformats.org/officeDocument/2006/relationships/notesSlide" Target="/ppt/notesSlides/notesSlide37.xml" Id="R02744a5b8a89472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c442212c8b4cbd" /><Relationship Type="http://schemas.openxmlformats.org/officeDocument/2006/relationships/notesSlide" Target="/ppt/notesSlides/notesSlide38.xml" Id="R6679f3e7dcc246a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7251b1754c4c1e" /><Relationship Type="http://schemas.openxmlformats.org/officeDocument/2006/relationships/notesSlide" Target="/ppt/notesSlides/notesSlide39.xml" Id="R4a25e7b08185491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80b079544b4061" /><Relationship Type="http://schemas.openxmlformats.org/officeDocument/2006/relationships/notesSlide" Target="/ppt/notesSlides/notesSlide40.xml" Id="Rc7aff91b684f490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cbabdfe1ff4246" /><Relationship Type="http://schemas.openxmlformats.org/officeDocument/2006/relationships/notesSlide" Target="/ppt/notesSlides/notesSlide41.xml" Id="Rbf8b48b0ea53461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b4077d0844c9c" /><Relationship Type="http://schemas.openxmlformats.org/officeDocument/2006/relationships/notesSlide" Target="/ppt/notesSlides/notesSlide42.xml" Id="R15398ea91349476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d0346ab8fe4f1d" /><Relationship Type="http://schemas.openxmlformats.org/officeDocument/2006/relationships/notesSlide" Target="/ppt/notesSlides/notesSlide43.xml" Id="R0e6370036d6d489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b912710d514c50" /><Relationship Type="http://schemas.openxmlformats.org/officeDocument/2006/relationships/notesSlide" Target="/ppt/notesSlides/notesSlide44.xml" Id="R01e60612a418462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7cac21b5b49eb" /><Relationship Type="http://schemas.openxmlformats.org/officeDocument/2006/relationships/notesSlide" Target="/ppt/notesSlides/notesSlide45.xml" Id="R3c872a341a5e42d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BB43CA-DC27-4A1F-ADFF-1DA225C7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7A52B-D4D0-4A75-834C-7B5F94ED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0"/>
            <a:ext cx="7286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FC983-983D-4C44-8516-EE513590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1A584-E886-4E4D-926F-B6B0BD37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82548-ECFB-49FC-AD00-7A236E97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39814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Stellarator optimization as a computational design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8BA64-1D66-489F-94E8-3E559849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3810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1: geometry, equilibria, Boozer coordinates,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A2F57-6E4F-481B-9F30-58AE6A69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9A517-81A4-447E-9C07-61D8AA47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Four 90-minute lectures: from equilibrium objects to Pareto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74120-B8ED-4298-BFAC-26923B97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19793A-AB39-4602-A640-9AE93E46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Default path: cached, honest, runnable; research path: optional live codes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7E411E-B74A-452D-B78C-F09E897A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81050"/>
            <a:ext cx="60579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3caf16fb6e4a86"/>
          <a:stretch xmlns:a="http://schemas.openxmlformats.org/drawingml/2006/main"/>
        </p:blipFill>
        <p:spPr>
          <a:xfrm xmlns:a="http://schemas.openxmlformats.org/drawingml/2006/main">
            <a:off x="6484311" y="952500"/>
            <a:ext cx="3947779" cy="41148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EF252-55D1-469D-BC3E-F4A104E4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5435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Computational design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B2AEC-A11D-473E-B4FD-1EC2CE3B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96AB3-C48E-4D38-BFF9-4A492F7B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FB551-E95A-4F7C-9651-78396CFA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546E96-F9D6-42A9-A045-134759CF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D197BE-2682-434E-A10E-AC088141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359CE-9E3C-4E86-925F-BB5C3796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1B5C93-4031-4E39-A077-DC7B31C0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41E64-357D-4C7E-872B-EB7EE9D1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B59A42-DD85-4F5A-BACA-06EFC87F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70CD13-81CE-4D19-8546-9B569607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26BED5-1162-4B4F-A63B-EC500D9C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89ED9-E4EA-4080-ABDE-649C755D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6623B-646B-4EED-97A4-900A05B0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DCF7B7-3BEB-4AC7-BF0E-D15F421D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DBB6F5-A51E-40E6-AA52-1C7545F0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22CAE0-362A-4E2D-A69C-7ADDA520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6B06E6-7A72-4BEE-85CF-4E52FBE4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2EC1C2-59B4-4C88-B1C2-A7DEDCC1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E44B75-5229-46B2-80D4-691FF364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43E811-344A-44A6-803C-2CC3CF07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C0FD42-62F2-4F5E-A6D5-9445A111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429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1/45</a:t>
            </a:r>
          </a:p>
        </p:txBody>
      </p:sp>
    </p:spTree>
    <p:extLst>
      <p:ext uri="{BB962C8B-B14F-4D97-AF65-F5344CB8AC3E}">
        <p14:creationId xmlns:p14="http://schemas.microsoft.com/office/powerpoint/2010/main" val="14101108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21957E-57C4-4A27-89B2-ECF9DE94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9BA89-CE3D-4CEE-BA0B-A05AD22C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ADEE89-F042-4B42-AD33-0A329434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4355B-41C9-420F-B9E4-F92EED6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Rogerio teaches the optimizer view of stellarator physics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D08A0-D97E-4253-ABF9-6EF3506B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2B4B9-FE10-4053-8C99-2C224B67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B2A05A-8A6B-42A0-88F0-7F41C022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24EA3-DFB5-4E0C-B479-D42B204A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37A52-04AA-4353-94D2-F927B102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Arturo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1212F-092B-43B3-87D4-B257BDB6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geometry and magnetic coordinates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B2FC4-31C6-453B-AB1E-EE9FD22E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9F8A3-235B-46CD-8308-25D72C73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5C46A6-10DB-4B39-BD0A-A6B809D7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34155"/>
                </a:solidFill>
                <a:latin typeface="Aptos Display"/>
                <a:ea typeface="Aptos Display"/>
                <a:cs typeface="Aptos Display"/>
              </a:rPr>
              <a:t>Alessandro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C78CC-E3D4-44CC-81B9-78DE3FF2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 and turbulent transport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E43E0-B214-4942-BA44-03E7EAC5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971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26BD27-C9DA-47BC-BCAC-AA8D9E9A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971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F57AA7-642D-46AE-871E-39414791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This block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CE5457-9F81-4ACF-BE82-4C8E562B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813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how those quantities become objectives, constraints, and validation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269D92-C1BD-4D37-BA3D-31381849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rPr>
              <a:t>Boundary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5AF773-8028-45F5-B518-C3D4920A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B5563"/>
                </a:solidFill>
                <a:latin typeface="Aptos Display"/>
                <a:ea typeface="Aptos Display"/>
                <a:cs typeface="Aptos Display"/>
              </a:rPr>
              <a:t>Derivations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A3397-C213-4126-87C9-5A4188E9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053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Design loop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AB71ED-5360-4CE5-A913-36CDFFC8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3F48FB-16C1-4FD8-AB69-7619C1DB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E0716D-A563-4E47-9A3B-0A91C8FD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188B47-407D-46BD-B13B-94966FB0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2D09AA-B911-48B1-A009-AF167E29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7D096D-0581-41C9-82BC-AEC75D45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EC4D48-2FF5-49E1-9952-9E563797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A7C51F-2266-49D4-8E3D-77A63F8E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A5C878-648A-4F82-8C63-DA52EB44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3FBC2C-DF18-494D-9622-7A0E158F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CB571C-FD29-4996-A588-D234DC83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B6742F-111D-4FDF-96EF-DC33340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0B0F42-8077-4DC6-A2EE-8A5A9E91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2C247B-C296-4A7D-A3AD-C0BD6961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C42433-4329-4A75-88A5-54A7E819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5AE58D-435A-4753-89B9-95745BF1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29ACFE-9288-4881-A8B7-DCA6EF45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7F001B-166B-490C-8F9A-90D49714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9CBBA8-F88C-4616-92F5-2F23ED22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307860-6C36-45D3-95DB-043788F5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05BE02-2130-432F-98E5-C0AA1F57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75795E-3BE5-4449-9810-8E5C6C06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F992C3-468E-49F2-A20E-1ED08504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757B70-7BD3-47D4-98B6-DB67F598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35A9FF-330A-4125-9A09-D385DB28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256836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F1102F-472A-477A-8767-A3AB9292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E1CE5-F874-4B26-B500-84E2AE41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900C7-0171-425C-B854-83ADB81F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DAB26-5027-406C-9353-A173C7A5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modern design is a reproducible loop, not one optimized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4B41C-7065-4E74-ADC5-E40DF156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333D1-0526-42B2-B987-ADA3BD3A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7BC4A-38D8-48C6-ABEC-6AEBBB59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F8282-F3A6-4213-AFAB-56FC565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6D571-50DE-42AC-8B7D-FAE03953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087E9-F4F9-49ED-86FA-F2AB45CA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EFAA2-AE24-48ED-9066-E7848053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FDB41-414E-4A2A-BDE7-45975DCC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2F148-A84D-4CBC-9A84-16E2D623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7AABEE-7664-471F-BF9F-D5007432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67847-6233-4552-8532-FCC98F3C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11C9E-620C-42D6-87DD-A3CC1F4E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2ABA95-B7B8-4C4D-85BA-F8ABEF08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0E304-82C1-4321-8CC3-A80622FE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49226-B761-4E9C-9E0C-AE90DAB9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F95AD-854B-4C03-B186-23BCA583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11BA1C-3863-4475-9F62-B47BA92A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DA6816-87D8-4276-A63D-2B8B8203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08CF30-D2A3-49E2-A31F-C3E8705A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A37159-3247-458F-A6C8-90B649C1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5E67A0-C072-4C53-96FF-ABDAE068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4D2F3E-E765-462F-8970-43813FDA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F4554A-4569-4760-8AA9-3EEFEBE4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641C44-FB95-467C-A9E3-CBE459C7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equilibrium -&gt; Boozer spectrum -&gt; neoclassical metrics -&gt; coils -&gt; turbulence metrics -&gt; profiles -&gt; Pareto decisions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697A74-5971-45C9-A233-85D3A3CE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086F5D-EA2F-43A3-A038-13B5EBB1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Each arrow creates a data artifact that must be checked and versioned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148FD5-5EA8-44A4-9657-02A6259E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9D54F7-8D37-40FB-BCBC-FA2BE38F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74B8D4-D741-4DD9-AC39-03042E95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B46417-44FE-4B15-95E8-B2173C41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376BA1-E56D-4AE8-82D5-CCBFB0B0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633173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60B422-C9D7-4FBB-8CE9-8E5DAA62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A14EC-6721-4D1F-877B-01B7E10F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69C20-FC98-412E-819C-89AB6FE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AF921-64EB-4F22-8CCE-ECF6460F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inverse problem starts with choices, not equations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D15C2-640A-48B1-AB45-0EECB6AF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52B69-0959-44DA-85FF-3B9E1355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E04A0-CD5C-4F1D-9AA6-5F06FA32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51481-DFC8-48A5-956F-5CE48531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8E48E-BC46-44CE-9B0A-99270304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E49D4-ECDA-4F3F-B493-DF3E4A60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Choose boundary variables, profiles, currents, and coils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47F29F-28E7-43BC-AD91-FA200CBD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37B48C-F714-40FE-B2D0-C5DAA90B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CD708-514E-46CF-82FE-5D6C43D3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A3B8B-A525-483F-BC5C-B0A51FDE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Ask which physics model is trusted at this 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EE2684-94BF-414A-ABEE-0447D331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0B21C-4A24-4B81-B49C-782801A6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20563-FCB1-4309-9899-D589187F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CB3DBE-115F-4E71-B30F-A4950076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 the assumptions before minimizing a number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1866BB-66FF-426E-9A97-A055C82E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5B2DF5-7746-4621-B426-B19B932D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8EF26D-DE9F-4AC6-B1C1-37470D93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535F8A-8003-4C83-B817-29E47F1F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D72AFD-561F-458A-8701-E829102E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688D9-6D0A-4DA8-AE35-E62EA953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232668-0990-46D3-AA38-90AA594C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414D53-B34C-4D4E-A589-4CA19F2F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D220E0-C916-4D82-B4B7-E6B34E03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844D47-1996-4EB7-B3E1-BA5C74D5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E378B8-C87A-4BD9-B727-822CD1A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7E718B-1600-42DD-987A-E0070227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1143A1-4433-41B9-B8EE-EF5BD026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45DFD0-C577-418F-9A03-CFFD78EB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FE986E-53EA-4532-B0DB-03742F3C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08CAEB-797C-49DC-877C-C6556EBD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009442-3622-4BC8-AC93-1882AAF6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474233-523C-4DE6-AD84-07AC20A2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950947-FD56-4E6A-92D3-C294D064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7DEAA1-22BD-497F-AC4F-2109912B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18F150-C3BD-4139-944B-1AB89E0F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41C213-CB22-4DD7-BED2-C70484C9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881AEB-6432-4C71-B3A1-47669FE9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C58331-5406-4CE2-8286-5FE97DE2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CA0D14-811F-49AC-8F95-682DB1E5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46D962-3CC2-408B-9CAF-09D5F0B4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0AD22B3-99A8-4EC9-9517-93E715C8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B5FD19-EC59-44F9-81E1-A3810C6A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790209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02AB0D-3219-4AE4-A94D-0BB2B04E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A6889-88AF-4EF7-A673-C35225BC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6ECD4-C771-4D4A-8C91-DB6DFC6D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5EDC5-92F7-43AA-91CD-B00EB92B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optimizer sees parameter vectors and diagnostics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ED817-7899-423F-9975-845F476C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3ECFB-B0BB-4C32-98EC-F29374BA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6FE00D-13DA-4E91-BA7F-17E488F5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2260B-FAFE-4DB5-B499-2BDB951F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5973BC-DB75-4773-9754-DB760B4E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4EC9F-7CFC-4B48-ADDD-18B91EB8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65EA5-1EB5-4141-ACFC-E89B6B38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72472-C4B0-44FD-AC74-E89E2371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F3A7C-EA17-40AD-93C6-F3AC9C3C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3213C5-9484-46DB-9017-9F9C2021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481DE6-5334-46F9-92AE-B2D1789A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D3FCC0-1355-4327-90DA-77084C44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70CC93-050E-4E91-87E3-4DC82EBA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CD36E2-38A0-49DD-9C83-BC55BEEB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31FBBC-6ADC-4537-9245-4EB97E1E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B7E3C6-6A8A-4323-B30B-73C6162A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7B3776-D3B3-4A70-B76F-6A397223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8F7ABE-E2A4-40CF-96B8-C8A14662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DD987B-6235-4035-913B-BA098DEF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46D291-D15C-4414-86F0-1A53ABE8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313B11-8E60-4510-A926-318243D7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788B43-46E8-44F1-B26C-FDED24DC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746FD5-9960-45C7-8DAF-BA633950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86D799-8D4A-4181-A4B2-84F13B8B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Boundary Fourier modes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43346A-FBF1-46F3-9ACE-0F224E0D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5CC168-4974-42EE-BD4A-EE5B4784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Pressure/current 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EF3542-0A5B-432C-926C-DF549C31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FCF090-A7E2-4256-A779-AD7F2E6B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Equilibrium residuals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546B19-6FE0-4623-86B0-A3D0B88A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81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56D21A-2456-4C04-8CB1-B289BDB5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iota, aspect ratio, volume, beta, magnetic well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542AC-0D9D-487E-AF47-DDF57835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0809A6-2B4D-42BE-AD36-F2AB19B8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9A3AC5-3AA5-4B00-A150-EDB87A3D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E1B871-1642-40FD-9A8D-EDCDF9EE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D386F7-4840-4573-B95D-C897CFBE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85850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E08A6A-DF4B-4065-9479-073229E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160754-AB82-475E-84A5-921B1FE9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A35E3-222C-4D44-903A-A610AE63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63549-70AD-415A-A4BF-162ABCF3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Boundary Fourier modes are design variables with physics consequences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08BB0-7F08-42BD-8422-AD781B08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5C2629-4473-4E13-9B41-C33E7B33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B2AE7-09FC-4446-9B00-703CF0A6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4CE7F-CD6C-4C56-97CA-A8FBE0F1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99156-5DF0-4433-BF58-B0236E87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83BEE-28DB-48B1-B537-966EB8C1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Small changes can modify symmetry, aspect ratio, and resonances at the same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19E3F-6960-4C3D-A272-AEC3FEA3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4E322-98BA-4D19-A779-3904F325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8C01C0-DD22-4F45-B2AD-17A3822D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9E371-7C6B-481C-879E-183E4CCF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That coupling is why one-objective slides are misleading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0DD0A7-3F79-43E1-8835-D0592993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C32C4-34EF-459F-97EB-9A2B0CF4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888AF-144B-42FD-B96E-AD00E851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DC8D62-C02F-4E28-B260-828A0BB9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887F8-F19F-4458-82F2-A0BA8B4F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65A567-CB92-4859-B13E-E4BF3692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91A84D-4A83-45B8-A2F0-94253EE4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0DB67E-2A75-4659-8814-F04E765F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625475-6848-4C1E-8CAD-58AA65E0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22F243-B666-4506-A2AE-B1DC4D70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746D1-2FBC-4F7B-9ADC-10C41065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6F12B4-DFB9-419D-AB2A-228A1EF4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FC2170-087C-4412-97E3-FCD8166C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ABE563-9A39-4E45-B882-F710F960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B2B0B9-0F20-4471-A83C-9A9A0F69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F99A7E-22CE-417F-AAC8-2F04DEAB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6FD19A-331C-4D9C-8347-D01A0B46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18E6DE-E035-4217-A872-A8DDA66E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158087-4CAC-4A11-BCFE-026CBA61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AF8EB4-C8DD-4E90-BF43-921AD757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90117D-28F7-476C-8175-07020590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4FEED3-0977-4E09-967E-86D91FFB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D86F4B-FAC0-4A3D-8AE3-022A3D4D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CDAB2F-8A66-421E-A316-15C1112C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79FBD6-A515-46CB-8F24-13167AAE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3672AD-9D3C-40C8-84A2-E3F90CCA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43BA0D-54EC-418D-B93B-795D7295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3B18A2-B7EE-452A-B335-045D035F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454666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CEAD4F-B655-4C90-9339-2F9ADA17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F0F75-10FD-48F9-8C26-EC46BA10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31AEDA-3D93-4FAE-A703-2EEB0A7F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44CDA-4FE5-4BEC-8701-2036430A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Profiles are part of the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D3854-71A8-4FD0-BD40-F10B5B00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98D77-23FB-4B2A-B165-98852104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4C4EB-8339-4451-BC1E-EAEC0EAC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5763A-49DE-462B-A915-A5D9924B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CA6E85-0CD3-4AF4-A5ED-C1A4750C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95730-9C32-4927-97CB-99697F94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Pressure and current profiles can change rotational transform and stability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41C12-E165-4A74-A7A9-213AE8D1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79FF9-0263-4555-9DC5-3C0BC81B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0D1CA-A2F5-45A3-B00C-7E3F3466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12A85-5CBF-4B46-8E98-81F84926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boundary-only story is a useful first approximation, not a full 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2C5C8F-E07B-4742-9CF9-A6D9C1ED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CB244-5530-4BB7-B5DF-755BE29C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206C2-91A5-4927-BFDA-02E7AF6D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57F17-D0FE-4100-BDBF-674D56C4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0081B-080A-43EF-B492-32FF0E9F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4D8CA-9962-424B-8368-BAA0460F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99196-C945-44BD-8882-5948950B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9791F7-7E33-4491-BC4D-EC0E66D0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AB70F8-A8F8-4B1C-A811-B43CC18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9D4337-6651-4F6B-8FE4-A25D02E6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99931F-EAF0-46DE-9D9D-6B0EF947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DB7F37-EFA6-491A-B1B4-519CD5D5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73AC4D-3E3B-441C-B236-BA74175D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76F989-1D5D-4BFF-9A7E-996D724E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0AF1D4-E8CB-412A-8C31-D10CF228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C5FCC-4E37-45F0-8F13-D106CE7A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25B458-04CE-42E8-A9CF-3A05A2C2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AFB747-EC00-4CDC-86EB-A298505C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97DF2B-ECCA-4E1A-879D-63532A93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1A0A62-239E-4007-991F-84BFE3E3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ACC1F2-E001-45C0-9C7B-3E1FAB88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E638E3-CC0E-4F60-A578-73F20CFD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37C601-930E-4B46-9C8F-B400C5C9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EAD007-3FAF-42A2-969F-61D98442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AC2B72-89EE-474A-A1AA-E8A65745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C0C214-082D-4A5E-802E-43FC429F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6C2E0F-8E91-4C78-986A-70275234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356063-16FC-4C35-892E-E26E47C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6111654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F9D01F-8B10-4AA3-A268-104FB8E7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C1015-2083-454C-BF08-C0667786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37DFB-821F-40C0-975A-33BF5891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C7D4C-7F38-4365-93D5-25B54B88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VMEC is the first computational 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D1624-4EEA-41AC-9969-FA00A257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B993C-FFF8-4AB9-83B5-B2F0837F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E0433-274A-435F-9D9D-AA9180DC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E2A65-3F9C-4E21-ABF3-641560C6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0E8209-12D9-44AE-B464-E1CE4DCA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18422-A4D7-448B-B62D-99133AE6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E59ED-6930-4657-A591-2DA5B529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CA610-6DB1-48A1-8F2A-84CECFD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Input: boundary and radial profiles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9DADC8-8DB7-470D-8ADC-3F597E25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BE29BA-2BED-41AB-A1CD-6DBD3F18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Output: nested-surface equilibrium and `wout` 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5DD63-187F-4D35-882C-49947C38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EFC56F-4D44-4404-9740-3AA691EA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Teaching fallback: read public `wout` files or use labeled synthetic surfaces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31D21-BC73-4128-80A8-4E055D6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BA29E5-3D99-438E-B104-AA7FA07F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B206F-AB71-483A-8E8E-0F311382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198D9A-ECFE-4017-B8F2-E78480D7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12E620-00E2-47C0-A982-F1C214FC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71B152-2846-4AF2-8BD1-D5606A41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51D7F-B064-48E1-8B0C-5C07F1F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E11FB1-AFD7-4D13-B273-62CFEF20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9AC0C9-905F-4F6F-86F7-EBA245A6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28D8D4-DA7C-44AE-951F-244D2A67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7AD003-1868-4554-A761-AF336BB7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53C7C-3FCC-4FD6-922C-89EE2F19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8297A6-8AD0-484A-A27F-AAEE47C0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D92EC6-509D-406C-9C8C-E87E1B61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A43CCC-DE44-4B28-A21D-BC2724F8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41C5BE-C0A8-4563-83B2-E35CF1D4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6D34BF-6C77-45AA-B249-0422E444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3FF13F-8554-4C0B-BD41-761551D6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CF1DC9-8F5E-4BEF-8A52-9E773D4B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F78B65-FD6D-4976-8C42-D227323B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B1932B-CC1D-4719-ABED-0082D523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B06C61-C830-4CE8-B2F1-AE318A5A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C143FF-2A05-40F3-A288-EAFBBA17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76039F-1A5E-40FC-A16C-033F9AD3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5DE689-622B-4355-BD33-1D18B41B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22534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353A09-EAB1-47E9-9D1D-01E7C1BB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6E605-9610-4108-885E-56BFF973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844F3-7ED9-4D0F-AB71-40509A2D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433C6-DE61-4AE8-AAF1-1C4AFAC7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`wout` file is a checked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03E22-5281-4904-BCDF-713D6BE0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98D84-9E68-40D7-BEC4-44086C6B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ED1F5-9290-46A0-9E7E-474A8F30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C1551-D9D9-4100-A94E-16F131E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38151-46FF-41E1-987D-AD5D8A94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C8D50-E86B-4F9D-A783-553E1990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6A218-D37A-41EC-8B96-054061EF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4FA4C-5BDD-4CBD-AED4-46852D38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Inspect dimensions, variables, iota profile, aspect ratio, and surface geometry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0BA6BD-4471-471B-964D-7615E29E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B5A1C9-AB79-40D2-A202-43A863B4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treat an equilibrium file as a black 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2B1B5-411A-4005-972C-878D7A44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8ACD18-B870-4F05-9633-75AC83E7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A9A20-4765-4BA4-A279-2A21B9E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71D90-8B47-4376-80C1-7A324B35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97AC63-42E5-4B11-B523-866DF9C0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281C42-880F-4251-A4D9-5D865376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4025B-5A23-4765-8A18-2AD12F90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046DA5-42DB-44D7-8B56-C1BA10C5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4FED90-D1E3-40AB-993A-B45951F3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86C3E1-4F19-4F28-968A-F005006E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5C8BB-A92C-4893-9456-35C7381E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ABBFCB-4C5D-4342-B440-BF2A6B42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42B582-4CBE-4EA0-B455-1ECAA6F3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8253B5-4BF4-4EEF-AE1A-75251B51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7D1814-786A-4D36-B886-64589A6F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DA5855-3EFA-4117-8468-8AFFB57E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E5C95B-7EED-4B3C-B3F5-FF1704AD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31C1E-BDCD-482A-9687-C987DF51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662EA-DF62-4C74-89A3-B44BAB68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C79B1B-34E5-4E78-88FD-E2622DAA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51DE41-5DBD-4FF7-840F-BE6077FA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53EFA6-C042-479B-85F0-4F383AEF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384F93-0F21-4213-B894-208BE54C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53E156-8417-427E-86AA-B5961870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EC0122-66DD-4A01-9073-417AEC1C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647264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46EBFA-1C26-4C43-AFFF-DF2A8DBB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E391A-42C1-4F7D-A9F2-B1BB0767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B1E0B-2E29-49C9-9B07-07F0FAAE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408199-A1BC-4059-8B2A-E34CF426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HSX QHS is the compact live thread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6B4A0-845C-4ED0-A60D-CADF83A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55C03-7C09-4901-AD48-117E0AED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2A58F-4607-4279-9AEC-0BBF5E21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e1f3bd7bb4471"/>
          <a:stretch xmlns:a="http://schemas.openxmlformats.org/drawingml/2006/main"/>
        </p:blipFill>
        <p:spPr>
          <a:xfrm xmlns:a="http://schemas.openxmlformats.org/drawingml/2006/main">
            <a:off x="2261766" y="1657350"/>
            <a:ext cx="3582244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C2C251-615E-495A-90D4-BA9F3371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9E30CB-ECBE-4BB9-B0EC-B9FFC854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A3B2D3-20CA-4086-952A-88A55E03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Small stellarator case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D5E5A-902B-4BF3-978D-431F9506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05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84F85-22FA-4FA4-B944-6AB9D41E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003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Natural quasisymmetry 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4D01DD-4CB5-4A79-AEF4-7E87F87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57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DDF29-5F53-4CC1-B671-AF4DBA7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528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Used across equilibrium, Boozer, and neoclassical metric notebooks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95C79-A38D-4025-BE88-789A9420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DE880D-79C1-4929-98D9-A6DB9233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F78CD7-BC16-44D7-A85C-C94A96B0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99CA05-9877-4CF3-896B-0E991717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8D8704-DB04-4106-9746-E747DBB6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8528E0-3AF8-4960-A57F-EF26E424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36665F-9A40-4B8F-8455-F5BF84AE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89FFC-A5F9-4B08-9E9C-9FC6F2CE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662711-69C2-41BB-A312-D7C0FC0E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123138-AD04-4B1A-9B5A-E84F0CF5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4A238-0138-46D6-83C9-B6D0F719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902B29-C710-4A47-9DCD-155DC039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D83E8D-D869-448A-A90A-DEED3F82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0F55F6-1D59-4608-8C66-128D85F8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5D6F2-DC36-4149-810F-EA9291B6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ECBD6B-53A5-4E44-8F04-8A232D69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359818-186A-4967-AD82-2AD2471E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128C05-86B5-40C5-82EA-4600EC7C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31DA8E-831A-4C8D-88AD-FDA2B878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C0135E-30EE-492F-BF42-A24CF273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8E30A4-F86A-4B77-9E13-BEEE3ADD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3C726A-FA1A-4D23-963C-6CD689D7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80E167-D616-4493-BCFE-5CB809E8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B798DB-8615-4953-946F-04AB9172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C38662-C372-43CD-9129-93DC41F9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D63DCF-0747-45CE-A59A-2DBDEFA6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06FE82-D5B7-4281-A7CE-A771F4DA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9252708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04DB5B-18E7-40F3-BD64-7C5D5493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05A43A-9D82-4121-BB63-76FAB368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A29BF-FDC0-4EB8-A65B-BC5FD1A7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342C1-8583-4062-A212-679510AC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Rotational transform is a profile, not a caption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D057D-E12C-4AFA-AC18-AA0BCDAB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938C3-C313-46CB-978B-4BA1EA3F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86C9BB-AE22-4472-AC9F-E842622E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6820b2048492b"/>
          <a:stretch xmlns:a="http://schemas.openxmlformats.org/drawingml/2006/main"/>
        </p:blipFill>
        <p:spPr>
          <a:xfrm xmlns:a="http://schemas.openxmlformats.org/drawingml/2006/main">
            <a:off x="1034328" y="1657350"/>
            <a:ext cx="6037118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6117DD-3503-41AE-8870-9FECAC56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09CB8F-6415-4DF6-8FD3-6FFDFC69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9D7EF-7347-4A14-B586-E191BB1A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controls field-line pitch and resonance exposure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76F2B-036C-4949-BF6C-919E2198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BE4C1-E85F-46E2-A48E-246EF1F5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can be targeted, constrained, or monitored during optimization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0E406-340F-4FAD-8560-FD48A46F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76CE0-6A74-4EB2-A065-0BBB4BDD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FF7547-B890-4A3A-A57A-93271FAE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D2550-A4CE-495C-B1C3-93D809ED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40DF2-5F6B-42C3-8748-B9738153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27B21A-784A-4995-AA7E-379680FF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5907AE-4F32-4865-B127-03F6EC90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07272F-16F6-4811-95F4-1DE5967D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A24A44-0879-4EAE-8B99-E5F3748F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516F8A-59FE-4140-A5F9-DECAD2EB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A2F46A-3A73-4F62-9C66-83FFBA9B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EFF35A-0AE1-4EE7-93BB-426DD3D9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0963AE-C617-4ACA-A522-AFFC3F26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EA16E7-5C29-406C-B878-478240A5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461DB7-DE62-4389-9498-6BDA125F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23BEB9-D244-4D92-8FCD-28358F63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48530D-E5DF-4A56-9A55-E0FB4BB2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104371-EF0E-4D4D-B472-9226EF2E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EF4D01-C9E5-4E03-9836-961F4A62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6B7832-B160-4071-BE3F-6433A032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17CF2D-579E-4AAA-96EF-2E26C29D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5D194A-9907-4F76-85D8-19BBABB0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3AB94B-917D-448F-99D0-CA82EA3B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AA6A39-12DC-415B-9178-91AF4D42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ED8D7F-4033-4D6C-8DDD-44CB25FF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AF54AA-8E6D-457B-9FF5-91070DCF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22774C-8F27-46C7-8231-617BAB68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48509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E83BA4-E19C-471E-933D-8F029702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15DA2-7169-4F2B-92C6-C2DCE373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9DBF5-413A-43DB-8BE0-4F0E74F5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CB9F3-9DDE-4AEC-BFB4-93F30194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Equilibrium failure is a teaching feature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16D22-E88C-4943-98B6-5B412E70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45257E-ABC5-434B-944F-46A89A47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5835C-0844-46C5-AA03-00F5F4BB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220B7-258D-4D05-A967-FE539968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7B492F-151C-4A8A-8FDD-530D0A46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02CCC-613A-4419-9D1B-F03C90D1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D4CBE-6038-41B5-AC9C-008A7194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Non-convergence is information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ADBED-59B3-435A-901F-6D4BDC95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A1920-4EFF-43C0-827C-FC37A4A9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Bad resolution can produce attractive but false metrics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67A875-B741-4B72-86C7-5AEC65D8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A46906-18ED-424D-B252-B02DE7D8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Cached mode lets the lecture continue while preserving the warning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B7F242-4891-4925-A3CA-258403A9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329EF2-2E7D-4906-9AA4-2BCCEAA6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62FF41-CD6D-44E7-B51E-EC87D57B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35142-2103-4901-9184-1056B394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B0837-55CC-42D4-8D9A-C7D12FDE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BF9594-AEB0-45DC-A490-D5D46D9B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BA86F3-A200-4247-AEB9-85E886CB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195872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89D3AE-C4B2-4509-B7CE-8FB00BF5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58FC30-094A-4D43-90DA-6E052B9E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78838-7E71-4FC0-8FA4-C0B238C3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28CD3-85F0-4735-B258-C78E9B68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first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A2686A-AB56-4B74-AF30-32AB00B9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EE2BB-DC02-48A6-9B64-4A7B5EF1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5C55F-8FC5-4238-8DEE-C8E06B76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8AD9D-54DA-4827-B642-DDC68FF1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B48A2-E9B5-434D-915C-0B6D7099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AAABF-3B31-4C61-9D10-EC3E7FF9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notebooks/01_vmec_jax_first_equilibrium.ipynb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9C8073-3282-4175-95A0-E07608CC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4F4D1D-915B-4267-96CE-0E6427CD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Load HSX `wout` if available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FB7364-3DD1-437D-8AB3-D5D755FE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27C50D-8847-4A5B-8403-C09177BA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LCFS and iota profile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271BD3-31A9-4891-B9CC-790F805A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E1191-D358-49A2-B50F-80AAE5A6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boundary-mode proxy and inspect metric coupling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13F3E2-4780-416C-B1CC-860E3F4F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6E1A0A-1DF9-4D14-A4EA-DD68A93A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04E622-108B-4C2F-B6E3-9EAFB591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25FD9-CF94-4DB0-B80E-5D0B08D8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CF1014-7E3C-4C1B-A127-CD12CA08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AF76E2-3CCF-4F05-88A4-0D6A239C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A993AB-F30C-40D7-8888-A3118542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5EC16E-4FFA-4014-AEF6-565A4A38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C43809-015D-43AA-A317-DE5404A7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3C9181-0B92-442A-8560-4FC736F4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776BEA-9A53-44A9-8E49-40E8E9C4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7E5E77-960C-45F8-9493-8934311B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42DC3E-2F16-49C5-A228-005697FF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29DB52-ED37-4523-A275-2CB73316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124159-BD90-41E6-B6BE-94387E59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472BFA-9E9D-4574-89CD-8ED5EB86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1958B1-3383-4100-A411-16978FC5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353EF2-0635-4806-877B-216A0DED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FA5D68-6C99-4491-9EFD-7783886F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900442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C24A38-1FED-4951-A73B-E32262C5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0DC56-72A9-4F4B-8889-CFEEF9C7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93EAA-86D5-4ED4-BDE6-5F166874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A647E-153F-402D-8799-03A0678C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Boozer coordinates are where symmetry becomes measurable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295F4-DBA2-4480-9EC0-FE744012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6767D-9AF7-454E-9AB4-E87E0A3C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110D-79F2-46EE-A649-4E031854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CC8B3-99AD-4BC2-8CDD-5FA3531F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FEDFC-9A99-4138-8514-9AD49A63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99EDB-A0CA-439B-88BD-067359C5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Many design targets are statements about |B| in special coordinates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A98DBA-E354-42EA-AECB-E4600E2C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21759-9985-4618-AEEE-535A6FD1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A6607-621B-4B73-BF50-BC82CE94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0821AD-78EF-4C14-8382-1C05E3E6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spectrum separates symmetry-preserving and symmetry-breaking modes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9262C9-46DA-4279-8CE3-E781407C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6EE56-3FDC-4603-B23D-74552365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2A9859-FAD9-43F3-B855-A16BBAAD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B05F2-B87E-4E26-822B-301193AB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2FD1B1-8EE6-4C31-8CAB-A1CDB104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C88021-5146-4537-B4AB-5145A0FA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C4E5DC-4934-4409-987E-40E85921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764E1D-6AD5-473E-AEAC-7105D1F0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2F7F2D-9107-45C0-A1F9-6CC96224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C109C0-41E6-4C3E-9FA5-BCA9F41E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1D6F99-4D5D-4DC2-AB6E-C1BF7B4A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54B59E-6E11-4E3E-82BE-FBCE34CB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B17BDC-E3DD-485A-A408-7AD92073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D92D98-9A67-4A01-89D2-867690A1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B92206-ACA2-4E71-807C-2DB86728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A7A4C9-647D-4E69-8FA3-69258009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2D07FC-27F4-4676-BE2A-E89CC195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D6BB6C-39CC-48FD-8C12-C05D5FBE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9D64B8-6378-43DC-9A28-F962D1B6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5C4FA3-59E1-4865-B51C-FEABB53E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B4E82A-6A49-4BA0-B10B-BCB18677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2FFB8C-B5EA-4A65-9731-A340BCB1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80C7DA-FAE8-428D-8215-C39A8DA7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FCAB38-89D4-4132-95C4-43040293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9A180E-5954-4B3E-835B-5440C2C0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E0C762-F442-4047-89E0-65309972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CD3A10-67E2-4453-A3F7-40722614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7DFB30-80D4-4CC5-8A4E-365396C7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6988296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58AD6B-37BE-436C-A7A9-7B52A304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D5DD1-EE21-47D7-A195-EFDBB7F2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045BC-3520-4C34-B3CA-4681B52A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F7762-5FE3-4489-AE87-9B1F8140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Boozer contour gives a fast visual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B7F0CA-0A3A-4302-8AF8-01729CDD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A55B7-47FA-4AC3-85D6-4261E82F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23D79-23A5-4325-B4AB-A5BC73EB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627327ac144a10"/>
          <a:stretch xmlns:a="http://schemas.openxmlformats.org/drawingml/2006/main"/>
        </p:blipFill>
        <p:spPr>
          <a:xfrm xmlns:a="http://schemas.openxmlformats.org/drawingml/2006/main">
            <a:off x="1249726" y="1657350"/>
            <a:ext cx="5606323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DFA11-DF7F-430F-84BE-05A36E30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10AF9-4505-490B-8EB9-538CCC6F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AAB38-F67F-4F1E-8F09-C3618502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Clean bands suggest dominant intended symmetry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8FFAE-AAA8-41FE-A11C-E794D79F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A38E53-F603-4D00-85ED-B828CEE2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Damaged bands reveal off-symmetry content before reading a scalar residual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E5844-C625-446C-842F-51A3A2C0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DBE60-1A9D-4D08-9F31-E5C4A8B7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2E0C3F-E0CA-410E-BF65-C836925A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50E205-5123-4024-8B9E-D840A918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CD777-6277-4D1B-B38F-E032D3F2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785F2B-C9FA-4436-A6D6-E1F307E7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ECA79E-79FC-4156-A356-0BAE7DFF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011642-E330-465D-B03B-CE18DAD3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8B5A44-B1E9-4829-8B31-C29DA347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CB2A2-C1E6-43F0-9571-7E06137D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D9E360-057E-4346-AE9D-2B6FE7CA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B998D-68FE-4A62-B212-1B7749E2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43FBD3-EDB7-435C-B601-1311E909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5AEE00-BA27-46FA-BCD5-29C90DFC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C2B087-201E-46CA-BC51-9E54CDF1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D667F2-C403-42A0-AF8A-EBC91E8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3DA551-C903-40D9-A1C9-7F6274A2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6EA136-A2BB-4B50-87C7-5237820F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E470BD-DC94-4D8A-843C-4EFFDC11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7873AC-6BC3-4251-8E37-C0A7C48D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DC3A9D-F798-429F-8D53-663EB9E6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9C9978-EF35-440A-9DCF-52B70AB1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86A3EF-A1B2-4BFE-8CDF-C20D366D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AD88C7-4842-4736-B55F-868EF78F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094022-3A28-4E06-BD6F-83C54D7C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E75733-2561-4ED7-AADB-68745C39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5CD8E9-65E5-4658-A39A-49D4713A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2833656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5594B3-3E88-44D4-B394-E90F00A8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FE0E2-58BF-4364-9E5A-2A9196F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63E3E-D679-484D-80DB-4FB9999B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EDBD8-3485-40EE-B194-8390156B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Boozer spectrum gives the optimizer a target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908DB-E423-4C7D-94B4-04DF2820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1C6D0-DCD2-4DE4-AA2D-A909B84E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EF705-62AA-4169-8744-885BFD59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76e9cf7c164bc5"/>
          <a:stretch xmlns:a="http://schemas.openxmlformats.org/drawingml/2006/main"/>
        </p:blipFill>
        <p:spPr>
          <a:xfrm xmlns:a="http://schemas.openxmlformats.org/drawingml/2006/main">
            <a:off x="742950" y="1706589"/>
            <a:ext cx="6619875" cy="3635321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5DF748-1D79-4625-BC98-4F07E01D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24CE8-1CBC-455E-A9D9-9C32D8B8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8B3C2-F3E1-4AD1-8911-2CD0A34E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Dominant symmetry line: protect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42E8D-B078-43E6-BC2B-B1B0957A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05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5046C-2CF2-4C86-BAE3-7B56DA54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003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Off-line modes: penalize them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BE8CE7-7C41-4513-97EE-A1B85E26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57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CFB50-DB8D-4D96-8897-0CC68462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52875"/>
            <a:ext cx="2952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Weights encode physics judgment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1B4B0-F928-4D0A-AD1D-DE8C7F30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439B6D-42B7-4A88-88CB-6E27C843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9262A1-78D3-4D80-9073-5B19FBD3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F8B3E0-455C-4F7A-B81C-2C3C77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AFF610-DEA7-4F74-8D23-A4EE34A8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FF7F1C-1061-4EDF-B423-E9926141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A1638-2859-4519-A119-C2325BF5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043F4F-008A-4894-B5BA-0D9D1B81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48E29F-FA11-4C3D-9FE4-61B92675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64EF1B-6AB8-4C8D-9BA9-1AFFAA84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9B18C2-4E95-468C-B514-B2BA9A11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F298FD-7FCE-411F-B395-A6300A54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59DC90-11F3-426D-8174-264A1C6B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0E9483-922D-4C4C-9B38-46E4980D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E79566-AD6F-43C4-8FF9-26B3647A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205E07-7645-437B-A1BD-DB30AE69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95C89F-2917-4455-8BFC-09104012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27B34F-B9D1-4902-BD22-5F5CE55A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01178E-38A4-40CA-BD9A-20881AD4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C031A4-152C-4C94-B944-11EE25CA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1E2E5C-F978-4D82-9B44-060A4575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FD8B27-258A-420A-ABF5-4BFDC06E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DA0677-CF10-4541-B62C-04593878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DFBD26-5AC8-4A0A-980B-4CA4C530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E2DA44-AADF-4402-BA36-CFFE0ABE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0FFB30-24C2-4733-8760-C961FA48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A2B5B2-44C6-4699-9840-E723552A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6839599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72F49-279B-45BA-94D4-50C2C86A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C0619-7D04-427C-8FA1-813D3BFD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577BA-24FC-41D6-B52F-32E3C171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1FE74-012E-49FC-B328-008176AC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Quasisymmetry is not one number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2167E-231F-45EC-9429-002BB5D6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3C95F-4D44-4C5D-AEBD-ADF82D0B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47F3C-F6A4-4831-8C5E-094B6516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2D82D-9176-437F-98C8-6C246E09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38042-1F43-4787-8590-887A5D82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09D45-9426-4CBC-9566-EEF6DBDD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QA, QH, and QP imply different mode structure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D70446-2094-4CE8-B025-6BFFF69D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3245B1-5A70-4A03-B510-4ED4BCD1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085D5-DBCB-4719-83F8-6E606845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DC6DB1-9965-4CF0-8033-677B43BB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chosen residual must match the intended symmetry family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5FFD1-3ABE-4B8A-A742-1AAF753B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E08331-0D91-4E8B-88CE-FEFAB31C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46D95-079C-4000-9F2D-0BEEFB9E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58EFE5-0240-40CB-B9E8-DB001480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0F9FC-7B1B-49D1-B05E-D19D451F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A2297-FD85-4E82-9571-1E01ADB7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3B595-E7C1-4489-83C8-38BDDA9E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4D7BD-A12C-4249-98F3-326AC004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D93C56-E916-4AD9-AAA3-31798DC8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5312CC-D83E-447D-B7B6-2DB1EE3A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9024E0-9168-4784-BD7F-8DAB6D24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B80EAE-EE5E-477F-AA1E-B2F88EF2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813541-9456-4815-83CD-DCED9DD6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60990B-89DF-4EC8-B45E-0E5AD0F0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8FAB87-B962-4076-8D5D-2F7534C9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8CAEED-817D-4124-8C9C-1F1E28E7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4F68FF-352F-4D32-91B3-38DCCB71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CE6CFE-B151-4BD4-B081-853A0C9D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F4B8E7-A638-4A48-A29C-8F6B4D81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DC4D3A-9CC9-4319-ACC8-E8896EAC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76B0A8-F777-4873-899C-2988C7A7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DFDB4A-61DB-4508-B582-741136CD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907A87-1B85-41EF-83B5-006F56D2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CACBDE-1CCB-4315-8D84-E15FFA49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F204D0-C906-4F19-B4D3-1855BD09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1FE806-9588-413D-A570-EB624791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01203D-A8C1-4DB2-9185-87DB2022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CCA5B3-2226-4B2A-A045-414EB2C2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062862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B7674C-B21F-4B9F-9FAC-73879C2C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948F6-6BB5-4358-965A-71AF00F5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AAA87-A24E-441F-AA33-49B4360E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5FFB3-3669-4B07-8D66-F3353802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Quasi-isodynamic and omnigenous ideas enter as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C3F080-3CAB-44DA-84E2-01E60DAB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10580-1C2D-4394-956F-9D86CE29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0C155-316D-47D1-B51E-416DA239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306C4-88A2-4E6D-B719-6278F48C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4DA1C-D962-43D7-BE96-669223AE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7DB87-A4EE-48F6-BBA8-58EB4DE7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enough theory to state the design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A630F-B6F6-4BA4-BA72-EEA8FDF9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D77A0-12E3-4422-8669-91D9E533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F7E19-922B-4CBC-A8C3-8EA972D0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727FD-8A9E-4A30-BE9D-6FD75707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Leave full derivations to the geometry and transport lectures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0F8569-443D-4647-9547-426DF18A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639444-1A28-4AEF-9BC8-DAFEEEA1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BE5C4F-CB48-4182-A5F3-2A64E912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7F50A5-EF1A-4C67-A0E8-823DD797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1C20A7-A08D-486D-AAA6-E738B3C5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973F02-9143-443C-80DA-35C16BFB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3C0DA-E60B-4CEC-B3A7-3EBEBDE9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AB22BE-4770-4C6F-AF89-4B57B1B0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1D3F8F-7E78-4B64-8136-FCD45F10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27407F-A2A6-462F-8F49-2F75E4B7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E860DD-26C3-4C84-8F85-04E81C15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ABCFED-4ABA-4C54-9514-43E6C3E7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DF3E06-CE24-4397-AF9B-37BFF626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44C8A4-3EA4-4EFE-91F1-17C7368F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E14C00-FB20-409C-A00B-5318DD53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4E382D-4642-4CC0-833E-264C16AB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3A7D9C-88D4-4A72-8B44-E2320C67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234851-4E6C-4863-B824-4078026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751D58-1FEA-4F02-BC6C-9F956EC4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2F5053-031F-4456-9F2F-BEA26C9C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4D5A22-DA77-4DA5-B2D4-91B48F94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01625E-F468-416A-93EC-69A81A25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3131FB-39F4-429A-87EF-6F65A480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242CBE-C693-4DA4-B039-CCDDB080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C261A6-BA3C-4EB2-9EC3-3E6A23F6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442840-7BD8-4DD7-8D32-F8DF444D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7F5939-882F-412A-988D-00FFEEF2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75BFA4-7674-4DAB-86E4-3C48195E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2133174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FAAEAD-6ECD-465D-B02E-CF79C26C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89F9BB-AF06-423E-B0F5-93E65306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A712B-1D79-4E9F-B050-B9566392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B44BB-B44A-4737-83E2-11F921E9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compact residual is useful only with a mode audit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B728B-2F65-4E66-9E99-00921120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45093-A8EB-448A-8378-4C219561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6B157-8E0D-4535-B46C-5F24677A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E333F3-C09B-491F-983A-B9A53F74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3C781-BEB7-430F-9D5B-7ED12F14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8F5C8-846B-460B-B308-0D97EBFB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B6B42-F4A3-4988-B1D8-51B4C2C3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modes were retained?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2CB21-78FC-4CD8-9550-3BF8426E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658842-3E05-42C9-ABF2-2098AA17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surface was used?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825B11-AB40-43C2-96EE-44C02FCD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EFBCE-C85F-4CB8-B9B7-7332BCB2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Was transform convergence checked?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E2425B-6D3D-4ED7-9546-4E45F66D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7354E-82F6-4D0E-8233-C631D2F5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7A5785-DD15-4ACE-B7EB-6A7D0CB9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EADE5E-1F99-452A-869B-7FDAC301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48DF65-BB71-420B-9E7F-E4FB3C2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2CDDBF-4744-4572-A8DD-07B0270C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98D959-F7DC-4F3B-945C-CEAFF03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9783166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06170F-89B5-4771-B189-4619CED4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123C1-8560-4BFA-82E2-6AF727C8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259B2-0255-45C1-9493-F8B32551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F9128-229D-407A-8A64-E6284397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Boozer spectrum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E62BC-4021-40A6-9E57-017F7FD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090AA-E4C6-4515-BA35-E81CFA13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2C826-EEE0-48FA-B5BC-91E59413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F9454-D19C-4079-B127-DD893E1B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60E67C-1773-4BC1-B3A7-C04A68B2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EDBE1-336F-48AA-BC08-7FAD1E1B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notebooks/02_boozer_spectrum.ipynb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9FE7E0-4B3B-4D35-9E9B-4523D2CB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255E65-4F50-42B5-8FBE-2CD0AC87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 `B(theta,zeta)` from cached modes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1C9C5-8D58-4D9A-8E19-F8A94B96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74ECE-CCF0-4A6B-9767-0948B691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Identify symmetry-breaking modes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2B7B5-B74D-4149-B20E-28B1E29B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45C75-C040-4871-93B3-6973D982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Perturb one bad mode and watch the residual rise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003E35-7F2C-427C-B6E5-495E6292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6BC17-9FF4-48C6-A82A-037CB0B5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19C409-DB68-49D0-B1B9-1CA96710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07645-6316-4504-92AF-38C8CE98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7E6A0-4B0F-4125-94BC-335FE675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8BCC92-C49F-4DF2-B606-8D27A3F7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57D814-F318-4E9A-B9C1-49DA9B9F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A0DBB5-6440-425F-AB99-0441E292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4886E8-401F-4324-9EFD-B10DEA64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C1A6-F7BA-4F56-8ED2-A8D06A45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269DD9-4CFA-4E80-9BBB-026A3AC5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B06C75-6FBB-45DF-816A-B2D8F4AE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3A8C4C-3EFC-4E60-B71F-D552AD3B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F78F70-64C4-49F0-8B59-7A51C1A7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CD8BA9-EDB2-4BC2-83D4-55CBF8B7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E34189-97F0-4B62-8252-149CAEA2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99010C-1C3F-4648-A864-9538A4D1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6C6755-F6A0-44FF-8785-60B784A9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92CB0A-BD61-4BDB-8D1A-31CE29B8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6671475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08A9FE-5D2D-40B1-AFF8-28EE37E7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F2CC5-4E23-4CF3-8E23-A4396BFE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FA1EA-9629-4325-B40F-3F045996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AE02D-86C5-4B80-9B20-04DE69F5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Neoclassical theory becomes an optimization metric through compression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4623E6-B079-4F86-AC96-69BBDA78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0264A-9F89-4E20-94C2-9098D119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B2138-2BC8-460E-A0CD-9A21FB76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9EE71-A412-442E-949E-57C01D1B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4F381-7879-4DBB-A24D-3BBA7F60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C8AB28-D887-4D4F-B22C-F49A1C7C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Effective ripple summarizes a piece of low-collisionality transport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A393F-351F-4390-9941-EE6656F6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F384BD-0977-401A-93DC-E4ED9FCB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9BF55-6798-43F6-990C-E444616D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A0FB0-36A3-4AF8-8058-9AC2C755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is a screen, not a full transport solution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099836-CCD5-44D6-A812-56190398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27A001-FDE8-42FD-90B9-A7D1EC4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8A416-0319-4F4D-8C27-ACA0E946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305312-53DA-4537-AF59-B96918FF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5E99E4-6E93-4567-B544-EA267FAD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907D9C-564E-4CFA-A0DB-699D4D47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FBA524-8249-4D3B-A7FF-DB143889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8CB7B-F589-4E0C-A414-DFA7BD27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1E2BE9-230A-4BC7-9D09-8A91BA89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0AA167-5946-459B-A791-4EC2E8C3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14A784-C309-48E8-AF3C-BD688097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D2DC2D-4F1A-4602-B3FF-ABAC27A2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FEF213-6312-4E40-A9B4-1F37BE8E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118933-5E83-410A-9AC5-B89C648B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95CAB0-F691-49FD-AE27-90B1582D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5E5205-2B30-432B-8E79-8B93914F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401894-4843-44BC-A004-EF9F7DA2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E564FF-8272-4808-8BE8-9869B828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B2A724-037F-44B2-905A-6B5FFEDB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ADD0F9-44A2-4C3D-8910-780287D6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3B15FA-40EC-4D0D-BC20-47ABD6A4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7D6A95-CA45-4A5C-B868-BA55CBFD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734A7A-95A5-4EB6-B7C0-98651620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720C88-05C5-4F07-9102-49AB8E53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415B1-FC1E-4744-BABA-FB7AC4C5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2D3DCB-C4AB-42D6-9332-2F89822F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B1F701-4C49-4787-9718-5C454B53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85B117-B6AC-4C6C-9452-5A714C2B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2917457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DB88D6-5E58-47EB-9B00-A232D8B2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437827-4035-4AD6-B0F1-BCA183DC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25099-E2DC-4D60-918B-21DB2092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B4DA95-4CA4-4C90-964B-DCD842EF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Effective ripple compares configurations as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00CF8-3F98-46C4-B840-9E2148BD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4D91A-0E24-4A6E-902D-880E2044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94BF5-09B1-4A25-B993-D62B4717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caf765c484586"/>
          <a:stretch xmlns:a="http://schemas.openxmlformats.org/drawingml/2006/main"/>
        </p:blipFill>
        <p:spPr>
          <a:xfrm xmlns:a="http://schemas.openxmlformats.org/drawingml/2006/main">
            <a:off x="742950" y="1700283"/>
            <a:ext cx="6619875" cy="364793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466D1A-9EE2-4D04-8F0A-B0B3E1E6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2707E-BE4E-4A39-ACD6-127263BC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601681-DFAF-4EDA-B804-916F3F86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 shape matters: edge and core can rank differently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2186C-FDE0-497C-8D05-848B98C5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A3621-2884-4561-88E1-BA83092A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single scalar score hides where the risk lives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D358B-CE11-4D1B-AEA6-DE2CB2D0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87393B-49B4-4E8C-B60A-759DDAA1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2F5F5E-D1C9-4267-AFC6-1B57161F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4934C0-1381-4953-8A4D-D38CB9CA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DEF0FC-0F50-4181-9CFC-7372E43F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E4B89C-E6EA-4C57-989C-87DEC033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B7CA6-A401-4528-A88A-E1269200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0B0A0-3515-4F23-BCF9-2B828561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E1B01-8342-4E5E-88F3-22241D27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566A11-F928-46BE-923E-1F179378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E5A3D1-70D2-4768-9CF4-E4E6A1C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3B800A-652F-49EC-A049-2D15249C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C2D4B5-B8DC-4853-AD9A-1777745F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6480FC-7E0C-49B3-A7C7-34B33A44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08ABEF-AACE-42CC-AD3D-4FC99F82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5DCE4F-6ECE-4466-8844-7E5F4AA4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0C16FD-EB3F-4BFF-8FC2-DBBEF9CF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DBDF80-6CAD-4EE6-A636-0423B426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047087-2BDB-416F-875D-40B94FA3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973D11-2E49-4019-B893-3C21C6B9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57AFC6-7BAD-4B2A-828D-A4FCC8B0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321905-AB66-4ECE-9E5C-4AE3A0E2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AEAB80-1F00-4A72-9067-E3C8DBB5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8432AD-111D-47F3-9AAF-DB8311F8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AEBB45-786D-4E42-9C24-F228F443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FD8DE20-E22A-45D3-B627-CB4527A9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5DD6E0-1DDB-40B3-B13F-E4DB5B6D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44899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BB27A4-60D1-48C1-9452-87D647D9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8F00A-CC1B-4301-8BF0-17A881A3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E0F41-1E5C-4A52-BB70-F27C842D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3BDD2-5131-4193-98F1-869F5ACE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Sensitivity matters more than the absolute cached value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04AC3-59A6-4317-AF8C-A5DED624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BD5CD-4118-40A6-9CD6-5111C775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982F1-EBA4-49DD-A796-751A6077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6cf9622fe49f8"/>
          <a:stretch xmlns:a="http://schemas.openxmlformats.org/drawingml/2006/main"/>
        </p:blipFill>
        <p:spPr>
          <a:xfrm xmlns:a="http://schemas.openxmlformats.org/drawingml/2006/main">
            <a:off x="858122" y="1657350"/>
            <a:ext cx="6389531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B5521-52C6-4940-B4BF-3C36D459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D0A37-D758-489E-84F5-E4C5D1CB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6A149E-0787-4903-B916-75E1C77B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useful metric tells the optimizer which direction is worse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A1644-08D2-4330-A341-D844F198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0E50B2-7BD2-4EFB-B521-CB136B00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Finite differences are enough for the teaching 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B6FF3-11E8-4CBA-8A4F-A86EBC12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1DD64E-AA5A-4134-8A9E-FA861525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D10FC-F46D-4F36-883D-3C6B3B86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1C0FC9-8723-4ADD-9537-A45C232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9A8125-BF8C-4AA9-AB93-D62AD697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18A142-CF28-4B45-9B15-8384DBCC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C937C4-8175-416E-AAF5-AAF0CCF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846469-5F0C-4C1D-A430-1DED19B2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80741D-424C-4E5A-9393-4D5E24F4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AC648-B754-431B-92FC-824A7AC3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3112D4-EB50-4469-8FCF-842FAF38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2DABE3-F6A9-43D7-9E28-ECE57598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B62A9D-757E-48B2-8878-878886A4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3FB63D-37B0-4303-85F9-1B81807C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55FE7F-68B6-46C2-8E8C-73D8B493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3385D8-68E2-4A9C-9B49-5A98D27C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21F49D-CF29-4D72-9A12-FBBB103F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64EA8D-38BE-4484-8859-0808E9AC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AA2592-D934-4DE6-A642-5D4414A9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FCCE27-4552-4609-8198-32CED71A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817734-5D7B-4136-A379-BB7B02AF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C24273-1AAF-424D-8625-5F7B360D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93496B-AA4C-42A4-ADA4-8109D49A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68BFAB-A2CB-4FF3-B877-D381B081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877173-1F23-4B39-91DC-09EE2E64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09DBE0-793E-4E23-9CFD-37073B64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0CA96B-7103-4E35-9280-1FC2601F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8394013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EADC7F-1016-4421-977A-1665936E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A0FC85-E772-4B66-A350-D9612AF4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6A5E1-96BE-4FC5-AE05-AB2E159E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B3BD18-244A-4CC7-92F0-949D1920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Metric hierarchy is a cost hierarchy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7D56A-3BA2-43B4-B7F7-471FB1FE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13721-7D20-48EE-8DF9-F81100DE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3CE1B-A472-483B-B612-D615A6D4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29AEF-6CD6-4427-8995-E0FD3F2D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226F3-0781-4184-BE93-0BBBD34C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57DE3-DFF7-4B96-9344-4FFC731A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Geometry and Boozer metrics are cheap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C3FB9-EF7A-4B8C-8D2B-B689458C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115AD-4D2C-48F2-BC15-A7C94D8E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B50256-AC32-4ED6-8CB5-82CF1FC0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DE769-D59C-479F-BD2A-68D309C1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NEO-like metrics are early transport screens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7F205-B2A0-4AFA-8BAF-17DE978C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D18E3-2533-47CC-85C2-AD2E5584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E4D67C-C7A8-4FAF-95A6-239B50F3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F507B-6155-4FFE-9101-477FD2A9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DKE/GK/profile calculations are validation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03929-FE35-43D2-9B1A-6120A885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2E6C20-4033-456B-9B7A-39668848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1EEFA4-2E26-4422-9AA7-2795EA91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264D4-8340-4406-907B-BF6BDD0F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1746F4-C9F5-40DA-96F2-5933DC28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F17235-44C6-4B35-B73D-F3F35A2B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1731494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1F3382-385F-4BA7-A54B-7713D8B8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46036-9579-479A-838C-85600FC5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0C808A-ED0A-46AC-9AD7-886329FB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DC761-A7F2-429E-9E35-E5F57535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Gradients are not a mathematical luxury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FF533-681E-417D-B273-0062FA8A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44407-F4A4-4DC8-AC5E-4C712450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CA67F-D351-4F71-8052-32D5B4BA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FE466-35EB-400D-A2AD-E4855F57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1DD7C-C90F-4CDB-9C17-F5C83D67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202A8-EDB2-49B6-9CBE-619DF79D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Finite differences are robust but expensive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790314-BE75-42A4-9639-AC5618D9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5DC5AA-B688-46A8-807E-2E6C2882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13954B-3CA2-42A3-AEAD-78753907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40113-B897-408C-9610-CD38348B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Adjoints and autodiff make larger design spaces practical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1FBDE-FAB5-43C9-8DC6-44ABA61E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251B5-D9C6-4282-A388-52A6DE7B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78666-F309-440D-B24E-9CFACADD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67EAE2-130C-4346-9CB1-B4869FCB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Gradient quality must be checked against physics fidelity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A114A1-C98E-431D-AB4B-7D58D574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16E45A-77A3-419E-8040-7DE04F05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3150F1-E681-4A32-8278-D1F381FD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4B0C27-7E51-4083-BE7B-0E1A161C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FBAB55-091E-4C24-AC4A-F8D50E19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15D33E-3607-479E-A885-2D230471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573869-B3D4-47A9-85B3-D5FE99A0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5665B3-7E73-4397-AE4B-9CEA08F3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5DE1E4-CDCC-4734-B8A1-8956CA2D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5BACA5-753D-4559-9B11-C61530B9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F040F9-1AD9-4687-9283-C93F6579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DA5281-889F-4BF9-8C4D-D494DEE8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8E0915-F9C7-4C78-96B0-BD4F6A64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6EBBA9-E7A6-4E0D-96A0-13DAA012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EDFA20-5124-48C2-807E-6A450980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FE1782-6DFB-4827-BDC7-9B0166F3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AC00AE-14DC-48E5-A051-35DA7410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6CD48E-207D-4FD2-ADC9-C3D6EB0C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212550-55B4-4835-902F-99252723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536638-B334-4D7F-B47A-4D6EB6E0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65F785-5816-43CA-82F5-832FE966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D6B6F1-B221-40FF-84F3-3EA585E0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9B0B98-037F-4558-8AD9-DCC45CCF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DD3A10-EDE3-4231-8B48-6A5AC63E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6821B0-51A5-4BFB-BD1A-01C0EF7F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90452-DFF3-409D-83EF-0B616AF3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D1EE6D-02DD-4D20-80B4-7D686337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1FCD5D-5B57-431E-A1BC-E9C5E428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44503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1F8AE5-CD9F-4C86-A663-06B45D5B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14AAE-9CB2-4510-9928-8ACCBE60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5739F-87CF-4EBA-A1F2-92AA5531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09C85-613A-4001-A173-C4CEDDAA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Autodiff changes the coding contract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7FA8C-B62A-4979-B472-038C9750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FB7D6-8697-49AE-B3B4-48B3ED8C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A0AA7A-21CA-47D5-9804-D1045006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30C87-3C15-43C2-896B-B6B0BC2F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3E685-9183-4971-ACDB-754F3DB0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3530B-78F1-4958-BE5F-5B243198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43FCE-1594-4242-BD32-A453E3BA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795D3-5D77-4C42-980F-6BBE352E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Every operation in the objective must be differentiable or isolated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AB6F7-B013-4C78-8D9A-F9B0ABB5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34E00-F3F1-4902-99BA-28B1A36E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Cached mode teaches structure; research mode tests differentiability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2CE38-9D13-4384-B4F7-B3DE27DA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85FF3E-76B9-4504-BF8E-450F9ED6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32DDE7-7983-4994-8925-6C87DB5C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4DA54F-15B5-4FB6-A6A7-EAC99439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50BEE-CE98-4E96-937D-C5E75319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67D5F3-6AEB-42A6-B00F-22AF83B7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F646A6-1FAE-47DC-8348-87DCA2C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5FA3ED-3196-4747-A0D1-95FC0F55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E0396F-6841-465F-A684-B340438F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23866B-6DB4-4A64-992C-140DF368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121264-9B57-46BC-A8D2-F8454F23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565FA5-4BB0-412A-A9CC-B71A61E6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613455-945A-4F94-A048-3989D9A6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B1C394-CE99-4F9B-AD24-9901607A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B305F7-F6DC-4B45-B5B7-A9849EBF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6F22CF-05A4-4D33-8913-FD6EBF8A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89A489-4899-4DB9-8220-1D4F96BC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FD4026-A0FD-4D2A-B473-7438D0B3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31D313-121B-4070-A2B5-ECE60884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442E56-881F-4344-99F7-0FF89129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831CD3-DE5C-4BEA-B26F-2F9002B6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94779E-704B-40C6-886E-9DD5CF68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E21B04-764C-49E4-9283-73D5FBA0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B8D1E2-3275-4882-B3E2-D05A033F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8A9D38-720A-4B75-A229-8FD5D0C5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5440925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4F0BF3-1853-44E9-A123-10415CBE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7C8CE-33F3-4680-9199-0AB0D25F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D0322-AE0D-4CDB-B978-AE072B01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AD0B7-03CF-42BC-91BA-BEBFFD40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scalar objective is a negotiation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32A62-A630-4AF5-82E2-FC8B74F1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AE1101-7D9A-4847-893D-87E1848E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1B4FE-ADAA-40D5-BC8D-602F769F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D1268B-BE6D-419E-9064-63DF72AE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16ACC-F393-44F1-B8A8-18353D10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02026-4A24-470B-9B65-86F1BA09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C9DBA-8235-420E-A2AC-B25F1D4B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F573B-CDE1-496F-A597-989222A9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4C022-8283-44AD-9D18-805A25B4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CF056-4215-4B1D-9E92-2515D100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03B0F-CA07-4762-9236-630D93DF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630AE-F0FE-4D85-BD67-A0E6F362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9F27F5-E917-4F00-8870-A3695D3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6C7AA9-0490-42E1-8056-05E0DD10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915443-8E32-43CF-B7AE-AE9D4B12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424807-B251-4946-844A-0B782017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BB248-8A04-46BB-8B1E-FE17C43E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85E99A-A1C8-44A6-A97F-6208526B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49DA8-ACEF-4060-B743-10B688A2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5D095-924B-421B-A71B-577AC992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DFCF7E-9B32-4778-B45C-B485C5D2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990C5C-8575-4ABC-A7B2-FA0E6BB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3E268B-B711-470C-9A5C-852C78D8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D0F03C-431B-49EB-BE63-9391C7BC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J = magnetic quality + profile targets + coil risk + transport gates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69438D-499C-4E35-AD24-12E864CF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6A1D34-8A9D-449C-9CE0-A219A563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Weights are values and risk choices, not constants of nature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BFC874-702C-402B-B22A-AD4ABBA6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3D347D-F1F8-497F-9081-8DFCB0B0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89D459-C2C2-4CD0-8282-85C78DFB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F770F3-182A-4F29-A6F7-A3B64D21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089DC3-BB6F-438F-9C8A-B5E19603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78549992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FF2BD3-FC7D-4F8E-A431-27DED4D6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BCF05-7F60-4E3B-BB1A-02E5B95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36008-2F24-4865-BE71-1C8E5FCB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AAFC3-A726-42A5-9883-80F7A12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Never optimize a metric you cannot explain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6DF0F-CE65-43E5-A09E-A2B06BBB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7203EC-C00A-45EC-9426-D97B8C07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0632B-19F2-431C-86FD-9FA307CD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6AFDB-A69D-4DA7-93F7-9483DE64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486A9-17AA-40AD-BCC6-A3C0BBDC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99F9A-9CB5-422D-8CCC-DDE30945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2CAED-CE17-4E02-B9AB-46328194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Metric definition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E8E5D-666B-4420-992E-4E2BC2D3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C370F-7D71-4FC2-996A-123BCA73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Validation domain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BF9265-E71C-45BF-974E-E0030368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985BE-A196-4102-8537-88E6D4C3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Sensitivity direction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DE45A-EE96-4869-B90D-78C4A883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C3776F-E0F5-4E1D-98C6-860C21C3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Known failure mode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B8731-A39A-4F57-89D3-03A4E70F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DCD96-0E05-4142-A11B-5909DA6A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67D7AD-A478-4E90-A565-661133AE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3F8AE9-4550-46B7-BC2A-51459900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662EF-451B-45E2-9A48-77762A67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FFC941-63EE-4458-8710-06A03A53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F13087-C4D9-4B9B-9377-FB7D3A8C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0085726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E0D0E7-20E8-49CB-BC2B-9380E2D8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9947A-ACC6-4A8A-946E-17AD2440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1F9A3-7BE1-442D-A14D-F08F0A46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24CF8-B932-4283-8288-9F732CE8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Data provenance is a scientific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E6DEC-E0DA-47BF-A903-CF4AFBC4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CCEBA-AD04-436E-A0BD-65736316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460F8-1AE5-481D-B9D9-CC6C7FFA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14603-D6D4-406E-A186-84F7C8D1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DEE12-330E-4FAE-86BE-6CD4C6BA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7A66E-07CA-4B21-92BE-C2A7FA36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814BF0-CD10-4A95-B737-EED10DE2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CE353-163F-4615-9808-C6C9DE45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Real public HSX and W7-X files are fetched by 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B6ECA9-01F1-4015-8F2C-290819A1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C3CFF-5EE8-40F4-90AA-81878279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Synthetic/cached arrays are labeled and documented in STATUS.md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6317B9-26D8-4EA8-85D0-57922276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085E3B-D859-494A-87F9-5F175497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DDD099-A55E-4431-91A3-6EF1122E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D69313-850E-435E-AB03-54CD9D99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C6EE62-DBDA-42FB-80CA-D62F20C4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0938B5-85E1-46C2-8C8E-AD82D8CA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B4B5D-0EEF-4A8D-840A-8601D515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9B303B-8518-402F-9C56-C4BC1142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9C9D77-CA64-4DFF-B97A-DF1A3016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52E75F-3E31-43D5-BEE1-92590D2B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15B3E3-C2DB-4DB6-9249-F11B5677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529E32-C5A6-49E9-B780-A63D0236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EEBE15-C8BB-4DC0-9C1B-6E93E4FD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C76076-E841-40FD-BCB6-088C111B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319FDB-839D-48AD-8E3C-A3013724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56881-8A07-4D7C-8CF0-6348F197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C96679-6C9D-4E2C-897F-843F2708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5289C8-7EFF-4278-BDD2-9645F9A7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34F746-F95B-402A-BAB4-0DEC55F4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084611-22E1-48F1-A14C-4EA03A8A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E54EEF-8105-44F1-9F03-DA72DDC5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070856-FEF4-413B-8DC9-CFBCAE4A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344F43-128B-424D-B055-640C006E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5AC5A7-C6DD-45AA-9C52-2EDCC81E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0FC6F6-5388-4575-8780-1E4AF521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2659382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7C0396-3354-416F-BC5B-F1361CFE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C04D0-64EB-4228-8CC3-393DD9BC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F7EFE-4DF7-4731-8503-1F500668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DF13F9-0CBD-4DA7-9FD1-8FA3ECF2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Computational checkpoint for 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67054-E436-4D80-963E-E36A059D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83A6B5-8627-48CA-92F6-382212A8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1DF9B-5DFF-471C-A36D-67A7EA31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0CD29-3086-4A05-A5A3-E1E47EFB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6DABB-7846-4A68-AC91-20DF0E60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69373-6CF2-4C81-9555-C75DC8EF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74A6F-AC33-4E21-9E17-FA3229EC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A4FB0-132A-4624-855F-352C0D17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 environment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E867E3-BE4B-439A-A5BD-579B64F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CA1E8-5332-4FBC-B5BC-C2C56D0E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Fetch equilibria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29845-51E2-49C1-B826-A88B7AC0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D67C5-B789-42E0-B5DE-76E05982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 figures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1D84DB-0E9E-4DD6-8684-B007B013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81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BBF12F-A87D-471E-B932-C1DE6CBE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768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 notebooks 01-03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408AA-1FB6-4C1C-98F3-3A75F10E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468BBC-2318-488D-9C04-5DCB8009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F28B14-07C2-4E42-90E8-519AB347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7DD538-1B9E-42B9-B45E-0F94ACE5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E49544-12D9-4756-A0E6-6FEE3653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84EB84-8B1D-4FE0-92A4-37973FD0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AB527-04F6-4062-9C24-A069F525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9EFF89-F5C0-4E9C-A194-CF828513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F52636-67C0-467A-AC6D-7BE07BC1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DC4AC2-3FEA-4038-85EE-6DD39949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0F9A28-0923-4AFF-9F7F-2DE9F5276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3FBB09-BA1C-41AB-8F30-11B47D58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94454A-AB49-4971-8A1B-77011580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60E3CB-743D-493D-AD2F-6401838C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137A39-5E13-416A-92F2-F2D13272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F105BD-3F63-428D-855F-AFB5B1FC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F382E1-2594-4646-A651-54D21E9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22DB10-8A16-46A8-A377-F2FA6413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8EAD52-09F9-42AD-857D-DB4BEDF3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4378632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7008A0-9C9D-41F9-B7EA-B7988BC4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8A906-7392-404E-9FDF-068F36D9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495E22-1AB9-4BDA-9DAB-0A7F1ABF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B4D0A-4F5C-4C9F-8407-BED5F553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Exercise: change a boundary mode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45C65-ECE8-41D6-BE7A-EDD138EE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B67528-B6B2-4989-B6EF-C71F073B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3ACE5-79DF-4C51-94B5-13AF9107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5C3E1-82C0-480D-8852-9635D534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8A21A-5970-45B3-8E4A-8180A78B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2B5EC-2BB6-41B6-8E6D-8BF2E3EC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7D497-8CC5-41A4-BF94-87CE737A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8AF11-E5C9-4DC8-8993-1FBA5E13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Predict which metrics move first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840FC-DA5F-42E9-8926-C477379D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4F0790-510F-4EF4-B8FF-CBE0315E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Regenerate the surface and mode-scan figure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596FB8-C1C1-436C-8DB8-73621127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57C658-4F96-4847-9C73-9BF6EFC7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State what the toy model cannot 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D5DC0F-2955-4684-95FD-624461E9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C03C24-4E71-4A3D-B7A1-E2724441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0B0308-F326-43F5-89ED-B6DB2059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59733-7088-47D1-AACD-BB38F926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AD0E71-43B7-4CFC-9AD5-7F3DAF51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A4FCBF-A47E-4A66-A27A-1F2DA7B0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899B80-18D9-4125-9B93-1065482C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57902087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F85D06-E6CC-4DEB-9D6D-30E9BC17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8948E-20B6-4374-BD1D-D9BEC41F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53701-DCCF-4653-9868-EF3CEFB5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11388-466F-4A64-871F-696D04E3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Exercise: circle the bad Boozer modes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882F4-A7F9-44E6-9D73-A533FBA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54FFE-4BEE-41D4-A833-EB2580C0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44A23-07A3-4C2D-93A9-19A17E2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028C8-251A-4F11-AB8E-82C0DEB2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542F1-1118-48A9-A820-3450419A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CFE8E-962B-4DD7-A513-0D30404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176FE-315B-49E5-AA73-E0758872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A42B6-B454-4CB7-A56E-D6FB65A0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modes preserve the target symmetry?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7D582D-2153-4672-B0BE-D4CCFC63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178BFC-8534-492E-8FEA-2C58CC9C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modes would you penalize?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F40B96-5765-4D5C-8D9C-B2B4F5A6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71AD5-12C3-48DD-9845-C47C1A94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happens if one bad mode triples?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20DBB3-1E92-4E3A-809B-6C04BF50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1DD28D-89DE-4392-83D7-44B2F3E8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DF2485-6AE6-47EA-B36B-0633B27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D00823-7583-4B14-9A71-0730BA7B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7B0791-8A72-4094-81B8-366B9EBD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2DEE18-A1F7-49B4-B89B-E5F4CF95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32511B-2F89-40E0-B9E8-FAA7B2D2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42207421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9B5380-22E9-4F27-9201-78CCE647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B50AD-FE70-462E-B397-E75F5BFB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D9902-950C-421A-98C7-8D0BB60E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7295A-4169-4C0B-A7CC-DF3D69BA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clean plot, weak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12B43-CE1C-4138-AB97-39435848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CFDB2-21E7-4F85-87DC-1511CB39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3645F-F164-4F5B-954B-7794181E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F15A0E-B1C9-4E19-A3A5-E4159788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92501-9691-427C-9AA4-58299035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798873-FE57-45A4-9710-F11272EF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2F924-6FFE-4407-AA3E-6700E404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nice contour is not enough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E744A-5C39-456D-BD6A-F3050C96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BD151-B0AC-430F-B91D-97F5062F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You need the input, mode truncation, surface choice, and convergence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4DF28-512B-4595-97EB-17FBA9E0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B245E8-7BBC-4E81-AE3F-17A5E50A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83AEC2-25D0-4262-89BE-FC54E44D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A36E9E-0E1B-4DE3-AEBD-1CDB6500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127699-F8D5-466F-9599-68517E42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DBC1D-C4DF-4FA8-9962-23149EF3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0F0BB1-AEF8-401B-B116-EEF3B00D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837940342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C28E3B-5D35-4470-B4E8-E4CB96A5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B7D03F-BACC-4CF8-A06F-945CC4B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E4B00-4E98-4582-B68E-64108F7F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3346BA-B0EE-4D7D-92DB-71E9E6E5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treating cached curves as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3F307-C167-451B-99BB-F60D6DB2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1EE6B-FA35-42AD-A951-3627F1A5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357E1-68EF-45FB-9E31-F5FBDD98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22C44-058C-4FCB-AFA0-F1E0343B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C41A49-56EA-44BB-86EE-840E82B0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40320-C7A3-4235-9708-AD45B9A5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694A4-3A5A-45DA-A77A-07330BAE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Cached figures are educational objects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CAB4B-3435-49FC-A041-547F6A59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6CB78-CD69-4853-A1AC-EBD41322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keep the lecture reproducible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95208-0FC9-48BC-A226-C013D49F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3F634-7815-4EEE-87ED-7F400A24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do not replace verified code outputs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6D232-D36A-4E04-9028-F4AE8333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72026-DFD5-4DE6-B82F-CEE0CC47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8DC9FE-B85D-4913-9C0F-82E2F818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E5EA5-48C0-4ACB-8725-FE77BF6D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2470F-C3D7-4E93-96B7-6D08B8F3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76A5C-CDB2-4638-AE72-D73AC02E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372B8-9E4D-4A52-AEA8-1DF41FB6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208002395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0FC846-BD7D-46B9-B338-4C8F33AB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0E22A-00AF-4DF8-BBEB-ED7D1FE3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3E9DE-30C4-4DB9-AE70-CA01D1CD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B8842-196C-405B-AA43-6A0991AA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62125"/>
            <a:ext cx="8477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Transition: a boundary is not a device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C76E7-F9EB-4FA4-BE85-6CE6D904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4CE0A-B165-48E9-A9A6-BA09F477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33800"/>
            <a:ext cx="733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An optimized plasma boundary still needs coils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855DCF-0C4C-4088-9873-206F9260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81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6EE0D-8442-44A9-A68D-7C2FBF38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733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Stage-2 coil design can damage the stage-1 target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867AC-5141-440B-9839-9A8FFAFD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35/45</a:t>
            </a:r>
          </a:p>
        </p:txBody>
      </p:sp>
    </p:spTree>
    <p:extLst>
      <p:ext uri="{BB962C8B-B14F-4D97-AF65-F5344CB8AC3E}">
        <p14:creationId xmlns:p14="http://schemas.microsoft.com/office/powerpoint/2010/main" val="1249914333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820787-BE8A-467A-B3C3-E99D70B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D5C389-3F94-412E-A068-66FE4E8A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82040-63DC-4209-9A0A-06334399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1D9FC-6C96-4F17-9EC2-2537D094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Lecture 1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74F0C-AC66-4696-941F-50EFA8BA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5B638-3E35-4507-9268-522C3C9E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32332-4D29-40F7-BD3C-50D2158C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574003-2075-46DA-89C4-7576D4CD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98CFE-5C01-489E-A305-5B4A677C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67B92-B87F-4338-8E2B-EA0971B8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D1C13-480A-4F62-95F4-27E408E1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89E5EA-7D2C-410D-8727-3D920CB7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946958-117E-4512-9D46-5A8DA602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00 environment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71A123-27C4-4912-9CD4-97063F98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E58BF0-5579-4B4C-A117-6842CA5F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324755-55E1-44EA-8798-3F7E8D88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EF32D-3547-4FEC-81C5-739602D7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 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4B603-AFF9-447D-9EE1-AD16814B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342F55-774B-443D-B33C-EB33EC73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C6B118-395D-495B-BC58-B70D5013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1D8C72-D921-48B2-96B1-4FC1CD1C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 Boozer spectrum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A72183-5352-4F67-ABA0-EADD6AE4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32BC5-D58B-4EF1-A94F-8E7609D3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B78ACE-A0DF-40B1-BA3E-58DE3F16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18644D-A77E-47C4-B6A3-C2BBE22A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 effective ripple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69EC20-BA16-432B-8C15-B96B0B64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983298-E9DE-497B-AA28-2697ABF6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4CA1D4-E7A0-46A7-8284-60BCDA65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163720-6F0F-4DAF-A760-8B36019B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6F8367-A8E2-48A9-80EE-570F3C95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ED0FC9-F191-457B-A3B8-9E2E42C2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10129715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E9407F-57B8-4D5E-B092-BBA783B2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0C47B-4DE9-4F65-A563-8E4A54E3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047D2-ED0C-44D9-B489-E76465D9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52973-379E-43B3-8928-0F101944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Five rules from 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C3D72-96C0-4DB7-B48F-D08BD97B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A7817-69B5-4923-BB26-372FA686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56D4F-2533-42FE-A76B-0C4A3627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BCCC81-D71F-44FB-9217-5A60B8AA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artifacts, not screenshots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97FD7-068A-498C-AE8A-CC4C44B7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B3A21-5D5A-40FC-ADED-F44D074B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 the design variables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24F231-C270-4CC8-8332-47931024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CBB69-0270-486D-A908-002B20F4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profiles, not only scalars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E5C7E-FFE6-46F5-91F1-0A822872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81361-9FB0-4B35-8FE1-29236B4D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State the validation domain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69479-50EE-4525-B7EE-2AB5D976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C981E6-FFBB-4851-B083-E0B597A3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Keep cached mode honest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35013-C9BF-439B-A34C-90F25B26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4846E-01B3-43EE-B2D1-6089FC4C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4E0E76-9C57-4DFD-A61B-52A02FC6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A77464-85C8-40A2-B67D-C361815C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AEC86C-1173-442C-AFF1-312BEA70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864A54-E033-4E1B-9A54-475A12CE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243CCB-0ED9-4CE0-A735-BB50A852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C53A7A-8E6F-4FDB-A664-1119AB7B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E94F69-E493-45C9-A1E0-1D79ABE0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4F1E3D-8768-4C26-A2B3-6488572D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E69494-BADA-47C7-9F15-33DF0E8D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3ABEAF-BB5A-4E5E-9D0E-DE80B94C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878267-A94A-4EAE-A931-4A8EAA49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A95906-DCA3-4F4C-96EC-5F9D01E3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F3D8AD-FD42-4E3A-AFD7-A8E0A957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3C851F-9931-42C7-A560-5522425F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5E319E-BBAE-4DBF-9EF6-7A474A9A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6CF26-6CD8-480E-AF2A-3BC061BD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D51CD7-A11C-4699-8CC0-6DBBEA17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588F2A-2CF1-4CA8-A1CD-B5C400EC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FA966A-0402-4E68-8501-581E7705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22967C-5208-403E-AC2E-E7321C65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294BD3-145D-49B4-995F-1FB5C47F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354FEB-029C-45E3-A07A-14B849D7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288390-E261-43A4-8AB2-11B19AE6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423342-02CB-4DCE-92B8-A51554A0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C928C3-39C9-4ED9-8F7F-9888C41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71615354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3E207C-FADB-47EC-9DCD-4E512B4F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C908D-FF85-4A14-B12B-B51F3EA0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4B7E7-775F-4ACB-AB59-7EC124F0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225AD-4C4E-47E7-8A2F-7F9BAAD4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when to switch to research mode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274B-FCD5-4433-BB8B-1D6F423A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4101F-D9CF-41B4-AD4E-564166F6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F01B40-6B3E-40CF-925F-D07B45A3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5DD52-3BE4-411F-AB09-CEAC83C8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64191-8820-4BE5-BDB5-473F995C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EA24E-E505-4671-B9AD-B6B01005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Package imports are not enough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FA56D-03C6-4B77-906C-38D6B7E6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21319-B62C-472F-B313-91B03E29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58FDE-7964-4AB6-9118-5136CA52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D7AEF-34A4-4A13-9F3B-A5FAAC7F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Time a tiny run before class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0B4F2-7561-4146-AC2C-74638579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FB1E4-8A14-4909-9C58-3A799C74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9134D-6088-4C28-B3A1-BD68E672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951D1B-EFE9-4D1A-869B-4B2C9877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Keep a cached plot ready for every live calculation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717B5-B10F-4486-A873-36A89173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864938-187B-4B41-9D21-E406CB21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115DEF-D77F-47BB-9464-E3B3354F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5CE17-183D-4FAC-9CFA-7CE6BC50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83323E-DFA2-4689-95F5-4FE21913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34E143-0495-41A7-B5B4-2B67D7F5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B536CC-DEAC-4C87-8594-78FAC39F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1D08B-5DD9-450A-B64A-88CF50F0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10F325-8886-4740-8176-5246F258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5C8CEB-7AED-4334-8DB9-F0F85234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6CA959-862F-4524-95ED-DB4ACD38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1B552E-6340-4E4C-8BA4-6281C632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D8FF39-0C96-48B5-9DEB-6168EE86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D1E118-C91A-4A92-83D2-5DC309AF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5C299D-18B8-457E-AC38-109A165E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2D473E-B8B4-4035-AB8E-8B97CF9C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D1CA4C-C555-4D73-BE53-24F9F9C1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1C4A93-C004-456F-8A62-3A10A2DB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7A447B-DBC6-48C0-8196-092E78E2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642C75-C8A7-4C9D-83D7-B97C6FD0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A7D56B-1BC7-403C-9573-94BE3A5C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50319E-BCC9-4559-828C-56C6AD82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28A5FE-E6A4-4825-84FB-49A4DD1F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F5151B-0DAD-4C26-86DC-1B53351D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740F1B-87D9-4EFA-8B54-8FBD952B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2F15C6-A52C-4CDF-8C0E-AC2B44E8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BB41AD-32B9-4E2C-B1CB-882C4F32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C5BF25-7A64-4AB8-A50D-90F281F3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855212594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7C6EA7-FCCA-4D97-A7C9-14DF15D7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EDA38-51AE-455B-A924-14D28E0C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D002D-918B-48A6-9882-929C3997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7C051-B58C-4AB6-8F2F-2561B6D1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what to inspect in a `wout` 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4FF49-F452-4921-8A24-ADF71180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C2FD0-9066-4731-82A1-D5806118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45FDD8-F6BA-4DB3-A7F7-1459A5DA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6E3BA-5EEE-4216-8F91-DA44FD06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0227F-9B7D-4093-8D34-0CD47358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EA584-5D78-4F16-B3A0-21170289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dimensions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4B7F7C-A5A1-4AAB-ABDA-6F5E996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EF33D-D6AB-47E0-90D5-67A49F34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94A51-6E9F-48BB-B8EB-2AC742AD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F9FBBC-A0D5-43D0-8257-95CD647A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iota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5C8EE-FA66-4470-A336-FD52AE22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F37183-F2E8-4E03-86B4-BF08F35B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242B2-8D6B-4A23-B750-4BAC5F0A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1848C8-BD9B-4509-94A7-B785F480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boundary coefficients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7A5E55-C386-42F9-B60E-9BE6BA49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15D937-612E-4FD6-B186-D275D769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457837-1390-4F10-95E7-CD62A03B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7810EE-13B2-4C7F-983F-909ECD58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volume/aspect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77A033-755F-4B45-98AB-8E0EF7D6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D71054-C396-4FCB-AE86-3D6FC55B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33A3D4-FC77-43D6-9DD7-838EA846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CF1E83-3AAB-4447-AC3C-0411E4D3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beta and pressure-current profiles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DCEC47-B50B-4635-A51E-4A7712A4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073F9B-AB76-4AF9-9DB2-FDE4EAFF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BD8728-754B-45E5-BF4D-9992A53A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E70CD4-D0C2-4EAE-A1B2-AFF11688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7B9022-F0CB-4D24-83C8-A63819E8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F6F723-30CB-4688-BEC4-014894F9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53B4D3-5D2C-4796-B3C6-B4910E6D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CDCBE8-C675-429F-8393-89116324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662A74-8F48-4A14-8250-943CB75B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8F78CA-D369-4880-B854-E6C88332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CD4745-4531-459D-95D2-FAA7D31C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C46297-707C-41D5-A2E3-329FED1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6E1B86-E856-4505-802F-3C8061F0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A12438D-D66B-421A-B71E-FE57DD40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4B74FB-54A4-4A1E-84A7-7ECAAB39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307AEF-77D0-4E8B-9E76-A2AA569D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242447-29C6-4096-807A-D0E65013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502BBB-8C88-4200-8780-F76CA0E8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632144-BC74-4374-8450-494F7F62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B1CB5E-B08A-4FDA-9515-1E2F4915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01DCB7-BC3C-43E7-A772-4248A5A8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5B7F1D-0392-46F8-81A8-2575A9D5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1080C7-CF0D-4549-B144-CD9DBE51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67A491-F44C-40B9-8D3B-247D6052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658D18-F370-4399-B260-FE8C8437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D86BAA-D540-42D7-8561-BFB9CF2A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03754BE-4106-43B6-835A-D57B066A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BBFD3DB-6000-44C8-AC6F-8B146F45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865020182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4BB5CB-50B2-44D4-9B22-DE96C889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6E4A75-FE48-4131-A86B-9F57E9EF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D86B88-6358-4B36-98F2-46B9D4A5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7F3BF-E28A-49ED-B0B2-C87CC98D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what to inspect in a Boozer 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97246-A2F7-446F-B02A-49309B26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1EE4B-F42F-463E-9D9F-F530D48C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AFA94B-3E2B-420C-A151-F6BD61C1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87FFA1-7A6E-4BD4-9587-0AA9AEB5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72608-EF5F-48DC-AF90-71CE30FF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CA0B0-5BCF-447F-9D81-1AEC1D9E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surface labels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FD8D17-7CC5-41A3-A1AC-8CF023DE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E32BF-86C2-43D9-B847-4AAE6C7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2AD97-CB7B-44F7-B258-0A836291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57485A-340A-45E1-98C1-F9CF6462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nfp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2CE63B-A16A-4B19-9913-396880A3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482109-D081-473E-AFB0-ACC9857C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776D5E-EC9E-42E1-BE31-B39B193A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D024CD-729F-4238-8545-82B09469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mode truncation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953E3B-AF9D-4128-A111-EE1E7206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19432A-103A-4520-8657-587D3ECE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E2361A-AEA0-45A2-9E23-24DA26B7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E18989-21E6-45DB-AFC0-313C6B11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AC72D-9438-488E-B565-5FDE21AF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DD9AA5-DBB8-4788-8B31-E6B41FF4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B3B967-8369-472E-8ECC-89AA7CA2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D9C49B-F4BD-4B99-B778-3639974F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dominant and off-symmetry modes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62C5C8-EEDF-4EA1-B855-37617065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6A2AEC-8C3E-4F32-B4DC-76E78E22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55297-EF32-4A78-ACE9-B4698018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3410F8-1361-4B75-BB7F-08DF1078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7FC4D1-8306-45FB-91A2-AF603C32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BE329B-CC09-4970-A9B9-7CDF6D18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939BAB-AD8C-4E70-80F5-4CFE91E7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8EED74-DB16-471C-AA6E-D1FB4A9F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123005-2DCC-47A7-99BF-D95D98AB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C6C30F-B234-4E94-9D6C-FAF8C0D8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0A836C-1C68-43E4-ADD4-8B13270A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F289AE-ACA5-4112-A01E-B00C9F56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0DD26A-4791-42D1-AC3C-5CF3687D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77F31B-7B85-465B-AC97-C58A12C5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5F133C-439D-48BC-AAE5-B17DAE96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6BB4C7-7B54-4B32-8B76-5756FFBC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65A827-0A21-4A52-9892-87187C7A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B8486B-0C5D-4D7B-BB2E-5C3D8B93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83CE7C-D279-4549-AF6E-B0576C67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095070-4FCE-4EA2-83B7-2B5A7252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3F4DDE-7832-4979-AD09-7E4A5FAB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9F48E0-3923-45E1-90E3-830FF9AC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3BEA9C4-8623-405D-A0B7-52F1F490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D42D66-2E8F-4D31-9AC1-6F7338BA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7C4584A-F8C4-4E90-8E14-492B6F28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E2C82BA-63AC-42AD-B86C-C5D77AF1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041B93E-471A-489A-9397-9D77ABCF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C958B2D-84DC-49FA-AF53-70927EFC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965186280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2A2A9E-B78E-43A2-B4F9-E92E7FF8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F8C48-77A7-4574-9448-F7E63B69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2CA78-B636-4ED3-950A-39BE75E1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25F1E-6D8C-436A-B6FC-717728D7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metric acceptance checklist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45F89-2EDE-4D34-988B-0753EBE9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AC82C-0CFE-4AA7-B983-D84FFA6C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9D587-D37E-49CE-8C8C-1E66C385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5A0DD-6DCD-412C-80B5-2ED99AEB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9BB7FA-05E4-4E54-AD7B-CF7F89A4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295AB-0EC4-46A8-AA33-E3977BA5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it move with the intended design variable?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F5AE9D-E62F-4314-93B2-0B17F7DD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D033C-72DF-4D52-8262-9030CE02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8DFBA-7208-46DE-890F-85F85CBD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B0B13-00C4-42B5-A1E9-7F90FF67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it fail on known bad cases?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E7FAD5-C1F4-4F45-A250-062FA2DD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1D154-A22D-4281-B024-BB565E06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5CBCB-C1F4-437B-8394-A8E43584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AF52D-2508-4988-BD4E-01862002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it correlate with a higher-fidelity gate?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70C575-65F7-4A7A-9EE2-EDF77FA2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511911-A780-4F21-A3BA-4DFE0A2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C902BB-2D57-42A0-8E47-91A7A05A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FC429E-83A3-4DB8-8693-38D00D05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E347F5-F4B1-438C-93A9-23B1BDAC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A24096-675A-482B-BAB2-E71FC5A8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9DAF25-057E-4E59-9549-06032446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C6D40-D5A6-4448-B91C-31700624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EEE3F5-E3F5-4A00-AAB6-E664C045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DE76C4-B1F1-470E-B14D-819E54A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5DB328-2F1C-4A3D-978F-3E3179AE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A9FDE6-F047-455C-9190-1083FDB7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6CEF86-1230-4C40-8873-71392822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56FFFE-6C59-4845-9B14-4D105A2D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F36316-6DBD-41D5-9838-34D66CAF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EF95D1-3647-4229-A608-4DE4104B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5FD631-85A1-4972-91C4-27145884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CF960B-EA11-45E6-8094-BEB68506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F8CD03-78A3-4827-8329-13F07FB3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D7EC5E-D8F8-4126-93EE-A479766E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001FC8-411E-46D4-9011-6122BDAA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63307C-3794-4C0B-887C-E2924F3C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455653F-A67B-483E-9F68-6D506989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FE1BA1-6AC3-4CFE-8185-24B8CFE1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A81B05-A4D4-4837-B223-FFA5920C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906943-295E-4434-82A3-FA239727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0730CD-88B0-4E26-9DEA-D695C587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90D8A2-E87E-48F8-B85A-711B9323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13430957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E8586E-96F4-49C3-8611-7A94BE76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BDB215-D592-46D1-96F7-6C4D67F6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19598-35D7-4AEC-A803-3F7EC531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FD4167-2A73-4A77-B403-AA99C5BA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L1.42: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2237B-1822-41D3-B193-C304D2ED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D229A-6DF3-4207-92C8-862D3FC0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466851-A869-48E5-815A-C560C6C4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188B7-EA28-4856-9033-B9CA155D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D28AB-D450-482A-86F4-5433F291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53E04-A570-441F-9894-C3E7153D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BC3D1-0158-4108-B53E-4109EDE1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D0A879-315E-43F7-96EC-AEBCC827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A8296-B669-4AB9-8C2C-B0EF1076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54B071-DFF8-40E8-807E-0F248D90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51F21-C622-4095-98F6-55080BE0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335FFD-BC3F-4AC7-8694-C93B3666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7644F0-814E-43E3-A4A5-8BAF009A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01D2A-5E4B-4516-AFE6-3F9D0A4B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553016-A991-4784-9E04-C06B9AB6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0EA45E-8E7A-4CDF-8411-AEFE57AF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C6A6C-666F-405D-9EBD-D28D0D87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71D19C-2A24-45AB-95DD-A093A299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7B8DAD-A880-4059-BFDF-67E8053B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50A4C6-FF3F-4777-BA0B-98AE6C44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140E19-B45E-455F-AD70-C42CCFE5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A1F7F3-ADE7-487B-A132-E6CC741F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F17141-57ED-4ACD-BF11-367D74BA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23FA9D-10A4-442F-9ABC-54DB2353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E3E338-76A6-4EA2-99D3-E7A82B19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29EDC-117E-4EC1-8EC9-8026873D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57549A-F6BA-4A03-9BE2-0F5FA3BC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92F9E1-C08C-43DB-8A8A-957ED7E5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83C916-E6A1-4EBE-9EDD-89EA3BCF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00E7EB-6321-4007-95B2-8E2671C1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8940BF-735F-4F82-A387-8F4F2979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379F34-A0FF-4131-9EEA-4079A23E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515D2-CC1C-42D5-984F-6A8F35F1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5328EC-544E-488C-8F89-FA68F98F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BE3021-220C-4A62-940B-E78EECA0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DD5934-56CF-4F13-9CBB-5903C144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92D88B-C22D-45AE-91BB-E79EFDA9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60DA7F-777A-4D7D-9B49-05F13054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A44D65-9F36-4A9E-B4C4-862F1C88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C7EF7F-8A9A-4B2A-9834-6C389C4F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178D11-8C18-43C3-A5D5-0B39F5CB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3B0901-A287-4D2E-B066-2A694472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956596476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833689-316E-4DE2-BF42-EA6742E1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B19AA8-A097-425A-AA61-6B44081C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89362-C7B0-4928-BFAA-7FC8EE9A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E2EFE-E1DF-4051-81F0-90972352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L1.43: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1BD05-6123-45F8-8B3A-85D1F363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DD06A-6D8B-49BC-B5E8-6F0E47F6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7304A-6273-4DE6-A052-030E594A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36880-99DA-4E1D-A988-97196903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C8E0C-0EE9-43A0-BA0B-50593583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F6AAB-BBAD-441C-9E84-DAA7B82C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B428D-6A2F-4436-8952-812EB13E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73B5C8-1C33-4595-BC32-440BC469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F3A2B-A262-4068-943F-8E6F0751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96BF1-B170-4503-B8BE-4AC82204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65541-B05B-4AA6-93B6-4B0408E7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C049AD-5C3C-430F-B06B-9DCF328F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AF9C7-59CF-4782-9108-543C69B3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8B1A32-4507-4E42-9F39-F18A9DF5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149BF-D0F6-40AF-A483-65BD337F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A6E63-BAF7-4C33-A4AE-53DF1C05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E47C5E-6E8E-46B0-BEA0-1FE1A1CC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623642-E4D9-4AF4-9261-1E3AA8B3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9D0E14-EF27-4B8D-B817-E7B413A4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48255B-818C-471B-BF23-AD822C0C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757D25-7621-4664-9F4E-ADFAA4D7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C2CEC7-7455-44A0-8269-FACB6B9A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0605B9-6609-4613-91A9-1E0B5893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8C421F-E2D6-4CB9-8468-BA02BE69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63142D-F58D-4336-851F-69DC0C1A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23AA7E-C75A-4208-89D4-914B8B29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BD0175-F52A-4D3F-A688-8BD1D7F5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31ADF0-9039-48D7-9C2E-53FCECFC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16BF2F-DCFB-4960-8AC6-F6857E32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7586D3-0A99-4E0F-84EE-177C452E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7D4693-8C30-44FA-845E-27A4D0DC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BE3709-040B-438F-8EBE-DDFA8E20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8FC44-214D-40BC-A31D-7B06306C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A709C3-A59F-4B2C-B9D6-1CDE21E1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C94183-9D91-4A4F-9049-37304E0A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01B09F-A606-4EE1-8536-970FD9C6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5052DE-1C1F-408E-9888-7D62F2FD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AD3D10-E7A3-4926-911F-884D77C8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DB2BDA-0791-44A1-A0D7-9433EE7F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43DEE0-64A5-4763-A8E3-3E6DE519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EAE9BD-EA7D-47E0-916D-129F8F18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2BA4A2-ECE5-4D20-9021-4DCCE76E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2058818273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839213-ABBD-4F11-8A30-C372B990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8B24F-BE9B-4E6E-A67D-6F8CD25A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3E7AE-C168-4601-81BB-5789C0FC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C5A89-483D-417B-87AB-71A3567A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L1.44: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FDBABC-0155-4835-A14B-E662C918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D7125-6CFA-44E6-B58F-F288517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9C9BE-4A2A-4432-8AAE-F7B403E1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D2253-BF65-494B-96B6-2AB530AC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D4706-B4D9-4439-92CA-51EFBFDC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7D6F91-05BB-425D-AFD8-2A30BB63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DA8-63F9-48FE-8B5E-EEDCE78F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0814D-4F21-4B8F-AB75-3EFAD35D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E001D4-12EF-439E-B06C-1E269F6A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B6B6C-7C87-4065-80E7-3CCB0FB0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302F5-E59F-4E9F-9F2E-545B4AE4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2BC1A-3092-459C-A516-0E6AEE64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3991D-ACB6-4AF2-8E86-99FF55D5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2C424-9B0C-4F44-A3CE-8CA0178D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DFC85C-2EC7-483D-9625-B2662D17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B44C90-3488-4522-8AE0-82F7E626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862B08-DDAC-45E5-AF03-CC620946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702059-0C61-4758-AFD4-470BE248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BEFE96-CFBE-49F7-8BB9-F1518FD1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4556BF-387A-40ED-859C-609550A9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45EDB9-B979-4976-AEC4-D88D0714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18B5E9-6DE1-464C-893B-345E3EF1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B6E737-1F1F-4F02-8210-1519787C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12EADB-3527-449E-98BC-278AABC3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4A15B6-255C-467C-89EE-691E393B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6EBC98-6FA5-456C-949A-4569EF09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B2B403-E5F5-4024-BE58-107232EA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D335B0-513C-47F1-9F63-F647E3F6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8F93AF-AAEF-4D23-91F6-F1801D5B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EE570E-74DF-4283-B58E-F3ABAE86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0800A1-F536-4472-99DD-D4E90C92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922F43-DCEB-419C-90CA-950ACF03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171124-157E-429C-B4EE-E97037CF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5CDB85-D17A-4836-9329-ABAAA5DA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380B61-7AAE-4D5E-930D-84F32E96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7E3372-DA9E-4820-8C4C-68F22AC0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725995-3CBF-47C3-BF68-4763503A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0FB2F1-FB0B-452F-9B4F-F4B6FBEE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2D3045-C865-40C6-B04B-D9A7FE7A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769319-8670-4882-B001-E9D19727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99923B-A229-4C37-B5CF-896AC102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4CB99D-3FF1-4919-BC2F-94A0AB59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953781491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0B3748-9593-45EC-A3F4-8772C4B0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4FC9C-0D0B-46D1-BA76-23397433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27701-DCE9-457C-B816-7C17234B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5F445-5012-4121-9204-53845244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BC2BC-C385-47C9-B1B4-3CDCB764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289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 stellarator optimizer is only as good as its artifacts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51811-DBD1-410F-8CF5-9EB4EB9C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F463FE-E237-47B0-B93E-07266CE8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Next: the plasma boundary has to be produced by coils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1CE10-6F0D-42FC-9ABE-2EB8E101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773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09F74-AF6F-494D-8044-24CE0A6C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1D1F9-E4E5-48A7-8F2D-19E7DD88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055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45/45</a:t>
            </a:r>
          </a:p>
        </p:txBody>
      </p:sp>
    </p:spTree>
    <p:extLst>
      <p:ext uri="{BB962C8B-B14F-4D97-AF65-F5344CB8AC3E}">
        <p14:creationId xmlns:p14="http://schemas.microsoft.com/office/powerpoint/2010/main" val="1836416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2026-05-23T12:46:32.3980000Z</dcterms:created>
  <dcterms:modified xsi:type="dcterms:W3CDTF">2026-05-23T12:46:32.3980000Z</dcterms:modified>
</coreProperties>
</file>